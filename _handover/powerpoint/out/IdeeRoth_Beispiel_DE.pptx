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1.xml" ContentType="application/vnd.openxmlformats-officedocument.drawingml.chart+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ispiel" id="{813d08ed-e07f-fd99-d28c-4faedb2acaa8}">
          <p14:sldIdLst/>
        </p14:section>
        <p14:section name="Default-1" id="{d23a4670-c6aa-5eb5-2fb3-3d778126ef6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Anhang: Bausteine und Farben" id="{4683eb0e-f9e3-10a9-cbd9-15a989a709e1}">
          <p14:sldIdLst/>
        </p14:section>
        <p14:section name="Default-2" id="{83db9d72-af7a-a605-e844-f5541dcb00bb}">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Ist</c:v>
                </c:pt>
              </c:strCache>
            </c:strRef>
          </c:tx>
          <c:spPr>
            <a:solidFill>
              <a:srgbClr val="C4C8CC"/>
            </a:solidFill>
            <a:effectLst/>
          </c:spPr>
          <c:invertIfNegative val="0"/>
          <c:dLbls>
            <c:numFmt formatCode="#,##0" sourceLinked="0"/>
            <c:txPr>
              <a:bodyPr/>
              <a:lstStyle/>
              <a:p>
                <a:pPr>
                  <a:defRPr b="0" i="0" strike="noStrike" sz="1000" u="none">
                    <a:solidFill>
                      <a:srgbClr val="111418"/>
                    </a:solidFill>
                    <a:latin typeface="+mn-lt"/>
                  </a:defRPr>
                </a:pPr>
              </a:p>
            </c:txPr>
            <c:showLegendKey val="0"/>
            <c:showVal val="1"/>
            <c:showCatName val="0"/>
            <c:showSerName val="0"/>
            <c:showPercent val="0"/>
            <c:showBubbleSize val="0"/>
            <c:showLeaderLines val="0"/>
          </c:dLbls>
          <c:cat>
            <c:multiLvlStrRef>
              <c:f>Sheet1!$A$2:$A$5</c:f>
              <c:multiLvlStrCache>
                <c:ptCount val="4"/>
                <c:lvl>
                  <c:pt idx="0">
                    <c:v>Teile</c:v>
                  </c:pt>
                  <c:pt idx="1">
                    <c:v>Montageschritte</c:v>
                  </c:pt>
                  <c:pt idx="2">
                    <c:v>Lieferanten</c:v>
                  </c:pt>
                  <c:pt idx="3">
                    <c:v>Werkzeuge</c:v>
                  </c:pt>
                </c:lvl>
              </c:multiLvlStrCache>
            </c:multiLvlStrRef>
          </c:cat>
          <c:val>
            <c:numRef>
              <c:f>Sheet1!$B$2:$B$5</c:f>
              <c:numCache>
                <c:formatCode>General</c:formatCode>
                <c:ptCount val="4"/>
                <c:pt idx="0">
                  <c:v>48</c:v>
                </c:pt>
                <c:pt idx="1">
                  <c:v>31</c:v>
                </c:pt>
                <c:pt idx="2">
                  <c:v>9</c:v>
                </c:pt>
                <c:pt idx="3">
                  <c:v>14</c:v>
                </c:pt>
              </c:numCache>
            </c:numRef>
          </c:val>
        </c:ser>
        <c:ser>
          <c:idx val="1"/>
          <c:order val="1"/>
          <c:tx>
            <c:strRef>
              <c:f>Sheet1!$C$1</c:f>
              <c:strCache>
                <c:ptCount val="1"/>
                <c:pt idx="0">
                  <c:v>Neu</c:v>
                </c:pt>
              </c:strCache>
            </c:strRef>
          </c:tx>
          <c:spPr>
            <a:solidFill>
              <a:srgbClr val="25C77A"/>
            </a:solidFill>
            <a:effectLst/>
          </c:spPr>
          <c:invertIfNegative val="0"/>
          <c:dLbls>
            <c:numFmt formatCode="#,##0" sourceLinked="0"/>
            <c:txPr>
              <a:bodyPr/>
              <a:lstStyle/>
              <a:p>
                <a:pPr>
                  <a:defRPr b="0" i="0" strike="noStrike" sz="1000" u="none">
                    <a:solidFill>
                      <a:srgbClr val="111418"/>
                    </a:solidFill>
                    <a:latin typeface="+mn-lt"/>
                  </a:defRPr>
                </a:pPr>
              </a:p>
            </c:txPr>
            <c:showLegendKey val="0"/>
            <c:showVal val="1"/>
            <c:showCatName val="0"/>
            <c:showSerName val="0"/>
            <c:showPercent val="0"/>
            <c:showBubbleSize val="0"/>
            <c:showLeaderLines val="0"/>
          </c:dLbls>
          <c:cat>
            <c:multiLvlStrRef>
              <c:f>Sheet1!$A$2:$A$5</c:f>
              <c:multiLvlStrCache>
                <c:ptCount val="4"/>
                <c:lvl>
                  <c:pt idx="0">
                    <c:v>Teile</c:v>
                  </c:pt>
                  <c:pt idx="1">
                    <c:v>Montageschritte</c:v>
                  </c:pt>
                  <c:pt idx="2">
                    <c:v>Lieferanten</c:v>
                  </c:pt>
                  <c:pt idx="3">
                    <c:v>Werkzeuge</c:v>
                  </c:pt>
                </c:lvl>
              </c:multiLvlStrCache>
            </c:multiLvlStrRef>
          </c:cat>
          <c:val>
            <c:numRef>
              <c:f>Sheet1!$C$2:$C$5</c:f>
              <c:numCache>
                <c:formatCode>General</c:formatCode>
                <c:ptCount val="4"/>
                <c:pt idx="0">
                  <c:v>30</c:v>
                </c:pt>
                <c:pt idx="1">
                  <c:v>17</c:v>
                </c:pt>
                <c:pt idx="2">
                  <c:v>5</c:v>
                </c:pt>
                <c:pt idx="3">
                  <c:v>8</c:v>
                </c:pt>
              </c:numCache>
            </c:numRef>
          </c:val>
        </c:ser>
        <c:dLbls>
          <c:numFmt formatCode="#,##0" sourceLinked="0"/>
          <c:txPr>
            <a:bodyPr/>
            <a:lstStyle/>
            <a:p>
              <a:pPr>
                <a:defRPr b="0" i="0" strike="noStrike" sz="1000" u="none">
                  <a:solidFill>
                    <a:srgbClr val="11141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11418"/>
                </a:solidFill>
                <a:latin typeface="+mn-lt"/>
              </a:defRPr>
            </a:pPr>
            <a:endParaRPr lang="en-US"/>
          </a:p>
        </c:txPr>
        <c:crossAx val="2094734552"/>
        <c:crosses val="autoZero"/>
        <c:auto val="1"/>
        <c:lblAlgn val="ctr"/>
        <c:noMultiLvlLbl val="1"/>
      </c:catAx>
      <c:valAx>
        <c:axId val="2094734552"/>
        <c:scaling>
          <c:orientation val="minMax"/>
          <c:max val="60"/>
        </c:scaling>
        <c:delete val="0"/>
        <c:axPos val="l"/>
        <c:majorGridlines>
          <c:spPr>
            <a:ln w="6350" cap="flat">
              <a:solidFill>
                <a:srgbClr val="A0A1A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707981"/>
                </a:solidFill>
                <a:latin typeface="+mn-lt"/>
              </a:defRPr>
            </a:pPr>
            <a:endParaRPr lang="en-US"/>
          </a:p>
        </c:txPr>
        <c:crossAx val="2094734554"/>
        <c:crosses val="autoZero"/>
        <c:crossBetween val="between"/>
        <c:majorUnit val="20"/>
      </c:valAx>
      <c:spPr>
        <a:solidFill>
          <a:srgbClr val="FFFFFF"/>
        </a:solidFill>
        <a:ln>
          <a:noFill/>
        </a:ln>
        <a:effectLst/>
      </c:spPr>
    </c:plotArea>
    <c:legend>
      <c:legendPos val="b"/>
      <c:overlay val="0"/>
      <c:txPr>
        <a:bodyPr/>
        <a:lstStyle/>
        <a:p>
          <a:pPr>
            <a:defRPr sz="1000">
              <a:solidFill>
                <a:srgbClr val="111418"/>
              </a:solidFill>
              <a:latin typeface="+mn-lt"/>
              <a:cs typeface="+mn-lt"/>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Kennzahlen sind Platzhalter.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 in den Platzhalter einfügen, dann den Schleier (schwarzes Rechteck, 45 % transparent) darüber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Terminplan aus Formen: Balken verschieben oder dehnen, Beschriftung ändern, Zeile kopieren. Für ein anderes Jahr die Folie kopieren und das Monatsband anpassen.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Zweisprachig A: Zweitsprache als gedämpfte Unterzeile. Für gemischte Runden mit wenig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Bausteine zum Kopieren. Diese Folie ist in der Vorlage ausgeblendet und wird nicht präsentiert.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Farbkonzept. CMYK ist die Standard-Umrechnung ohne Farbprofil; Druckwerte mit der Druckerei festlegen. Diese Folie ist in der Vorlage ausgeblendet.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Farbregeln. Diese Folie ist in der Vorlage ausgeblendet.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17-1.png"/><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19-1.png"/><Relationship Id="rId2"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20-1.png"/><Relationship Id="rId2"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21-1.png"/><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24-1.png"/><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25-1.png"/><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26-1.png"/><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27-1.png"/><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28-1.png"/><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29-1.png"/><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30-1.png"/><Relationship Id="rId2"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31-1.png"/><Relationship Id="rId2"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32-1.png"/><Relationship Id="rId2"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33-1.png"/><Relationship Id="rId2"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 · 01 Titel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2331720"/>
            <a:ext cx="100584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ABSCHNITT</a:t>
            </a:r>
            <a:endParaRPr lang="en-US" sz="1000" dirty="0"/>
          </a:p>
        </p:txBody>
      </p:sp>
      <p:sp>
        <p:nvSpPr>
          <p:cNvPr id="5" name="Text 0"/>
          <p:cNvSpPr/>
          <p:nvPr>
            <p:ph idx="102" type="title" hasCustomPrompt="1"/>
          </p:nvPr>
        </p:nvSpPr>
        <p:spPr>
          <a:xfrm>
            <a:off x="548640" y="2651760"/>
            <a:ext cx="10515600" cy="1828800"/>
          </a:xfrm>
          <a:prstGeom prst="rect">
            <a:avLst/>
          </a:prstGeom>
          <a:noFill/>
          <a:ln/>
        </p:spPr>
        <p:txBody>
          <a:bodyPr wrap="square" rtlCol="0"/>
          <a:lstStyle>
            <a:lvl1pPr algn="l" indent="0" marL="0">
              <a:lnSpc>
                <a:spcPct val="95000"/>
              </a:lnSpc>
              <a:buNone/>
              <a:defRPr lang="en-US" sz="6000" spc="-120" kern="0" dirty="0">
                <a:solidFill>
                  <a:srgbClr val="E7FFF2"/>
                </a:solidFill>
              </a:defRPr>
            </a:lvl1pPr>
          </a:lstStyle>
          <a:p>
            <a:pPr algn="l" indent="0" marL="0">
              <a:lnSpc>
                <a:spcPct val="95000"/>
              </a:lnSpc>
              <a:buNone/>
            </a:pPr>
            <a:r>
              <a:rPr lang="en-US" sz="6000" spc="-120" kern="0" dirty="0">
                <a:solidFill>
                  <a:srgbClr val="E7FFF2"/>
                </a:solidFill>
              </a:rPr>
              <a:t>Titel</a:t>
            </a:r>
            <a:endParaRPr lang="en-US" sz="6000" dirty="0"/>
          </a:p>
        </p:txBody>
      </p:sp>
      <p:sp>
        <p:nvSpPr>
          <p:cNvPr id="6" name="Text 0"/>
          <p:cNvSpPr/>
          <p:nvPr>
            <p:ph idx="103" type="body" hasCustomPrompt="1"/>
          </p:nvPr>
        </p:nvSpPr>
        <p:spPr>
          <a:xfrm>
            <a:off x="548640" y="4572000"/>
            <a:ext cx="8229600" cy="731520"/>
          </a:xfrm>
          <a:prstGeom prst="rect">
            <a:avLst/>
          </a:prstGeom>
          <a:noFill/>
          <a:ln/>
        </p:spPr>
        <p:txBody>
          <a:bodyPr wrap="square" rtlCol="0"/>
          <a:lstStyle>
            <a:lvl1pPr indent="0" marL="0">
              <a:lnSpc>
                <a:spcPct val="120000"/>
              </a:lnSpc>
              <a:buNone/>
              <a:defRPr lang="en-US" sz="1800" dirty="0">
                <a:solidFill>
                  <a:srgbClr val="E7FFF2"/>
                </a:solidFill>
              </a:defRPr>
            </a:lvl1pPr>
          </a:lstStyle>
          <a:p>
            <a:pPr indent="0" marL="0">
              <a:lnSpc>
                <a:spcPct val="120000"/>
              </a:lnSpc>
              <a:buNone/>
            </a:pPr>
            <a:r>
              <a:rPr lang="en-US" sz="1800" dirty="0">
                <a:solidFill>
                  <a:srgbClr val="E7FFF2"/>
                </a:solidFill>
              </a:rPr>
              <a:t>Untertitel</a:t>
            </a:r>
            <a:endParaRPr lang="en-US" sz="18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 · 02 Kapitel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ABSCHNITT</a:t>
            </a:r>
            <a:endParaRPr lang="en-US" sz="1000" dirty="0"/>
          </a:p>
        </p:txBody>
      </p:sp>
      <p:sp>
        <p:nvSpPr>
          <p:cNvPr id="5" name="Text 0"/>
          <p:cNvSpPr/>
          <p:nvPr>
            <p:ph idx="102" type="title" hasCustomPrompt="1"/>
          </p:nvPr>
        </p:nvSpPr>
        <p:spPr>
          <a:xfrm>
            <a:off x="548640" y="1691640"/>
            <a:ext cx="10515600" cy="2926080"/>
          </a:xfrm>
          <a:prstGeom prst="rect">
            <a:avLst/>
          </a:prstGeom>
          <a:noFill/>
          <a:ln/>
        </p:spPr>
        <p:txBody>
          <a:bodyPr wrap="square" rtlCol="0"/>
          <a:lstStyle>
            <a:lvl1pPr algn="l" indent="0" marL="0">
              <a:lnSpc>
                <a:spcPct val="95000"/>
              </a:lnSpc>
              <a:buNone/>
              <a:defRPr lang="en-US" sz="8400" spc="-168" kern="0" dirty="0">
                <a:solidFill>
                  <a:srgbClr val="E7FFF2"/>
                </a:solidFill>
              </a:defRPr>
            </a:lvl1pPr>
          </a:lstStyle>
          <a:p>
            <a:pPr algn="l" indent="0" marL="0">
              <a:lnSpc>
                <a:spcPct val="95000"/>
              </a:lnSpc>
              <a:buNone/>
            </a:pPr>
            <a:r>
              <a:rPr lang="en-US" sz="8400" spc="-168" kern="0" dirty="0">
                <a:solidFill>
                  <a:srgbClr val="E7FFF2"/>
                </a:solidFill>
              </a:rPr>
              <a:t>Kapitel</a:t>
            </a:r>
            <a:endParaRPr lang="en-US" sz="8400" dirty="0"/>
          </a:p>
        </p:txBody>
      </p:sp>
      <p:sp>
        <p:nvSpPr>
          <p:cNvPr id="6" name="Text 0"/>
          <p:cNvSpPr/>
          <p:nvPr>
            <p:ph idx="103" type="body" hasCustomPrompt="1"/>
          </p:nvPr>
        </p:nvSpPr>
        <p:spPr>
          <a:xfrm>
            <a:off x="6400800" y="4892040"/>
            <a:ext cx="4876495" cy="1188720"/>
          </a:xfrm>
          <a:prstGeom prst="rect">
            <a:avLst/>
          </a:prstGeom>
          <a:noFill/>
          <a:ln/>
        </p:spPr>
        <p:txBody>
          <a:bodyPr wrap="square" rtlCol="0"/>
          <a:lstStyle>
            <a:lvl1pPr indent="0" marL="0">
              <a:lnSpc>
                <a:spcPct val="120000"/>
              </a:lnSpc>
              <a:buNone/>
              <a:defRPr lang="en-US" sz="1400" dirty="0">
                <a:solidFill>
                  <a:srgbClr val="A0A1A3"/>
                </a:solidFill>
              </a:defRPr>
            </a:lvl1pPr>
          </a:lstStyle>
          <a:p>
            <a:pPr indent="0" marL="0">
              <a:lnSpc>
                <a:spcPct val="120000"/>
              </a:lnSpc>
              <a:buNone/>
            </a:pPr>
            <a:r>
              <a:rPr lang="en-US" sz="1400" dirty="0">
                <a:solidFill>
                  <a:srgbClr val="A0A1A3"/>
                </a:solidFill>
              </a:rPr>
              <a:t>Kurztext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 · 03 Zitat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73736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ABSCHNITT</a:t>
            </a:r>
            <a:endParaRPr lang="en-US" sz="1000" dirty="0"/>
          </a:p>
        </p:txBody>
      </p:sp>
      <p:sp>
        <p:nvSpPr>
          <p:cNvPr id="5" name="Text 0"/>
          <p:cNvSpPr/>
          <p:nvPr>
            <p:ph idx="102" type="title" hasCustomPrompt="1"/>
          </p:nvPr>
        </p:nvSpPr>
        <p:spPr>
          <a:xfrm>
            <a:off x="548640" y="2103120"/>
            <a:ext cx="10332720" cy="237744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Aussage</a:t>
            </a:r>
            <a:endParaRPr lang="en-US" sz="4400" dirty="0"/>
          </a:p>
        </p:txBody>
      </p:sp>
      <p:sp>
        <p:nvSpPr>
          <p:cNvPr id="6" name="Text 0"/>
          <p:cNvSpPr/>
          <p:nvPr>
            <p:ph idx="103" type="body" hasCustomPrompt="1"/>
          </p:nvPr>
        </p:nvSpPr>
        <p:spPr>
          <a:xfrm>
            <a:off x="548640" y="4754880"/>
            <a:ext cx="7315200" cy="365760"/>
          </a:xfrm>
          <a:prstGeom prst="rect">
            <a:avLst/>
          </a:prstGeom>
          <a:noFill/>
          <a:ln/>
        </p:spPr>
        <p:txBody>
          <a:bodyPr wrap="square" rtlCol="0"/>
          <a:lstStyle>
            <a:lvl1pPr indent="0" marL="0">
              <a:buNone/>
              <a:defRPr lang="en-US" sz="1200" dirty="0">
                <a:solidFill>
                  <a:srgbClr val="A0A1A3"/>
                </a:solidFill>
              </a:defRPr>
            </a:lvl1pPr>
          </a:lstStyle>
          <a:p>
            <a:pPr indent="0" marL="0">
              <a:buNone/>
            </a:pPr>
            <a:r>
              <a:rPr lang="en-US" sz="1200" dirty="0">
                <a:solidFill>
                  <a:srgbClr val="A0A1A3"/>
                </a:solidFill>
              </a:rPr>
              <a:t>Quelle</a:t>
            </a:r>
            <a:endParaRPr lang="en-US" sz="12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 · 04 Kontakt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title" hasCustomPrompt="1"/>
          </p:nvPr>
        </p:nvSpPr>
        <p:spPr>
          <a:xfrm>
            <a:off x="548640" y="1481328"/>
            <a:ext cx="10332720" cy="109728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Sprechen wir über Ihr Projekt.</a:t>
            </a:r>
            <a:endParaRPr lang="en-US" sz="4400" dirty="0"/>
          </a:p>
        </p:txBody>
      </p:sp>
      <p:sp>
        <p:nvSpPr>
          <p:cNvPr id="5"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 · 05 Foto vollflächig">
    <p:bg>
      <p:bgPr>
        <a:solidFill>
          <a:srgbClr val="111418"/>
        </a:solidFill>
      </p:bgPr>
    </p:bg>
    <p:spTree>
      <p:nvGrpSpPr>
        <p:cNvPr id="2" name=""/>
        <p:cNvGrpSpPr/>
        <p:nvPr/>
      </p:nvGrpSpPr>
      <p:grpSpPr>
        <a:xfrm>
          <a:off x="0" y="0"/>
          <a:ext cx="0" cy="0"/>
          <a:chOff x="0" y="0"/>
          <a:chExt cx="0" cy="0"/>
        </a:xfrm>
      </p:grpSpPr>
      <p:sp>
        <p:nvSpPr>
          <p:cNvPr id="3" name="Text 0"/>
          <p:cNvSpPr/>
          <p:nvPr>
            <p:ph idx="100" hasCustomPrompt="1"/>
          </p:nvPr>
        </p:nvSpPr>
        <p:spPr>
          <a:xfrm>
            <a:off x="0" y="0"/>
            <a:ext cx="12191695" cy="6858000"/>
          </a:xfrm>
          <a:prstGeom prst="rect">
            <a:avLst/>
          </a:prstGeom>
          <a:noFill/>
          <a:ln/>
        </p:spPr>
        <p:txBody>
          <a:bodyPr wrap="square" rtlCol="0"/>
          <a:lstStyle>
            <a:lvl1pPr indent="0" marL="0">
              <a:buNone/>
              <a:defRPr lang="en-US" sz="1400" dirty="0">
                <a:solidFill>
                  <a:srgbClr val="E7FFF2"/>
                </a:solidFill>
              </a:defRPr>
            </a:lvl1pPr>
          </a:lstStyle>
          <a:p>
            <a:pPr indent="0" marL="0">
              <a:buNone/>
            </a:pPr>
            <a:r>
              <a:rPr lang="en-US" sz="1400" dirty="0">
                <a:solidFill>
                  <a:srgbClr val="E7FFF2"/>
                </a:solidFill>
              </a:rPr>
              <a:t>Foto</a:t>
            </a:r>
            <a:endParaRPr lang="en-US" sz="1400" dirty="0"/>
          </a:p>
        </p:txBody>
      </p:sp>
      <p:sp>
        <p:nvSpPr>
          <p:cNvPr id="4" name="Text 0"/>
          <p:cNvSpPr/>
          <p:nvPr>
            <p:ph idx="101" type="title" hasCustomPrompt="1"/>
          </p:nvPr>
        </p:nvSpPr>
        <p:spPr>
          <a:xfrm>
            <a:off x="548640" y="4572000"/>
            <a:ext cx="8686800" cy="118872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Titel auf dem Foto</a:t>
            </a:r>
            <a:endParaRPr lang="en-US" sz="4400" dirty="0"/>
          </a:p>
        </p:txBody>
      </p:sp>
      <p:sp>
        <p:nvSpPr>
          <p:cNvPr id="5" name="Text 0"/>
          <p:cNvSpPr/>
          <p:nvPr>
            <p:ph idx="102" type="body" hasCustomPrompt="1"/>
          </p:nvPr>
        </p:nvSpPr>
        <p:spPr>
          <a:xfrm>
            <a:off x="548640" y="5897880"/>
            <a:ext cx="8229600" cy="274320"/>
          </a:xfrm>
          <a:prstGeom prst="rect">
            <a:avLst/>
          </a:prstGeom>
          <a:noFill/>
          <a:ln/>
        </p:spPr>
        <p:txBody>
          <a:bodyPr wrap="square" rtlCol="0"/>
          <a:lstStyle>
            <a:lvl1pPr indent="0" marL="0">
              <a:buNone/>
              <a:defRPr lang="en-US" sz="1000" spc="-30" kern="0" dirty="0">
                <a:solidFill>
                  <a:srgbClr val="B7F3D0"/>
                </a:solidFill>
              </a:defRPr>
            </a:lvl1pPr>
          </a:lstStyle>
          <a:p>
            <a:pPr indent="0" marL="0">
              <a:buNone/>
            </a:pPr>
            <a:r>
              <a:rPr lang="en-US" sz="1000" spc="-30" kern="0" dirty="0">
                <a:solidFill>
                  <a:srgbClr val="B7F3D0"/>
                </a:solidFill>
              </a:rPr>
              <a:t>BILDLEGENDE</a:t>
            </a:r>
            <a:endParaRPr lang="en-US" sz="10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 · 06 Tex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 · 07 Text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 · 08 Text und Foto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Foto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 · 09 Text und Foto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Foto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 · 10 Inhal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 · 11 Inhalt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 · 12 Inhalt vertraulich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VERTRAULICH</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SCHUTZVERMERK ISO 16016 BEACHTEN</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 · 13 Inhalt vertraulich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ABSCHNITT</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Titel</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VERTRAULICH</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SCHUTZVERMERK ISO 16016 BEACHTEN</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E · 14 Leer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 · 15 Leer (weiss)">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TITEL DER PRÄSENTATION  ·  DATUM</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 · 16 Leer (dunkel)">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TITEL DER PRÄSENTATION  ·  DATUM</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N · 01 Title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2331720"/>
            <a:ext cx="100584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SECTION</a:t>
            </a:r>
            <a:endParaRPr lang="en-US" sz="1000" dirty="0"/>
          </a:p>
        </p:txBody>
      </p:sp>
      <p:sp>
        <p:nvSpPr>
          <p:cNvPr id="5" name="Text 0"/>
          <p:cNvSpPr/>
          <p:nvPr>
            <p:ph idx="102" type="title" hasCustomPrompt="1"/>
          </p:nvPr>
        </p:nvSpPr>
        <p:spPr>
          <a:xfrm>
            <a:off x="548640" y="2651760"/>
            <a:ext cx="10515600" cy="1828800"/>
          </a:xfrm>
          <a:prstGeom prst="rect">
            <a:avLst/>
          </a:prstGeom>
          <a:noFill/>
          <a:ln/>
        </p:spPr>
        <p:txBody>
          <a:bodyPr wrap="square" rtlCol="0"/>
          <a:lstStyle>
            <a:lvl1pPr algn="l" indent="0" marL="0">
              <a:lnSpc>
                <a:spcPct val="95000"/>
              </a:lnSpc>
              <a:buNone/>
              <a:defRPr lang="en-US" sz="6000" spc="-120" kern="0" dirty="0">
                <a:solidFill>
                  <a:srgbClr val="E7FFF2"/>
                </a:solidFill>
              </a:defRPr>
            </a:lvl1pPr>
          </a:lstStyle>
          <a:p>
            <a:pPr algn="l" indent="0" marL="0">
              <a:lnSpc>
                <a:spcPct val="95000"/>
              </a:lnSpc>
              <a:buNone/>
            </a:pPr>
            <a:r>
              <a:rPr lang="en-US" sz="6000" spc="-120" kern="0" dirty="0">
                <a:solidFill>
                  <a:srgbClr val="E7FFF2"/>
                </a:solidFill>
              </a:rPr>
              <a:t>Title</a:t>
            </a:r>
            <a:endParaRPr lang="en-US" sz="6000" dirty="0"/>
          </a:p>
        </p:txBody>
      </p:sp>
      <p:sp>
        <p:nvSpPr>
          <p:cNvPr id="6" name="Text 0"/>
          <p:cNvSpPr/>
          <p:nvPr>
            <p:ph idx="103" type="body" hasCustomPrompt="1"/>
          </p:nvPr>
        </p:nvSpPr>
        <p:spPr>
          <a:xfrm>
            <a:off x="548640" y="4572000"/>
            <a:ext cx="8229600" cy="731520"/>
          </a:xfrm>
          <a:prstGeom prst="rect">
            <a:avLst/>
          </a:prstGeom>
          <a:noFill/>
          <a:ln/>
        </p:spPr>
        <p:txBody>
          <a:bodyPr wrap="square" rtlCol="0"/>
          <a:lstStyle>
            <a:lvl1pPr indent="0" marL="0">
              <a:lnSpc>
                <a:spcPct val="120000"/>
              </a:lnSpc>
              <a:buNone/>
              <a:defRPr lang="en-US" sz="1800" dirty="0">
                <a:solidFill>
                  <a:srgbClr val="E7FFF2"/>
                </a:solidFill>
              </a:defRPr>
            </a:lvl1pPr>
          </a:lstStyle>
          <a:p>
            <a:pPr indent="0" marL="0">
              <a:lnSpc>
                <a:spcPct val="120000"/>
              </a:lnSpc>
              <a:buNone/>
            </a:pPr>
            <a:r>
              <a:rPr lang="en-US" sz="1800" dirty="0">
                <a:solidFill>
                  <a:srgbClr val="E7FFF2"/>
                </a:solidFill>
              </a:rPr>
              <a:t>Subtitle</a:t>
            </a:r>
            <a:endParaRPr lang="en-US" sz="18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EN · 02 Chapter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SECTION</a:t>
            </a:r>
            <a:endParaRPr lang="en-US" sz="1000" dirty="0"/>
          </a:p>
        </p:txBody>
      </p:sp>
      <p:sp>
        <p:nvSpPr>
          <p:cNvPr id="5" name="Text 0"/>
          <p:cNvSpPr/>
          <p:nvPr>
            <p:ph idx="102" type="title" hasCustomPrompt="1"/>
          </p:nvPr>
        </p:nvSpPr>
        <p:spPr>
          <a:xfrm>
            <a:off x="548640" y="1691640"/>
            <a:ext cx="10515600" cy="2926080"/>
          </a:xfrm>
          <a:prstGeom prst="rect">
            <a:avLst/>
          </a:prstGeom>
          <a:noFill/>
          <a:ln/>
        </p:spPr>
        <p:txBody>
          <a:bodyPr wrap="square" rtlCol="0"/>
          <a:lstStyle>
            <a:lvl1pPr algn="l" indent="0" marL="0">
              <a:lnSpc>
                <a:spcPct val="95000"/>
              </a:lnSpc>
              <a:buNone/>
              <a:defRPr lang="en-US" sz="8400" spc="-168" kern="0" dirty="0">
                <a:solidFill>
                  <a:srgbClr val="E7FFF2"/>
                </a:solidFill>
              </a:defRPr>
            </a:lvl1pPr>
          </a:lstStyle>
          <a:p>
            <a:pPr algn="l" indent="0" marL="0">
              <a:lnSpc>
                <a:spcPct val="95000"/>
              </a:lnSpc>
              <a:buNone/>
            </a:pPr>
            <a:r>
              <a:rPr lang="en-US" sz="8400" spc="-168" kern="0" dirty="0">
                <a:solidFill>
                  <a:srgbClr val="E7FFF2"/>
                </a:solidFill>
              </a:rPr>
              <a:t>Chapter</a:t>
            </a:r>
            <a:endParaRPr lang="en-US" sz="8400" dirty="0"/>
          </a:p>
        </p:txBody>
      </p:sp>
      <p:sp>
        <p:nvSpPr>
          <p:cNvPr id="6" name="Text 0"/>
          <p:cNvSpPr/>
          <p:nvPr>
            <p:ph idx="103" type="body" hasCustomPrompt="1"/>
          </p:nvPr>
        </p:nvSpPr>
        <p:spPr>
          <a:xfrm>
            <a:off x="6400800" y="4892040"/>
            <a:ext cx="4876495" cy="1188720"/>
          </a:xfrm>
          <a:prstGeom prst="rect">
            <a:avLst/>
          </a:prstGeom>
          <a:noFill/>
          <a:ln/>
        </p:spPr>
        <p:txBody>
          <a:bodyPr wrap="square" rtlCol="0"/>
          <a:lstStyle>
            <a:lvl1pPr indent="0" marL="0">
              <a:lnSpc>
                <a:spcPct val="120000"/>
              </a:lnSpc>
              <a:buNone/>
              <a:defRPr lang="en-US" sz="1400" dirty="0">
                <a:solidFill>
                  <a:srgbClr val="A0A1A3"/>
                </a:solidFill>
              </a:defRPr>
            </a:lvl1pPr>
          </a:lstStyle>
          <a:p>
            <a:pPr indent="0" marL="0">
              <a:lnSpc>
                <a:spcPct val="120000"/>
              </a:lnSpc>
              <a:buNone/>
            </a:pPr>
            <a:r>
              <a:rPr lang="en-US" sz="1400" dirty="0">
                <a:solidFill>
                  <a:srgbClr val="A0A1A3"/>
                </a:solidFill>
              </a:rPr>
              <a:t>Short 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N · 03 Quote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737360"/>
            <a:ext cx="7315200" cy="274320"/>
          </a:xfrm>
          <a:prstGeom prst="rect">
            <a:avLst/>
          </a:prstGeom>
          <a:noFill/>
          <a:ln/>
        </p:spPr>
        <p:txBody>
          <a:bodyPr wrap="square" rtlCol="0"/>
          <a:lstStyle>
            <a:lvl1pPr indent="0" marL="0">
              <a:buNone/>
              <a:defRPr lang="en-US" sz="1000" spc="-30" kern="0" dirty="0">
                <a:solidFill>
                  <a:srgbClr val="A0A1A3"/>
                </a:solidFill>
              </a:defRPr>
            </a:lvl1pPr>
          </a:lstStyle>
          <a:p>
            <a:pPr indent="0" marL="0">
              <a:buNone/>
            </a:pPr>
            <a:r>
              <a:rPr lang="en-US" sz="1000" spc="-30" kern="0" dirty="0">
                <a:solidFill>
                  <a:srgbClr val="A0A1A3"/>
                </a:solidFill>
              </a:rPr>
              <a:t>0N //  SECTION</a:t>
            </a:r>
            <a:endParaRPr lang="en-US" sz="1000" dirty="0"/>
          </a:p>
        </p:txBody>
      </p:sp>
      <p:sp>
        <p:nvSpPr>
          <p:cNvPr id="5" name="Text 0"/>
          <p:cNvSpPr/>
          <p:nvPr>
            <p:ph idx="102" type="title" hasCustomPrompt="1"/>
          </p:nvPr>
        </p:nvSpPr>
        <p:spPr>
          <a:xfrm>
            <a:off x="548640" y="2103120"/>
            <a:ext cx="10332720" cy="237744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Statement</a:t>
            </a:r>
            <a:endParaRPr lang="en-US" sz="4400" dirty="0"/>
          </a:p>
        </p:txBody>
      </p:sp>
      <p:sp>
        <p:nvSpPr>
          <p:cNvPr id="6" name="Text 0"/>
          <p:cNvSpPr/>
          <p:nvPr>
            <p:ph idx="103" type="body" hasCustomPrompt="1"/>
          </p:nvPr>
        </p:nvSpPr>
        <p:spPr>
          <a:xfrm>
            <a:off x="548640" y="4754880"/>
            <a:ext cx="7315200" cy="365760"/>
          </a:xfrm>
          <a:prstGeom prst="rect">
            <a:avLst/>
          </a:prstGeom>
          <a:noFill/>
          <a:ln/>
        </p:spPr>
        <p:txBody>
          <a:bodyPr wrap="square" rtlCol="0"/>
          <a:lstStyle>
            <a:lvl1pPr indent="0" marL="0">
              <a:buNone/>
              <a:defRPr lang="en-US" sz="1200" dirty="0">
                <a:solidFill>
                  <a:srgbClr val="A0A1A3"/>
                </a:solidFill>
              </a:defRPr>
            </a:lvl1pPr>
          </a:lstStyle>
          <a:p>
            <a:pPr indent="0" marL="0">
              <a:buNone/>
            </a:pPr>
            <a:r>
              <a:rPr lang="en-US" sz="1200" dirty="0">
                <a:solidFill>
                  <a:srgbClr val="A0A1A3"/>
                </a:solidFill>
              </a:rPr>
              <a:t>Source</a:t>
            </a:r>
            <a:endParaRPr lang="en-US" sz="12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1020</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N · 04 Contact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title" hasCustomPrompt="1"/>
          </p:nvPr>
        </p:nvSpPr>
        <p:spPr>
          <a:xfrm>
            <a:off x="548640" y="1481328"/>
            <a:ext cx="10332720" cy="109728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Let us talk about your project.</a:t>
            </a:r>
            <a:endParaRPr lang="en-US" sz="4400" dirty="0"/>
          </a:p>
        </p:txBody>
      </p:sp>
      <p:sp>
        <p:nvSpPr>
          <p:cNvPr id="5"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1021</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N · 05 Full-bleed photo">
    <p:bg>
      <p:bgPr>
        <a:solidFill>
          <a:srgbClr val="111418"/>
        </a:solidFill>
      </p:bgPr>
    </p:bg>
    <p:spTree>
      <p:nvGrpSpPr>
        <p:cNvPr id="2" name=""/>
        <p:cNvGrpSpPr/>
        <p:nvPr/>
      </p:nvGrpSpPr>
      <p:grpSpPr>
        <a:xfrm>
          <a:off x="0" y="0"/>
          <a:ext cx="0" cy="0"/>
          <a:chOff x="0" y="0"/>
          <a:chExt cx="0" cy="0"/>
        </a:xfrm>
      </p:grpSpPr>
      <p:sp>
        <p:nvSpPr>
          <p:cNvPr id="3" name="Text 0"/>
          <p:cNvSpPr/>
          <p:nvPr>
            <p:ph idx="100" hasCustomPrompt="1"/>
          </p:nvPr>
        </p:nvSpPr>
        <p:spPr>
          <a:xfrm>
            <a:off x="0" y="0"/>
            <a:ext cx="12191695" cy="6858000"/>
          </a:xfrm>
          <a:prstGeom prst="rect">
            <a:avLst/>
          </a:prstGeom>
          <a:noFill/>
          <a:ln/>
        </p:spPr>
        <p:txBody>
          <a:bodyPr wrap="square" rtlCol="0"/>
          <a:lstStyle>
            <a:lvl1pPr indent="0" marL="0">
              <a:buNone/>
              <a:defRPr lang="en-US" sz="1400" dirty="0">
                <a:solidFill>
                  <a:srgbClr val="E7FFF2"/>
                </a:solidFill>
              </a:defRPr>
            </a:lvl1pPr>
          </a:lstStyle>
          <a:p>
            <a:pPr indent="0" marL="0">
              <a:buNone/>
            </a:pPr>
            <a:r>
              <a:rPr lang="en-US" sz="1400" dirty="0">
                <a:solidFill>
                  <a:srgbClr val="E7FFF2"/>
                </a:solidFill>
              </a:rPr>
              <a:t>Photo</a:t>
            </a:r>
            <a:endParaRPr lang="en-US" sz="1400" dirty="0"/>
          </a:p>
        </p:txBody>
      </p:sp>
      <p:sp>
        <p:nvSpPr>
          <p:cNvPr id="4" name="Text 0"/>
          <p:cNvSpPr/>
          <p:nvPr>
            <p:ph idx="101" type="title" hasCustomPrompt="1"/>
          </p:nvPr>
        </p:nvSpPr>
        <p:spPr>
          <a:xfrm>
            <a:off x="548640" y="4572000"/>
            <a:ext cx="8686800" cy="1188720"/>
          </a:xfrm>
          <a:prstGeom prst="rect">
            <a:avLst/>
          </a:prstGeom>
          <a:noFill/>
          <a:ln/>
        </p:spPr>
        <p:txBody>
          <a:bodyPr wrap="square" rtlCol="0"/>
          <a:lstStyle>
            <a:lvl1pPr algn="l" indent="0" marL="0">
              <a:lnSpc>
                <a:spcPct val="95000"/>
              </a:lnSpc>
              <a:buNone/>
              <a:defRPr lang="en-US" sz="4400" spc="-88" kern="0" dirty="0">
                <a:solidFill>
                  <a:srgbClr val="E7FFF2"/>
                </a:solidFill>
              </a:defRPr>
            </a:lvl1pPr>
          </a:lstStyle>
          <a:p>
            <a:pPr algn="l" indent="0" marL="0">
              <a:lnSpc>
                <a:spcPct val="95000"/>
              </a:lnSpc>
              <a:buNone/>
            </a:pPr>
            <a:r>
              <a:rPr lang="en-US" sz="4400" spc="-88" kern="0" dirty="0">
                <a:solidFill>
                  <a:srgbClr val="E7FFF2"/>
                </a:solidFill>
              </a:rPr>
              <a:t>Title on the photo</a:t>
            </a:r>
            <a:endParaRPr lang="en-US" sz="4400" dirty="0"/>
          </a:p>
        </p:txBody>
      </p:sp>
      <p:sp>
        <p:nvSpPr>
          <p:cNvPr id="5" name="Text 0"/>
          <p:cNvSpPr/>
          <p:nvPr>
            <p:ph idx="102" type="body" hasCustomPrompt="1"/>
          </p:nvPr>
        </p:nvSpPr>
        <p:spPr>
          <a:xfrm>
            <a:off x="548640" y="5897880"/>
            <a:ext cx="8229600" cy="274320"/>
          </a:xfrm>
          <a:prstGeom prst="rect">
            <a:avLst/>
          </a:prstGeom>
          <a:noFill/>
          <a:ln/>
        </p:spPr>
        <p:txBody>
          <a:bodyPr wrap="square" rtlCol="0"/>
          <a:lstStyle>
            <a:lvl1pPr indent="0" marL="0">
              <a:buNone/>
              <a:defRPr lang="en-US" sz="1000" spc="-30" kern="0" dirty="0">
                <a:solidFill>
                  <a:srgbClr val="B7F3D0"/>
                </a:solidFill>
              </a:defRPr>
            </a:lvl1pPr>
          </a:lstStyle>
          <a:p>
            <a:pPr indent="0" marL="0">
              <a:buNone/>
            </a:pPr>
            <a:r>
              <a:rPr lang="en-US" sz="1000" spc="-30" kern="0" dirty="0">
                <a:solidFill>
                  <a:srgbClr val="B7F3D0"/>
                </a:solidFill>
              </a:rPr>
              <a:t>CAPTION</a:t>
            </a:r>
            <a:endParaRPr lang="en-US" sz="10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1022</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N · 06 Tex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 · 07 Text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676656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1024</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N · 08 Text and photo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Photo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1025</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N · 09 Text and photo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idx="103" type="body" hasCustomPrompt="1"/>
          </p:nvPr>
        </p:nvSpPr>
        <p:spPr>
          <a:xfrm>
            <a:off x="548640" y="2606040"/>
            <a:ext cx="5029200" cy="3474720"/>
          </a:xfrm>
          <a:prstGeom prst="rect">
            <a:avLst/>
          </a:prstGeom>
          <a:noFill/>
          <a:ln/>
        </p:spPr>
        <p:txBody>
          <a:bodyPr wrap="square" rtlCol="0"/>
          <a:lstStyle>
            <a:lvl1pPr indent="0" marL="0">
              <a:lnSpc>
                <a:spcPct val="120000"/>
              </a:lnSpc>
              <a:spcAft>
                <a:spcPts val="800"/>
              </a:spcAft>
              <a:buNone/>
              <a:defRPr lang="en-US" sz="1400" dirty="0">
                <a:solidFill>
                  <a:srgbClr val="111418"/>
                </a:solidFill>
              </a:defRPr>
            </a:lvl1pPr>
          </a:lstStyle>
          <a:p>
            <a:pPr indent="0" marL="0">
              <a:lnSpc>
                <a:spcPct val="120000"/>
              </a:lnSpc>
              <a:spcAft>
                <a:spcPts val="800"/>
              </a:spcAft>
              <a:buNone/>
            </a:pPr>
            <a:r>
              <a:rPr lang="en-US" sz="1400" dirty="0">
                <a:solidFill>
                  <a:srgbClr val="111418"/>
                </a:solidFill>
              </a:rPr>
              <a:t>Text</a:t>
            </a:r>
            <a:endParaRPr lang="en-US" sz="1400" dirty="0"/>
          </a:p>
        </p:txBody>
      </p:sp>
      <p:sp>
        <p:nvSpPr>
          <p:cNvPr id="7" name="Text 0"/>
          <p:cNvSpPr/>
          <p:nvPr>
            <p:ph idx="104" hasCustomPrompt="1"/>
          </p:nvPr>
        </p:nvSpPr>
        <p:spPr>
          <a:xfrm>
            <a:off x="6309360" y="2606040"/>
            <a:ext cx="4967935" cy="3429000"/>
          </a:xfrm>
          <a:prstGeom prst="rect">
            <a:avLst/>
          </a:prstGeom>
          <a:noFill/>
          <a:ln/>
        </p:spPr>
        <p:txBody>
          <a:bodyPr wrap="square" rtlCol="0"/>
          <a:lstStyle>
            <a:lvl1pPr indent="0" marL="0">
              <a:buNone/>
              <a:defRPr lang="en-US" sz="1400" dirty="0">
                <a:solidFill>
                  <a:srgbClr val="111418"/>
                </a:solidFill>
              </a:defRPr>
            </a:lvl1pPr>
          </a:lstStyle>
          <a:p>
            <a:pPr indent="0" marL="0">
              <a:buNone/>
            </a:pPr>
            <a:r>
              <a:rPr lang="en-US" sz="1400" dirty="0">
                <a:solidFill>
                  <a:srgbClr val="111418"/>
                </a:solidFill>
              </a:rPr>
              <a:t>Photo</a:t>
            </a:r>
            <a:endParaRPr lang="en-US" sz="1400" dirty="0"/>
          </a:p>
        </p:txBody>
      </p:sp>
      <p:sp>
        <p:nvSpPr>
          <p:cNvPr id="8"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1026</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 · 10 Content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1027</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N · 11 Content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1028</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N · 12 Content confidential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CONFIDENTIAL</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REFER TO PROTECTION NOTICE ISO 16016</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1029</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EN · 13 Content confidential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idx="101" type="body" hasCustomPrompt="1"/>
          </p:nvPr>
        </p:nvSpPr>
        <p:spPr>
          <a:xfrm>
            <a:off x="548640" y="1188720"/>
            <a:ext cx="7315200" cy="274320"/>
          </a:xfrm>
          <a:prstGeom prst="rect">
            <a:avLst/>
          </a:prstGeom>
          <a:noFill/>
          <a:ln/>
        </p:spPr>
        <p:txBody>
          <a:bodyPr wrap="square" rtlCol="0"/>
          <a:lstStyle>
            <a:lvl1pPr indent="0" marL="0">
              <a:buNone/>
              <a:defRPr lang="en-US" sz="1000" spc="-30" kern="0" dirty="0">
                <a:solidFill>
                  <a:srgbClr val="707981"/>
                </a:solidFill>
              </a:defRPr>
            </a:lvl1pPr>
          </a:lstStyle>
          <a:p>
            <a:pPr indent="0" marL="0">
              <a:buNone/>
            </a:pPr>
            <a:r>
              <a:rPr lang="en-US" sz="1000" spc="-30" kern="0" dirty="0">
                <a:solidFill>
                  <a:srgbClr val="707981"/>
                </a:solidFill>
              </a:rPr>
              <a:t>0N //  SECTION</a:t>
            </a:r>
            <a:endParaRPr lang="en-US" sz="1000" dirty="0"/>
          </a:p>
        </p:txBody>
      </p:sp>
      <p:sp>
        <p:nvSpPr>
          <p:cNvPr id="5" name="Text 0"/>
          <p:cNvSpPr/>
          <p:nvPr>
            <p:ph idx="102" type="title" hasCustomPrompt="1"/>
          </p:nvPr>
        </p:nvSpPr>
        <p:spPr>
          <a:xfrm>
            <a:off x="548640" y="1481328"/>
            <a:ext cx="10058400" cy="868680"/>
          </a:xfrm>
          <a:prstGeom prst="rect">
            <a:avLst/>
          </a:prstGeom>
          <a:noFill/>
          <a:ln/>
        </p:spPr>
        <p:txBody>
          <a:bodyPr wrap="square" rtlCol="0"/>
          <a:lstStyle>
            <a:lvl1pPr algn="l" indent="0" marL="0">
              <a:lnSpc>
                <a:spcPct val="95000"/>
              </a:lnSpc>
              <a:buNone/>
              <a:defRPr lang="en-US" sz="3400" spc="-68" kern="0" dirty="0">
                <a:solidFill>
                  <a:srgbClr val="111418"/>
                </a:solidFill>
              </a:defRPr>
            </a:lvl1pPr>
          </a:lstStyle>
          <a:p>
            <a:pPr algn="l" indent="0" marL="0">
              <a:lnSpc>
                <a:spcPct val="95000"/>
              </a:lnSpc>
              <a:buNone/>
            </a:pPr>
            <a:r>
              <a:rPr lang="en-US" sz="3400" spc="-68" kern="0" dirty="0">
                <a:solidFill>
                  <a:srgbClr val="111418"/>
                </a:solidFill>
              </a:rPr>
              <a:t>Title</a:t>
            </a:r>
            <a:endParaRPr lang="en-US" sz="3400" dirty="0"/>
          </a:p>
        </p:txBody>
      </p:sp>
      <p:sp>
        <p:nvSpPr>
          <p:cNvPr id="6" name="Shape 0"/>
          <p:cNvSpPr/>
          <p:nvPr/>
        </p:nvSpPr>
        <p:spPr>
          <a:xfrm>
            <a:off x="10088575" y="457200"/>
            <a:ext cx="1188720" cy="274320"/>
          </a:xfrm>
          <a:prstGeom prst="rect">
            <a:avLst/>
          </a:prstGeom>
          <a:solidFill>
            <a:srgbClr val="B8463A"/>
          </a:solidFill>
          <a:ln w="6350">
            <a:solidFill>
              <a:srgbClr val="B8463A"/>
            </a:solidFill>
            <a:prstDash val="solid"/>
          </a:ln>
        </p:spPr>
      </p:sp>
      <p:sp>
        <p:nvSpPr>
          <p:cNvPr id="7" name="Text 1"/>
          <p:cNvSpPr/>
          <p:nvPr/>
        </p:nvSpPr>
        <p:spPr>
          <a:xfrm>
            <a:off x="10088575" y="457200"/>
            <a:ext cx="1188720" cy="274320"/>
          </a:xfrm>
          <a:prstGeom prst="rect">
            <a:avLst/>
          </a:prstGeom>
          <a:noFill/>
          <a:ln/>
        </p:spPr>
        <p:txBody>
          <a:bodyPr wrap="square" lIns="0" tIns="0" rIns="0" bIns="0" rtlCol="0" anchor="ctr"/>
          <a:lstStyle/>
          <a:p>
            <a:pPr algn="ctr" indent="0" marL="0">
              <a:buNone/>
            </a:pPr>
            <a:r>
              <a:rPr lang="en-US" sz="800" spc="-20" kern="0" dirty="0">
                <a:solidFill>
                  <a:srgbClr val="FFFFFF"/>
                </a:solidFill>
              </a:rPr>
              <a:t>CONFIDENTIAL</a:t>
            </a:r>
            <a:endParaRPr lang="en-US" sz="800" dirty="0"/>
          </a:p>
        </p:txBody>
      </p:sp>
      <p:sp>
        <p:nvSpPr>
          <p:cNvPr id="8" name="Text 2"/>
          <p:cNvSpPr/>
          <p:nvPr/>
        </p:nvSpPr>
        <p:spPr>
          <a:xfrm>
            <a:off x="8351215" y="768096"/>
            <a:ext cx="2926080" cy="182880"/>
          </a:xfrm>
          <a:prstGeom prst="rect">
            <a:avLst/>
          </a:prstGeom>
          <a:noFill/>
          <a:ln/>
        </p:spPr>
        <p:txBody>
          <a:bodyPr wrap="square" lIns="0" tIns="0" rIns="0" bIns="0" rtlCol="0" anchor="t"/>
          <a:lstStyle/>
          <a:p>
            <a:pPr algn="r" indent="0" marL="0">
              <a:buNone/>
            </a:pPr>
            <a:r>
              <a:rPr lang="en-US" sz="650" spc="-20" kern="0" dirty="0">
                <a:solidFill>
                  <a:srgbClr val="707981"/>
                </a:solidFill>
              </a:rPr>
              <a:t>REFER TO PROTECTION NOTICE ISO 16016</a:t>
            </a:r>
            <a:endParaRPr lang="en-US" sz="650" dirty="0"/>
          </a:p>
        </p:txBody>
      </p:sp>
      <p:sp>
        <p:nvSpPr>
          <p:cNvPr id="9" name="Text 3"/>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1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1030</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EN · 14 Blank (mint)">
    <p:bg>
      <p:bgPr>
        <a:solidFill>
          <a:srgbClr val="E7FFF2"/>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1031</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N · 15 Blank (white)">
    <p:bg>
      <p:bgPr>
        <a:solidFill>
          <a:srgbClr val="FFFFFF"/>
        </a:solidFill>
      </p:bgPr>
    </p:bg>
    <p:spTree>
      <p:nvGrpSpPr>
        <p:cNvPr id="2" name=""/>
        <p:cNvGrpSpPr/>
        <p:nvPr/>
      </p:nvGrpSpPr>
      <p:grpSpPr>
        <a:xfrm>
          <a:off x="0" y="0"/>
          <a:ext cx="0" cy="0"/>
          <a:chOff x="0" y="0"/>
          <a:chExt cx="0" cy="0"/>
        </a:xfrm>
      </p:grpSpPr>
      <p:pic>
        <p:nvPicPr>
          <p:cNvPr id="3" name="Image 0" descr="mark-black">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707981"/>
                </a:solidFill>
              </a:rPr>
              <a:t>IDEEROTH AG  ·  PRESENTATION TITLE  ·  DATE</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1032</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 · 16 Blank (dark)">
    <p:bg>
      <p:bgPr>
        <a:solidFill>
          <a:srgbClr val="111418"/>
        </a:solidFill>
      </p:bgPr>
    </p:bg>
    <p:spTree>
      <p:nvGrpSpPr>
        <p:cNvPr id="2" name=""/>
        <p:cNvGrpSpPr/>
        <p:nvPr/>
      </p:nvGrpSpPr>
      <p:grpSpPr>
        <a:xfrm>
          <a:off x="0" y="0"/>
          <a:ext cx="0" cy="0"/>
          <a:chOff x="0" y="0"/>
          <a:chExt cx="0" cy="0"/>
        </a:xfrm>
      </p:grpSpPr>
      <p:pic>
        <p:nvPicPr>
          <p:cNvPr id="3" name="Image 0" descr="mark-mint">    </p:cNvPr>
          <p:cNvPicPr>
            <a:picLocks noChangeAspect="1"/>
          </p:cNvPicPr>
          <p:nvPr/>
        </p:nvPicPr>
        <p:blipFill>
          <a:blip r:embed="rId1"/>
          <a:stretch>
            <a:fillRect/>
          </a:stretch>
        </p:blipFill>
        <p:spPr>
          <a:xfrm>
            <a:off x="548640" y="438912"/>
            <a:ext cx="868680" cy="312725"/>
          </a:xfrm>
          <a:prstGeom prst="rect">
            <a:avLst/>
          </a:prstGeom>
        </p:spPr>
      </p:pic>
      <p:sp>
        <p:nvSpPr>
          <p:cNvPr id="4" name="Text 0"/>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IDEEROTH AG  ·  PRESENTATION TITLE  ·  DATE</a:t>
            </a:r>
            <a:endParaRPr lang="en-US" sz="800" dirty="0"/>
          </a:p>
        </p:txBody>
      </p:sp>
      <p:sp>
        <p:nvSpPr>
          <p:cNvPr id="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1033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null</a:t>
            </a:fld>
            <a:endParaRPr lang="en-US"/>
          </a:p>
        </p:txBody>
      </p:sp>
      <p:sp>
        <p:nvSpPr>
          <p:cNvPr id="4" name="Fusszeile"/>
          <p:cNvSpPr/>
          <p:nvPr>
            <p:ph type="ftr" sz="quarter" idx="11"/>
          </p:nvPr>
        </p:nvSpPr>
        <p:spPr>
          <a:xfrm rot="16200000">
            <a:off x="9219895" y="3502152"/>
            <a:ext cx="5029200" cy="256032"/>
          </a:xfrm>
          <a:prstGeom prst="rect">
            <a:avLst/>
          </a:prstGeom>
          <a:noFill/>
          <a:ln/>
        </p:spPr>
        <p:txBody>
          <a:bodyPr wrap="square" lIns="0" tIns="0" rIns="0" bIns="0" rtlCol="0" anchor="ctr"/>
          <a:lstStyle/>
          <a:p>
            <a:pPr algn="l" indent="0" marL="0">
              <a:buNone/>
            </a:pPr>
            <a:r>
              <a:rPr lang="en-US" sz="800" spc="-20" kern="0" dirty="0">
                <a:solidFill>
                  <a:srgbClr val="A0A1A3"/>
                </a:solidFill>
              </a:rPr>
              <a:t>Fusszeile</a:t>
            </a:r>
            <a:endParaRPr lang="en-US" sz="800" dirty="0"/>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sldNum="1" hdr="0" ftr="1"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1pPr>
      <a:lvl2pPr marL="742950" indent="-28575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ct val="20000"/>
        </a:spcBef>
        <a:buFont typeface="Inter"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9.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image" Target="../media/image-19-6.jpg"/><Relationship Id="rId7" Type="http://schemas.openxmlformats.org/officeDocument/2006/relationships/slideLayout" Target="../slideLayouts/slideLayout1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slideLayout" Target="../slideLayouts/slideLayout1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slideLayout" Target="../slideLayouts/slideLayout1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5.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Text 0"/>
          <p:cNvSpPr/>
          <p:nvPr>
            <p:ph idx="101" type="body" hasCustomPrompt="1"/>
          </p:nvPr>
        </p:nvSpPr>
        <p:spPr>
          <a:xfrm>
            <a:off x="548640" y="2331720"/>
            <a:ext cx="10058400" cy="274320"/>
          </a:xfrm>
          <a:prstGeom prst="rect">
            <a:avLst/>
          </a:prstGeom>
          <a:noFill/>
          <a:ln/>
        </p:spPr>
        <p:txBody>
          <a:bodyPr wrap="square" lIns="0" tIns="0" rIns="0" bIns="0" rtlCol="0" anchor="t"/>
          <a:lstStyle/>
          <a:p>
            <a:pPr indent="0" marL="0">
              <a:buNone/>
            </a:pPr>
            <a:r>
              <a:rPr lang="en-US" sz="1000" spc="-30" kern="0" dirty="0">
                <a:solidFill>
                  <a:srgbClr val="A0A1A3"/>
                </a:solidFill>
              </a:rPr>
              <a:t>IDEEROTH AG  ·  PRODUKTENTWICKLUNG AUS DER SCHWEIZ</a:t>
            </a:r>
            <a:endParaRPr lang="en-US" sz="1000" dirty="0"/>
          </a:p>
        </p:txBody>
      </p:sp>
      <p:sp>
        <p:nvSpPr>
          <p:cNvPr id="4" name="Text 0"/>
          <p:cNvSpPr/>
          <p:nvPr>
            <p:ph idx="102" type="title" hasCustomPrompt="1"/>
          </p:nvPr>
        </p:nvSpPr>
        <p:spPr>
          <a:xfrm>
            <a:off x="548640" y="2651760"/>
            <a:ext cx="10515600" cy="1828800"/>
          </a:xfrm>
          <a:prstGeom prst="rect">
            <a:avLst/>
          </a:prstGeom>
          <a:noFill/>
          <a:ln/>
        </p:spPr>
        <p:txBody>
          <a:bodyPr wrap="square" lIns="0" tIns="0" rIns="0" bIns="0" rtlCol="0" anchor="t"/>
          <a:lstStyle/>
          <a:p>
            <a:pPr algn="l" indent="0" marL="0">
              <a:lnSpc>
                <a:spcPct val="95000"/>
              </a:lnSpc>
              <a:buNone/>
            </a:pPr>
            <a:r>
              <a:rPr lang="en-US" sz="6000" spc="-120" kern="0" dirty="0">
                <a:solidFill>
                  <a:srgbClr val="E7FFF2"/>
                </a:solidFill>
              </a:rPr>
              <a:t>Aus weniger mehr entwickeln.</a:t>
            </a:r>
            <a:endParaRPr lang="en-US" sz="6000" dirty="0"/>
          </a:p>
        </p:txBody>
      </p:sp>
      <p:sp>
        <p:nvSpPr>
          <p:cNvPr id="5" name="Text 0"/>
          <p:cNvSpPr/>
          <p:nvPr>
            <p:ph idx="103" type="body" hasCustomPrompt="1"/>
          </p:nvPr>
        </p:nvSpPr>
        <p:spPr>
          <a:xfrm>
            <a:off x="548640" y="4572000"/>
            <a:ext cx="8229600" cy="731520"/>
          </a:xfrm>
          <a:prstGeom prst="rect">
            <a:avLst/>
          </a:prstGeom>
          <a:noFill/>
          <a:ln/>
        </p:spPr>
        <p:txBody>
          <a:bodyPr wrap="square" lIns="0" tIns="0" rIns="0" bIns="0" rtlCol="0" anchor="t"/>
          <a:lstStyle/>
          <a:p>
            <a:pPr indent="0" marL="0">
              <a:lnSpc>
                <a:spcPct val="120000"/>
              </a:lnSpc>
              <a:buNone/>
            </a:pPr>
            <a:r>
              <a:rPr lang="en-US" sz="1800" dirty="0">
                <a:solidFill>
                  <a:srgbClr val="E7FFF2"/>
                </a:solidFill>
              </a:rPr>
              <a:t>Kundenpräsentation  ·  Romanshorn, 15. Oktober 2026</a:t>
            </a:r>
            <a:endParaRPr lang="en-US" sz="1800" dirty="0"/>
          </a:p>
        </p:txBody>
      </p:sp>
      <p:sp>
        <p:nvSpPr>
          <p:cNvPr id="6" name="Linie Kennzahlen"/>
          <p:cNvSpPr/>
          <p:nvPr/>
        </p:nvSpPr>
        <p:spPr>
          <a:xfrm>
            <a:off x="548640" y="5669280"/>
            <a:ext cx="10728655" cy="0"/>
          </a:xfrm>
          <a:prstGeom prst="line">
            <a:avLst/>
          </a:prstGeom>
          <a:noFill/>
          <a:ln w="6350">
            <a:solidFill>
              <a:srgbClr val="707274"/>
            </a:solidFill>
            <a:prstDash val="solid"/>
          </a:ln>
        </p:spPr>
      </p:sp>
      <p:sp>
        <p:nvSpPr>
          <p:cNvPr id="7" name="Kennzahl 1"/>
          <p:cNvSpPr txBox="1"/>
          <p:nvPr/>
        </p:nvSpPr>
        <p:spPr>
          <a:xfrm>
            <a:off x="548640" y="5742432"/>
            <a:ext cx="676656" cy="457200"/>
          </a:xfrm>
          <a:prstGeom prst="rect">
            <a:avLst/>
          </a:prstGeom>
          <a:noFill/>
          <a:ln/>
        </p:spPr>
        <p:txBody>
          <a:bodyPr wrap="square" lIns="0" tIns="0" rIns="0" bIns="0" rtlCol="0" anchor="ctr"/>
          <a:lstStyle/>
          <a:p>
            <a:pPr indent="0" marL="0">
              <a:buNone/>
            </a:pPr>
            <a:r>
              <a:rPr lang="en-US" sz="2400" spc="-50" kern="0" dirty="0">
                <a:solidFill>
                  <a:srgbClr val="E7FFF2"/>
                </a:solidFill>
              </a:rPr>
              <a:t>20+</a:t>
            </a:r>
            <a:endParaRPr lang="en-US" sz="2400" dirty="0"/>
          </a:p>
        </p:txBody>
      </p:sp>
      <p:sp>
        <p:nvSpPr>
          <p:cNvPr id="8" name="Eyebrow JAHRE ERFAHRUNG"/>
          <p:cNvSpPr txBox="1"/>
          <p:nvPr/>
        </p:nvSpPr>
        <p:spPr>
          <a:xfrm>
            <a:off x="1335024" y="5852160"/>
            <a:ext cx="1737360" cy="256032"/>
          </a:xfrm>
          <a:prstGeom prst="rect">
            <a:avLst/>
          </a:prstGeom>
          <a:noFill/>
          <a:ln/>
        </p:spPr>
        <p:txBody>
          <a:bodyPr wrap="square" lIns="0" tIns="0" rIns="0" bIns="0" rtlCol="0" anchor="ctr"/>
          <a:lstStyle/>
          <a:p>
            <a:pPr indent="0" marL="0">
              <a:buNone/>
            </a:pPr>
            <a:r>
              <a:rPr lang="en-US" sz="1000" spc="-30" kern="0" dirty="0">
                <a:solidFill>
                  <a:srgbClr val="A0A1A3"/>
                </a:solidFill>
              </a:rPr>
              <a:t>JAHRE ERFAHRUNG</a:t>
            </a:r>
            <a:endParaRPr lang="en-US" sz="1000" dirty="0"/>
          </a:p>
        </p:txBody>
      </p:sp>
      <p:sp>
        <p:nvSpPr>
          <p:cNvPr id="9" name="Kennzahl 2"/>
          <p:cNvSpPr txBox="1"/>
          <p:nvPr/>
        </p:nvSpPr>
        <p:spPr>
          <a:xfrm>
            <a:off x="3474720" y="5742432"/>
            <a:ext cx="859536" cy="457200"/>
          </a:xfrm>
          <a:prstGeom prst="rect">
            <a:avLst/>
          </a:prstGeom>
          <a:noFill/>
          <a:ln/>
        </p:spPr>
        <p:txBody>
          <a:bodyPr wrap="square" lIns="0" tIns="0" rIns="0" bIns="0" rtlCol="0" anchor="ctr"/>
          <a:lstStyle/>
          <a:p>
            <a:pPr indent="0" marL="0">
              <a:buNone/>
            </a:pPr>
            <a:r>
              <a:rPr lang="en-US" sz="2400" spc="-50" kern="0" dirty="0">
                <a:solidFill>
                  <a:srgbClr val="E7FFF2"/>
                </a:solidFill>
              </a:rPr>
              <a:t>100+</a:t>
            </a:r>
            <a:endParaRPr lang="en-US" sz="2400" dirty="0"/>
          </a:p>
        </p:txBody>
      </p:sp>
      <p:sp>
        <p:nvSpPr>
          <p:cNvPr id="10" name="Eyebrow PROJEKTE"/>
          <p:cNvSpPr txBox="1"/>
          <p:nvPr/>
        </p:nvSpPr>
        <p:spPr>
          <a:xfrm>
            <a:off x="4443984" y="5852160"/>
            <a:ext cx="1737360" cy="256032"/>
          </a:xfrm>
          <a:prstGeom prst="rect">
            <a:avLst/>
          </a:prstGeom>
          <a:noFill/>
          <a:ln/>
        </p:spPr>
        <p:txBody>
          <a:bodyPr wrap="square" lIns="0" tIns="0" rIns="0" bIns="0" rtlCol="0" anchor="ctr"/>
          <a:lstStyle/>
          <a:p>
            <a:pPr indent="0" marL="0">
              <a:buNone/>
            </a:pPr>
            <a:r>
              <a:rPr lang="en-US" sz="1000" spc="-30" kern="0" dirty="0">
                <a:solidFill>
                  <a:srgbClr val="A0A1A3"/>
                </a:solidFill>
              </a:rPr>
              <a:t>PROJEKTE</a:t>
            </a:r>
            <a:endParaRPr lang="en-US" sz="1000" dirty="0"/>
          </a:p>
        </p:txBody>
      </p:sp>
      <p:sp>
        <p:nvSpPr>
          <p:cNvPr id="11" name="Kennzahl 3"/>
          <p:cNvSpPr txBox="1"/>
          <p:nvPr/>
        </p:nvSpPr>
        <p:spPr>
          <a:xfrm>
            <a:off x="6400800" y="5742432"/>
            <a:ext cx="310896" cy="457200"/>
          </a:xfrm>
          <a:prstGeom prst="rect">
            <a:avLst/>
          </a:prstGeom>
          <a:noFill/>
          <a:ln/>
        </p:spPr>
        <p:txBody>
          <a:bodyPr wrap="square" lIns="0" tIns="0" rIns="0" bIns="0" rtlCol="0" anchor="ctr"/>
          <a:lstStyle/>
          <a:p>
            <a:pPr indent="0" marL="0">
              <a:buNone/>
            </a:pPr>
            <a:r>
              <a:rPr lang="en-US" sz="2400" spc="-50" kern="0" dirty="0">
                <a:solidFill>
                  <a:srgbClr val="E7FFF2"/>
                </a:solidFill>
              </a:rPr>
              <a:t>5</a:t>
            </a:r>
            <a:endParaRPr lang="en-US" sz="2400" dirty="0"/>
          </a:p>
        </p:txBody>
      </p:sp>
      <p:sp>
        <p:nvSpPr>
          <p:cNvPr id="12" name="Eyebrow LEISTUNGEN"/>
          <p:cNvSpPr txBox="1"/>
          <p:nvPr/>
        </p:nvSpPr>
        <p:spPr>
          <a:xfrm>
            <a:off x="6821424" y="5852160"/>
            <a:ext cx="1737360" cy="256032"/>
          </a:xfrm>
          <a:prstGeom prst="rect">
            <a:avLst/>
          </a:prstGeom>
          <a:noFill/>
          <a:ln/>
        </p:spPr>
        <p:txBody>
          <a:bodyPr wrap="square" lIns="0" tIns="0" rIns="0" bIns="0" rtlCol="0" anchor="ctr"/>
          <a:lstStyle/>
          <a:p>
            <a:pPr indent="0" marL="0">
              <a:buNone/>
            </a:pPr>
            <a:r>
              <a:rPr lang="en-US" sz="1000" spc="-30" kern="0" dirty="0">
                <a:solidFill>
                  <a:srgbClr val="A0A1A3"/>
                </a:solidFill>
              </a:rPr>
              <a:t>LEISTUNGEN</a:t>
            </a:r>
            <a:endParaRPr lang="en-US" sz="1000" dirty="0"/>
          </a:p>
        </p:txBody>
      </p:sp>
      <p:sp>
        <p:nvSpPr>
          <p:cNvPr id="13"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a:t>
            </a:fld>
            <a:endParaRPr lang="en-US"/>
          </a:p>
        </p:txBody>
      </p:sp>
      <p:sp>
        <p:nvSpPr>
          <p:cNvPr id="14"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A0A1A3"/>
                </a:solidFill>
              </a:rPr>
              <a:t>02 //  UNTERNEHMEN</a:t>
            </a:r>
            <a:endParaRPr lang="en-US" sz="1000" dirty="0"/>
          </a:p>
        </p:txBody>
      </p:sp>
      <p:sp>
        <p:nvSpPr>
          <p:cNvPr id="4" name="Text 0"/>
          <p:cNvSpPr/>
          <p:nvPr>
            <p:ph idx="102" type="title" hasCustomPrompt="1"/>
          </p:nvPr>
        </p:nvSpPr>
        <p:spPr>
          <a:xfrm>
            <a:off x="548640" y="1691640"/>
            <a:ext cx="10515600" cy="2926080"/>
          </a:xfrm>
          <a:prstGeom prst="rect">
            <a:avLst/>
          </a:prstGeom>
          <a:noFill/>
          <a:ln/>
        </p:spPr>
        <p:txBody>
          <a:bodyPr wrap="square" lIns="0" tIns="0" rIns="0" bIns="0" rtlCol="0" anchor="t"/>
          <a:lstStyle/>
          <a:p>
            <a:pPr algn="l" indent="0" marL="0">
              <a:lnSpc>
                <a:spcPct val="95000"/>
              </a:lnSpc>
              <a:buNone/>
            </a:pPr>
            <a:r>
              <a:rPr lang="en-US" sz="8400" spc="-168" kern="0" dirty="0">
                <a:solidFill>
                  <a:srgbClr val="E7FFF2"/>
                </a:solidFill>
              </a:rPr>
              <a:t>Swiss engineered.</a:t>
            </a:r>
            <a:endParaRPr lang="en-US" sz="8400" dirty="0"/>
          </a:p>
        </p:txBody>
      </p:sp>
      <p:sp>
        <p:nvSpPr>
          <p:cNvPr id="5" name="Text 0"/>
          <p:cNvSpPr/>
          <p:nvPr>
            <p:ph idx="103" type="body" hasCustomPrompt="1"/>
          </p:nvPr>
        </p:nvSpPr>
        <p:spPr>
          <a:xfrm>
            <a:off x="6400800" y="4892040"/>
            <a:ext cx="4876495" cy="1188720"/>
          </a:xfrm>
          <a:prstGeom prst="rect">
            <a:avLst/>
          </a:prstGeom>
          <a:noFill/>
          <a:ln/>
        </p:spPr>
        <p:txBody>
          <a:bodyPr wrap="square" lIns="0" tIns="0" rIns="0" bIns="0" rtlCol="0" anchor="t"/>
          <a:lstStyle/>
          <a:p>
            <a:pPr indent="0" marL="0">
              <a:lnSpc>
                <a:spcPct val="120000"/>
              </a:lnSpc>
              <a:buNone/>
            </a:pPr>
            <a:r>
              <a:rPr lang="en-US" sz="1400" dirty="0">
                <a:solidFill>
                  <a:srgbClr val="A0A1A3"/>
                </a:solidFill>
              </a:rPr>
              <a:t>Entwicklung, Konstruktion, Simulation und Prototyping im eigenen Haus. Von der ersten Idee bis zur Serie.</a:t>
            </a:r>
            <a:endParaRPr lang="en-US" sz="14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2</a:t>
            </a:fld>
            <a:endParaRPr lang="en-US"/>
          </a:p>
        </p:txBody>
      </p:sp>
      <p:sp>
        <p:nvSpPr>
          <p:cNvPr id="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UNTERNEHMEN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Was wir tun</a:t>
            </a:r>
            <a:endParaRPr lang="en-US" sz="3400" dirty="0"/>
          </a:p>
        </p:txBody>
      </p:sp>
      <p:sp>
        <p:nvSpPr>
          <p:cNvPr id="5" name="Text 0"/>
          <p:cNvSpPr/>
          <p:nvPr>
            <p:ph idx="103" type="body" hasCustomPrompt="1"/>
          </p:nvPr>
        </p:nvSpPr>
        <p:spPr>
          <a:xfrm>
            <a:off x="548640" y="2606040"/>
            <a:ext cx="6766560" cy="3474720"/>
          </a:xfrm>
          <a:prstGeom prst="rect">
            <a:avLst/>
          </a:prstGeom>
          <a:noFill/>
          <a:ln/>
        </p:spPr>
        <p:txBody>
          <a:bodyPr wrap="square" lIns="0" tIns="0" rIns="0" bIns="0" rtlCol="0" anchor="t"/>
          <a:lstStyle/>
          <a:p>
            <a:pPr indent="0" marL="0">
              <a:lnSpc>
                <a:spcPct val="120000"/>
              </a:lnSpc>
              <a:spcAft>
                <a:spcPts val="1000"/>
              </a:spcAft>
              <a:buNone/>
            </a:pPr>
            <a:r>
              <a:rPr lang="en-US" sz="1400" dirty="0">
                <a:solidFill>
                  <a:srgbClr val="111418"/>
                </a:solidFill>
              </a:rPr>
              <a:t>Von der ersten Idee bis zur fertigen Serienentwicklung: Konstruktion, Simulation, Entwicklung und Prototyping unter einem Dach.</a:t>
            </a:r>
            <a:endParaRPr lang="en-US" sz="1400" dirty="0"/>
          </a:p>
          <a:p>
            <a:pPr indent="0" marL="0">
              <a:lnSpc>
                <a:spcPct val="120000"/>
              </a:lnSpc>
              <a:spcAft>
                <a:spcPts val="1000"/>
              </a:spcAft>
              <a:buNone/>
            </a:pPr>
            <a:r>
              <a:rPr lang="en-US" sz="1400" dirty="0">
                <a:solidFill>
                  <a:srgbClr val="111418"/>
                </a:solidFill>
              </a:rPr>
              <a:t>Unser Team unterstützt Kunden bei der Produktentwicklung und verbessert so deren Wettbewerbsfähigkeit. Wir legen Wert auf:</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Eine unabhängige und neutrale Sichtweise</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Eine zielgerichtete Umsetzung und Resultaterreichung</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Einen starken technologischen und betriebswirtschaftlichen Leistungsverbund</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Branchenspezifisches Anwendungsfachwissen</a:t>
            </a:r>
            <a:endParaRPr lang="en-US" sz="14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3</a:t>
            </a:fld>
            <a:endParaRPr lang="en-US"/>
          </a:p>
        </p:txBody>
      </p:sp>
      <p:sp>
        <p:nvSpPr>
          <p:cNvPr id="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UNTERNEHMEN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Was wir tun</a:t>
            </a:r>
            <a:endParaRPr lang="en-US" sz="3400" dirty="0"/>
          </a:p>
        </p:txBody>
      </p:sp>
      <p:sp>
        <p:nvSpPr>
          <p:cNvPr id="5" name="Text 0"/>
          <p:cNvSpPr/>
          <p:nvPr>
            <p:ph idx="103" type="body" hasCustomPrompt="1"/>
          </p:nvPr>
        </p:nvSpPr>
        <p:spPr>
          <a:xfrm>
            <a:off x="548640" y="2606040"/>
            <a:ext cx="6766560" cy="3474720"/>
          </a:xfrm>
          <a:prstGeom prst="rect">
            <a:avLst/>
          </a:prstGeom>
          <a:noFill/>
          <a:ln/>
        </p:spPr>
        <p:txBody>
          <a:bodyPr wrap="square" lIns="0" tIns="0" rIns="0" bIns="0" rtlCol="0" anchor="t"/>
          <a:lstStyle/>
          <a:p>
            <a:pPr indent="0" marL="0">
              <a:lnSpc>
                <a:spcPct val="120000"/>
              </a:lnSpc>
              <a:spcAft>
                <a:spcPts val="1000"/>
              </a:spcAft>
              <a:buNone/>
            </a:pPr>
            <a:r>
              <a:rPr lang="en-US" sz="1400" dirty="0">
                <a:solidFill>
                  <a:srgbClr val="111418"/>
                </a:solidFill>
              </a:rPr>
              <a:t>Von der ersten Idee bis zur fertigen Serienentwicklung: Konstruktion, Simulation, Entwicklung und Prototyping unter einem Dach.</a:t>
            </a:r>
            <a:endParaRPr lang="en-US" sz="1400" dirty="0"/>
          </a:p>
          <a:p>
            <a:pPr indent="0" marL="0">
              <a:lnSpc>
                <a:spcPct val="120000"/>
              </a:lnSpc>
              <a:spcAft>
                <a:spcPts val="1000"/>
              </a:spcAft>
              <a:buNone/>
            </a:pPr>
            <a:r>
              <a:rPr lang="en-US" sz="1400" dirty="0">
                <a:solidFill>
                  <a:srgbClr val="111418"/>
                </a:solidFill>
              </a:rPr>
              <a:t>Unser Team unterstützt Kunden bei der Produktentwicklung und verbessert so deren Wettbewerbsfähigkeit. Wir legen Wert auf:</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Eine unabhängige und neutrale Sichtweise</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Eine zielgerichtete Umsetzung und Resultaterreichung</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Einen starken technologischen und betriebswirtschaftlichen Leistungsverbund</a:t>
            </a:r>
            <a:endParaRPr lang="en-US" sz="1400" dirty="0"/>
          </a:p>
          <a:p>
            <a:pPr marL="342900" indent="-342900">
              <a:lnSpc>
                <a:spcPct val="120000"/>
              </a:lnSpc>
              <a:spcAft>
                <a:spcPts val="400"/>
              </a:spcAft>
              <a:buSzPct val="100000"/>
              <a:buFont typeface="Inter" pitchFamily="34" charset="0"/>
              <a:buChar char="•"/>
            </a:pPr>
            <a:r>
              <a:rPr lang="en-US" sz="1400" dirty="0">
                <a:solidFill>
                  <a:srgbClr val="111418"/>
                </a:solidFill>
              </a:rPr>
              <a:t>Branchenspezifisches Anwendungsfachwissen</a:t>
            </a:r>
            <a:endParaRPr lang="en-US" sz="14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4</a:t>
            </a:fld>
            <a:endParaRPr lang="en-US"/>
          </a:p>
        </p:txBody>
      </p:sp>
      <p:sp>
        <p:nvSpPr>
          <p:cNvPr id="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03 //  KOMPETENZEN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Konstruktion mit 3D-CAD</a:t>
            </a:r>
            <a:endParaRPr lang="en-US" sz="3400" dirty="0"/>
          </a:p>
        </p:txBody>
      </p:sp>
      <p:sp>
        <p:nvSpPr>
          <p:cNvPr id="5" name="Text 0"/>
          <p:cNvSpPr/>
          <p:nvPr>
            <p:ph idx="103" type="body" hasCustomPrompt="1"/>
          </p:nvPr>
        </p:nvSpPr>
        <p:spPr>
          <a:xfrm>
            <a:off x="548640" y="2606040"/>
            <a:ext cx="5029200" cy="3474720"/>
          </a:xfrm>
          <a:prstGeom prst="rect">
            <a:avLst/>
          </a:prstGeom>
          <a:noFill/>
          <a:ln/>
        </p:spPr>
        <p:txBody>
          <a:bodyPr wrap="square" lIns="0" tIns="0" rIns="0" bIns="0" rtlCol="0" anchor="t"/>
          <a:lstStyle/>
          <a:p>
            <a:pPr indent="0" marL="0">
              <a:lnSpc>
                <a:spcPct val="120000"/>
              </a:lnSpc>
              <a:spcAft>
                <a:spcPts val="1000"/>
              </a:spcAft>
              <a:buNone/>
            </a:pPr>
            <a:r>
              <a:rPr lang="en-US" sz="1400" dirty="0">
                <a:solidFill>
                  <a:srgbClr val="111418"/>
                </a:solidFill>
              </a:rPr>
              <a:t>Wir konstruieren Baugruppen, Vorrichtungen und Apparate so, dass sie sich wirtschaftlich fertigen lassen.</a:t>
            </a:r>
            <a:endParaRPr lang="en-US" sz="1400" dirty="0"/>
          </a:p>
          <a:p>
            <a:pPr indent="0" marL="0">
              <a:lnSpc>
                <a:spcPct val="120000"/>
              </a:lnSpc>
              <a:spcAft>
                <a:spcPts val="1000"/>
              </a:spcAft>
              <a:buNone/>
            </a:pPr>
            <a:r>
              <a:rPr lang="en-US" sz="1400" dirty="0">
                <a:solidFill>
                  <a:srgbClr val="111418"/>
                </a:solidFill>
              </a:rPr>
              <a:t>Jede Entscheidung wird im Modell geprüft, bevor sie Geld kostet: Toleranzen, Montage, Materialwahl und Serientauglichkeit.</a:t>
            </a:r>
            <a:endParaRPr lang="en-US" sz="1400" dirty="0"/>
          </a:p>
          <a:p>
            <a:pPr indent="0" marL="0">
              <a:lnSpc>
                <a:spcPct val="120000"/>
              </a:lnSpc>
              <a:spcAft>
                <a:spcPts val="800"/>
              </a:spcAft>
              <a:buNone/>
            </a:pPr>
            <a:r>
              <a:rPr lang="en-US" sz="1400" dirty="0">
                <a:solidFill>
                  <a:srgbClr val="111418"/>
                </a:solidFill>
              </a:rPr>
              <a:t>Das Ergebnis sind weniger Teile, kürzere Wege und Produkte, die lange halten.</a:t>
            </a:r>
            <a:endParaRPr lang="en-US" sz="1400" dirty="0"/>
          </a:p>
        </p:txBody>
      </p:sp>
      <p:pic>
        <p:nvPicPr>
          <p:cNvPr id="6" name="Foto Konstruktion" descr="p11">    </p:cNvPr>
          <p:cNvPicPr>
            <a:picLocks noChangeAspect="1"/>
          </p:cNvPicPr>
          <p:nvPr>
            <p:ph idx="104" hasCustomPrompt="1"/>
          </p:nvPr>
        </p:nvPicPr>
        <p:blipFill>
          <a:blip r:embed="rId1"/>
          <a:srcRect l="0" r="0" t="0" b="0"/>
          <a:stretch/>
        </p:blipFill>
        <p:spPr>
          <a:xfrm>
            <a:off x="6309360" y="2606040"/>
            <a:ext cx="4967935" cy="3429000"/>
          </a:xfrm>
          <a:prstGeom prst="rect">
            <a:avLst/>
          </a:prstGeom>
        </p:spPr>
      </p:pic>
      <p:sp>
        <p:nvSpPr>
          <p:cNvPr id="7" name="Eckmarker 1"/>
          <p:cNvSpPr/>
          <p:nvPr/>
        </p:nvSpPr>
        <p:spPr>
          <a:xfrm>
            <a:off x="6217920" y="2514600"/>
            <a:ext cx="73152" cy="73152"/>
          </a:xfrm>
          <a:prstGeom prst="ellipse">
            <a:avLst/>
          </a:prstGeom>
          <a:solidFill>
            <a:srgbClr val="111418"/>
          </a:solidFill>
          <a:ln w="12700">
            <a:solidFill>
              <a:srgbClr val="111418"/>
            </a:solidFill>
            <a:prstDash val="solid"/>
          </a:ln>
        </p:spPr>
      </p:sp>
      <p:sp>
        <p:nvSpPr>
          <p:cNvPr id="8"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9" name="Eckmarker 3"/>
          <p:cNvSpPr/>
          <p:nvPr/>
        </p:nvSpPr>
        <p:spPr>
          <a:xfrm>
            <a:off x="6217920" y="6053328"/>
            <a:ext cx="73152" cy="73152"/>
          </a:xfrm>
          <a:prstGeom prst="ellipse">
            <a:avLst/>
          </a:prstGeom>
          <a:solidFill>
            <a:srgbClr val="111418"/>
          </a:solidFill>
          <a:ln w="12700">
            <a:solidFill>
              <a:srgbClr val="111418"/>
            </a:solidFill>
            <a:prstDash val="solid"/>
          </a:ln>
        </p:spPr>
      </p:sp>
      <p:sp>
        <p:nvSpPr>
          <p:cNvPr id="10" name="Eckmarker 4"/>
          <p:cNvSpPr/>
          <p:nvPr/>
        </p:nvSpPr>
        <p:spPr>
          <a:xfrm>
            <a:off x="11295583" y="6053328"/>
            <a:ext cx="73152" cy="73152"/>
          </a:xfrm>
          <a:prstGeom prst="ellipse">
            <a:avLst/>
          </a:prstGeom>
          <a:solidFill>
            <a:srgbClr val="111418"/>
          </a:solidFill>
          <a:ln w="12700">
            <a:solidFill>
              <a:srgbClr val="111418"/>
            </a:solidFill>
            <a:prstDash val="solid"/>
          </a:ln>
        </p:spPr>
      </p:sp>
      <p:sp>
        <p:nvSpPr>
          <p:cNvPr id="11"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5</a:t>
            </a:fld>
            <a:endParaRPr lang="en-US"/>
          </a:p>
        </p:txBody>
      </p:sp>
      <p:sp>
        <p:nvSpPr>
          <p:cNvPr id="12"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pic>
        <p:nvPicPr>
          <p:cNvPr id="3" name="Foto vollflächig" descr="p07">    </p:cNvPr>
          <p:cNvPicPr>
            <a:picLocks noChangeAspect="1"/>
          </p:cNvPicPr>
          <p:nvPr>
            <p:ph idx="100" hasCustomPrompt="1"/>
          </p:nvPr>
        </p:nvPicPr>
        <p:blipFill>
          <a:blip r:embed="rId1"/>
          <a:srcRect l="0" r="0" t="0" b="0"/>
          <a:stretch/>
        </p:blipFill>
        <p:spPr>
          <a:xfrm>
            <a:off x="0" y="0"/>
            <a:ext cx="12191695" cy="6858000"/>
          </a:xfrm>
          <a:prstGeom prst="rect">
            <a:avLst/>
          </a:prstGeom>
        </p:spPr>
      </p:pic>
      <p:sp>
        <p:nvSpPr>
          <p:cNvPr id="4" name="Schleier"/>
          <p:cNvSpPr/>
          <p:nvPr/>
        </p:nvSpPr>
        <p:spPr>
          <a:xfrm>
            <a:off x="0" y="0"/>
            <a:ext cx="12191695" cy="6858000"/>
          </a:xfrm>
          <a:prstGeom prst="rect">
            <a:avLst/>
          </a:prstGeom>
          <a:solidFill>
            <a:srgbClr val="111418">
              <a:alpha val="55000"/>
            </a:srgbClr>
          </a:solidFill>
          <a:ln w="12700">
            <a:solidFill>
              <a:srgbClr val="111418"/>
            </a:solidFill>
            <a:prstDash val="solid"/>
          </a:ln>
        </p:spPr>
      </p:sp>
      <p:pic>
        <p:nvPicPr>
          <p:cNvPr id="5" name="Logo" descr="mark-mint">    </p:cNvPr>
          <p:cNvPicPr>
            <a:picLocks noChangeAspect="1"/>
          </p:cNvPicPr>
          <p:nvPr/>
        </p:nvPicPr>
        <p:blipFill>
          <a:blip r:embed="rId2"/>
          <a:stretch>
            <a:fillRect/>
          </a:stretch>
        </p:blipFill>
        <p:spPr>
          <a:xfrm>
            <a:off x="548640" y="438912"/>
            <a:ext cx="868680" cy="312725"/>
          </a:xfrm>
          <a:prstGeom prst="rect">
            <a:avLst/>
          </a:prstGeom>
        </p:spPr>
      </p:pic>
      <p:sp>
        <p:nvSpPr>
          <p:cNvPr id="6" name="Linie wie im Hero"/>
          <p:cNvSpPr/>
          <p:nvPr/>
        </p:nvSpPr>
        <p:spPr>
          <a:xfrm>
            <a:off x="548640" y="4343400"/>
            <a:ext cx="10728655" cy="0"/>
          </a:xfrm>
          <a:prstGeom prst="line">
            <a:avLst/>
          </a:prstGeom>
          <a:noFill/>
          <a:ln w="6350">
            <a:solidFill>
              <a:srgbClr val="707274"/>
            </a:solidFill>
            <a:prstDash val="solid"/>
          </a:ln>
        </p:spPr>
      </p:sp>
      <p:sp>
        <p:nvSpPr>
          <p:cNvPr id="7" name="Text 0"/>
          <p:cNvSpPr/>
          <p:nvPr>
            <p:ph idx="101" type="title" hasCustomPrompt="1"/>
          </p:nvPr>
        </p:nvSpPr>
        <p:spPr>
          <a:xfrm>
            <a:off x="548640" y="4572000"/>
            <a:ext cx="8686800" cy="1188720"/>
          </a:xfrm>
          <a:prstGeom prst="rect">
            <a:avLst/>
          </a:prstGeom>
          <a:noFill/>
          <a:ln/>
        </p:spPr>
        <p:txBody>
          <a:bodyPr wrap="square" lIns="0" tIns="0" rIns="0" bIns="0" rtlCol="0" anchor="t"/>
          <a:lstStyle/>
          <a:p>
            <a:pPr algn="l" indent="0" marL="0">
              <a:lnSpc>
                <a:spcPct val="95000"/>
              </a:lnSpc>
              <a:buNone/>
            </a:pPr>
            <a:r>
              <a:rPr lang="en-US" sz="4400" spc="-88" kern="0" dirty="0">
                <a:solidFill>
                  <a:srgbClr val="E7FFF2"/>
                </a:solidFill>
              </a:rPr>
              <a:t>Von der ersten Idee. Bis zur Serie.</a:t>
            </a:r>
            <a:endParaRPr lang="en-US" sz="4400" dirty="0"/>
          </a:p>
        </p:txBody>
      </p:sp>
      <p:sp>
        <p:nvSpPr>
          <p:cNvPr id="8" name="Text 0"/>
          <p:cNvSpPr/>
          <p:nvPr>
            <p:ph idx="102" type="body" hasCustomPrompt="1"/>
          </p:nvPr>
        </p:nvSpPr>
        <p:spPr>
          <a:xfrm>
            <a:off x="548640" y="5897880"/>
            <a:ext cx="8229600" cy="274320"/>
          </a:xfrm>
          <a:prstGeom prst="rect">
            <a:avLst/>
          </a:prstGeom>
          <a:noFill/>
          <a:ln/>
        </p:spPr>
        <p:txBody>
          <a:bodyPr wrap="square" lIns="0" tIns="0" rIns="0" bIns="0" rtlCol="0" anchor="t"/>
          <a:lstStyle/>
          <a:p>
            <a:pPr indent="0" marL="0">
              <a:buNone/>
            </a:pPr>
            <a:r>
              <a:rPr lang="en-US" sz="1000" spc="-30" kern="0" dirty="0">
                <a:solidFill>
                  <a:srgbClr val="B7F3D0"/>
                </a:solidFill>
              </a:rPr>
              <a:t>BLICK AUS DEM BÜRO AUF DIE TERRASSE</a:t>
            </a:r>
            <a:endParaRPr lang="en-US" sz="10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6</a:t>
            </a:fld>
            <a:endParaRPr lang="en-US"/>
          </a:p>
        </p:txBody>
      </p:sp>
      <p:sp>
        <p:nvSpPr>
          <p:cNvPr id="10"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03 //  KOMPETENZEN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Kompetenzen unter einem Dach</a:t>
            </a:r>
            <a:endParaRPr lang="en-US" sz="3400" dirty="0"/>
          </a:p>
        </p:txBody>
      </p:sp>
      <p:pic>
        <p:nvPicPr>
          <p:cNvPr id="5" name="Karte Ideation" descr="p09">    </p:cNvPr>
          <p:cNvPicPr>
            <a:picLocks noChangeAspect="1"/>
          </p:cNvPicPr>
          <p:nvPr/>
        </p:nvPicPr>
        <p:blipFill>
          <a:blip r:embed="rId1"/>
          <a:srcRect l="0" r="0" t="0" b="0"/>
          <a:stretch/>
        </p:blipFill>
        <p:spPr>
          <a:xfrm>
            <a:off x="548640" y="2651760"/>
            <a:ext cx="3301898" cy="2011680"/>
          </a:xfrm>
          <a:prstGeom prst="rect">
            <a:avLst/>
          </a:prstGeom>
        </p:spPr>
      </p:pic>
      <p:sp>
        <p:nvSpPr>
          <p:cNvPr id="6" name="Eckmarker 1"/>
          <p:cNvSpPr/>
          <p:nvPr/>
        </p:nvSpPr>
        <p:spPr>
          <a:xfrm>
            <a:off x="457200" y="2560320"/>
            <a:ext cx="73152" cy="73152"/>
          </a:xfrm>
          <a:prstGeom prst="ellipse">
            <a:avLst/>
          </a:prstGeom>
          <a:solidFill>
            <a:srgbClr val="111418"/>
          </a:solidFill>
          <a:ln w="12700">
            <a:solidFill>
              <a:srgbClr val="111418"/>
            </a:solidFill>
            <a:prstDash val="solid"/>
          </a:ln>
        </p:spPr>
      </p:sp>
      <p:sp>
        <p:nvSpPr>
          <p:cNvPr id="7" name="Eckmarker 2"/>
          <p:cNvSpPr/>
          <p:nvPr/>
        </p:nvSpPr>
        <p:spPr>
          <a:xfrm>
            <a:off x="3868826" y="256032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4681728"/>
            <a:ext cx="73152" cy="73152"/>
          </a:xfrm>
          <a:prstGeom prst="ellipse">
            <a:avLst/>
          </a:prstGeom>
          <a:solidFill>
            <a:srgbClr val="111418"/>
          </a:solidFill>
          <a:ln w="12700">
            <a:solidFill>
              <a:srgbClr val="111418"/>
            </a:solidFill>
            <a:prstDash val="solid"/>
          </a:ln>
        </p:spPr>
      </p:sp>
      <p:sp>
        <p:nvSpPr>
          <p:cNvPr id="9" name="Eckmarker 4"/>
          <p:cNvSpPr/>
          <p:nvPr/>
        </p:nvSpPr>
        <p:spPr>
          <a:xfrm>
            <a:off x="3868826" y="4681728"/>
            <a:ext cx="73152" cy="73152"/>
          </a:xfrm>
          <a:prstGeom prst="ellipse">
            <a:avLst/>
          </a:prstGeom>
          <a:solidFill>
            <a:srgbClr val="111418"/>
          </a:solidFill>
          <a:ln w="12700">
            <a:solidFill>
              <a:srgbClr val="111418"/>
            </a:solidFill>
            <a:prstDash val="solid"/>
          </a:ln>
        </p:spPr>
      </p:sp>
      <p:sp>
        <p:nvSpPr>
          <p:cNvPr id="10" name="Eyebrow 01 //  IDEATION"/>
          <p:cNvSpPr txBox="1"/>
          <p:nvPr/>
        </p:nvSpPr>
        <p:spPr>
          <a:xfrm>
            <a:off x="548640" y="49834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IDEATION</a:t>
            </a:r>
            <a:endParaRPr lang="en-US" sz="1000" dirty="0"/>
          </a:p>
        </p:txBody>
      </p:sp>
      <p:sp>
        <p:nvSpPr>
          <p:cNvPr id="11" name="Kartentitel Ideation"/>
          <p:cNvSpPr txBox="1"/>
          <p:nvPr/>
        </p:nvSpPr>
        <p:spPr>
          <a:xfrm>
            <a:off x="548640" y="5257800"/>
            <a:ext cx="3301898" cy="411480"/>
          </a:xfrm>
          <a:prstGeom prst="rect">
            <a:avLst/>
          </a:prstGeom>
          <a:noFill/>
          <a:ln/>
        </p:spPr>
        <p:txBody>
          <a:bodyPr wrap="square" lIns="0" tIns="0" rIns="0" bIns="0" rtlCol="0" anchor="ctr"/>
          <a:lstStyle/>
          <a:p>
            <a:pPr indent="0" marL="0">
              <a:buNone/>
            </a:pPr>
            <a:r>
              <a:rPr lang="en-US" sz="2000" spc="-40" kern="0" dirty="0">
                <a:solidFill>
                  <a:srgbClr val="111418"/>
                </a:solidFill>
              </a:rPr>
              <a:t>Ideation</a:t>
            </a:r>
            <a:endParaRPr lang="en-US" sz="2000" dirty="0"/>
          </a:p>
        </p:txBody>
      </p:sp>
      <p:sp>
        <p:nvSpPr>
          <p:cNvPr id="12" name="Kartentext Ideation"/>
          <p:cNvSpPr txBox="1"/>
          <p:nvPr/>
        </p:nvSpPr>
        <p:spPr>
          <a:xfrm>
            <a:off x="548640" y="5669280"/>
            <a:ext cx="3301898" cy="548640"/>
          </a:xfrm>
          <a:prstGeom prst="rect">
            <a:avLst/>
          </a:prstGeom>
          <a:noFill/>
          <a:ln/>
        </p:spPr>
        <p:txBody>
          <a:bodyPr wrap="square" lIns="0" tIns="0" rIns="0" bIns="0" rtlCol="0" anchor="t"/>
          <a:lstStyle/>
          <a:p>
            <a:pPr indent="0" marL="0">
              <a:lnSpc>
                <a:spcPct val="120000"/>
              </a:lnSpc>
              <a:buNone/>
            </a:pPr>
            <a:r>
              <a:rPr lang="en-US" sz="1100" dirty="0">
                <a:solidFill>
                  <a:srgbClr val="707981"/>
                </a:solidFill>
              </a:rPr>
              <a:t>Ideen schärfen, Varianten bewerten, die einfachste Lösung finden.</a:t>
            </a:r>
            <a:endParaRPr lang="en-US" sz="1100" dirty="0"/>
          </a:p>
        </p:txBody>
      </p:sp>
      <p:pic>
        <p:nvPicPr>
          <p:cNvPr id="13" name="Karte Entwicklung" descr="p11">    </p:cNvPr>
          <p:cNvPicPr>
            <a:picLocks noChangeAspect="1"/>
          </p:cNvPicPr>
          <p:nvPr/>
        </p:nvPicPr>
        <p:blipFill>
          <a:blip r:embed="rId2"/>
          <a:srcRect l="0" r="0" t="0" b="0"/>
          <a:stretch/>
        </p:blipFill>
        <p:spPr>
          <a:xfrm>
            <a:off x="4262018" y="2651760"/>
            <a:ext cx="3301898" cy="2011680"/>
          </a:xfrm>
          <a:prstGeom prst="rect">
            <a:avLst/>
          </a:prstGeom>
        </p:spPr>
      </p:pic>
      <p:sp>
        <p:nvSpPr>
          <p:cNvPr id="14" name="Eckmarker 1"/>
          <p:cNvSpPr/>
          <p:nvPr/>
        </p:nvSpPr>
        <p:spPr>
          <a:xfrm>
            <a:off x="4170578" y="2560320"/>
            <a:ext cx="73152" cy="73152"/>
          </a:xfrm>
          <a:prstGeom prst="ellipse">
            <a:avLst/>
          </a:prstGeom>
          <a:solidFill>
            <a:srgbClr val="111418"/>
          </a:solidFill>
          <a:ln w="12700">
            <a:solidFill>
              <a:srgbClr val="111418"/>
            </a:solidFill>
            <a:prstDash val="solid"/>
          </a:ln>
        </p:spPr>
      </p:sp>
      <p:sp>
        <p:nvSpPr>
          <p:cNvPr id="15" name="Eckmarker 2"/>
          <p:cNvSpPr/>
          <p:nvPr/>
        </p:nvSpPr>
        <p:spPr>
          <a:xfrm>
            <a:off x="7582205" y="2560320"/>
            <a:ext cx="73152" cy="73152"/>
          </a:xfrm>
          <a:prstGeom prst="ellipse">
            <a:avLst/>
          </a:prstGeom>
          <a:solidFill>
            <a:srgbClr val="111418"/>
          </a:solidFill>
          <a:ln w="12700">
            <a:solidFill>
              <a:srgbClr val="111418"/>
            </a:solidFill>
            <a:prstDash val="solid"/>
          </a:ln>
        </p:spPr>
      </p:sp>
      <p:sp>
        <p:nvSpPr>
          <p:cNvPr id="16" name="Eckmarker 3"/>
          <p:cNvSpPr/>
          <p:nvPr/>
        </p:nvSpPr>
        <p:spPr>
          <a:xfrm>
            <a:off x="4170578" y="4681728"/>
            <a:ext cx="73152" cy="73152"/>
          </a:xfrm>
          <a:prstGeom prst="ellipse">
            <a:avLst/>
          </a:prstGeom>
          <a:solidFill>
            <a:srgbClr val="111418"/>
          </a:solidFill>
          <a:ln w="12700">
            <a:solidFill>
              <a:srgbClr val="111418"/>
            </a:solidFill>
            <a:prstDash val="solid"/>
          </a:ln>
        </p:spPr>
      </p:sp>
      <p:sp>
        <p:nvSpPr>
          <p:cNvPr id="17" name="Eckmarker 4"/>
          <p:cNvSpPr/>
          <p:nvPr/>
        </p:nvSpPr>
        <p:spPr>
          <a:xfrm>
            <a:off x="7582205" y="4681728"/>
            <a:ext cx="73152" cy="73152"/>
          </a:xfrm>
          <a:prstGeom prst="ellipse">
            <a:avLst/>
          </a:prstGeom>
          <a:solidFill>
            <a:srgbClr val="111418"/>
          </a:solidFill>
          <a:ln w="12700">
            <a:solidFill>
              <a:srgbClr val="111418"/>
            </a:solidFill>
            <a:prstDash val="solid"/>
          </a:ln>
        </p:spPr>
      </p:sp>
      <p:sp>
        <p:nvSpPr>
          <p:cNvPr id="18" name="Eyebrow 02 //  ENTWICKLUNG"/>
          <p:cNvSpPr txBox="1"/>
          <p:nvPr/>
        </p:nvSpPr>
        <p:spPr>
          <a:xfrm>
            <a:off x="4262018" y="49834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ENTWICKLUNG</a:t>
            </a:r>
            <a:endParaRPr lang="en-US" sz="1000" dirty="0"/>
          </a:p>
        </p:txBody>
      </p:sp>
      <p:sp>
        <p:nvSpPr>
          <p:cNvPr id="19" name="Kartentitel Entwicklung"/>
          <p:cNvSpPr txBox="1"/>
          <p:nvPr/>
        </p:nvSpPr>
        <p:spPr>
          <a:xfrm>
            <a:off x="4262018" y="5257800"/>
            <a:ext cx="3301898" cy="411480"/>
          </a:xfrm>
          <a:prstGeom prst="rect">
            <a:avLst/>
          </a:prstGeom>
          <a:noFill/>
          <a:ln/>
        </p:spPr>
        <p:txBody>
          <a:bodyPr wrap="square" lIns="0" tIns="0" rIns="0" bIns="0" rtlCol="0" anchor="ctr"/>
          <a:lstStyle/>
          <a:p>
            <a:pPr indent="0" marL="0">
              <a:buNone/>
            </a:pPr>
            <a:r>
              <a:rPr lang="en-US" sz="2000" spc="-40" kern="0" dirty="0">
                <a:solidFill>
                  <a:srgbClr val="111418"/>
                </a:solidFill>
              </a:rPr>
              <a:t>Entwicklung</a:t>
            </a:r>
            <a:endParaRPr lang="en-US" sz="2000" dirty="0"/>
          </a:p>
        </p:txBody>
      </p:sp>
      <p:sp>
        <p:nvSpPr>
          <p:cNvPr id="20" name="Kartentext Entwicklung"/>
          <p:cNvSpPr txBox="1"/>
          <p:nvPr/>
        </p:nvSpPr>
        <p:spPr>
          <a:xfrm>
            <a:off x="4262018" y="5669280"/>
            <a:ext cx="3301898" cy="548640"/>
          </a:xfrm>
          <a:prstGeom prst="rect">
            <a:avLst/>
          </a:prstGeom>
          <a:noFill/>
          <a:ln/>
        </p:spPr>
        <p:txBody>
          <a:bodyPr wrap="square" lIns="0" tIns="0" rIns="0" bIns="0" rtlCol="0" anchor="t"/>
          <a:lstStyle/>
          <a:p>
            <a:pPr indent="0" marL="0">
              <a:lnSpc>
                <a:spcPct val="120000"/>
              </a:lnSpc>
              <a:buNone/>
            </a:pPr>
            <a:r>
              <a:rPr lang="en-US" sz="1100" dirty="0">
                <a:solidFill>
                  <a:srgbClr val="707981"/>
                </a:solidFill>
              </a:rPr>
              <a:t>Konstruktion mit 3D-CAD, fertigungsgerecht und serientauglich.</a:t>
            </a:r>
            <a:endParaRPr lang="en-US" sz="1100" dirty="0"/>
          </a:p>
        </p:txBody>
      </p:sp>
      <p:pic>
        <p:nvPicPr>
          <p:cNvPr id="21" name="Karte Simulation" descr="p13">    </p:cNvPr>
          <p:cNvPicPr>
            <a:picLocks noChangeAspect="1"/>
          </p:cNvPicPr>
          <p:nvPr/>
        </p:nvPicPr>
        <p:blipFill>
          <a:blip r:embed="rId3"/>
          <a:srcRect l="0" r="0" t="0" b="0"/>
          <a:stretch/>
        </p:blipFill>
        <p:spPr>
          <a:xfrm>
            <a:off x="7975397" y="2651760"/>
            <a:ext cx="3301898" cy="2011680"/>
          </a:xfrm>
          <a:prstGeom prst="rect">
            <a:avLst/>
          </a:prstGeom>
        </p:spPr>
      </p:pic>
      <p:sp>
        <p:nvSpPr>
          <p:cNvPr id="22" name="Eckmarker 1"/>
          <p:cNvSpPr/>
          <p:nvPr/>
        </p:nvSpPr>
        <p:spPr>
          <a:xfrm>
            <a:off x="7883957" y="2560320"/>
            <a:ext cx="73152" cy="73152"/>
          </a:xfrm>
          <a:prstGeom prst="ellipse">
            <a:avLst/>
          </a:prstGeom>
          <a:solidFill>
            <a:srgbClr val="111418"/>
          </a:solidFill>
          <a:ln w="12700">
            <a:solidFill>
              <a:srgbClr val="111418"/>
            </a:solidFill>
            <a:prstDash val="solid"/>
          </a:ln>
        </p:spPr>
      </p:sp>
      <p:sp>
        <p:nvSpPr>
          <p:cNvPr id="23" name="Eckmarker 2"/>
          <p:cNvSpPr/>
          <p:nvPr/>
        </p:nvSpPr>
        <p:spPr>
          <a:xfrm>
            <a:off x="11295583" y="2560320"/>
            <a:ext cx="73152" cy="73152"/>
          </a:xfrm>
          <a:prstGeom prst="ellipse">
            <a:avLst/>
          </a:prstGeom>
          <a:solidFill>
            <a:srgbClr val="111418"/>
          </a:solidFill>
          <a:ln w="12700">
            <a:solidFill>
              <a:srgbClr val="111418"/>
            </a:solidFill>
            <a:prstDash val="solid"/>
          </a:ln>
        </p:spPr>
      </p:sp>
      <p:sp>
        <p:nvSpPr>
          <p:cNvPr id="24" name="Eckmarker 3"/>
          <p:cNvSpPr/>
          <p:nvPr/>
        </p:nvSpPr>
        <p:spPr>
          <a:xfrm>
            <a:off x="7883957" y="4681728"/>
            <a:ext cx="73152" cy="73152"/>
          </a:xfrm>
          <a:prstGeom prst="ellipse">
            <a:avLst/>
          </a:prstGeom>
          <a:solidFill>
            <a:srgbClr val="111418"/>
          </a:solidFill>
          <a:ln w="12700">
            <a:solidFill>
              <a:srgbClr val="111418"/>
            </a:solidFill>
            <a:prstDash val="solid"/>
          </a:ln>
        </p:spPr>
      </p:sp>
      <p:sp>
        <p:nvSpPr>
          <p:cNvPr id="25" name="Eckmarker 4"/>
          <p:cNvSpPr/>
          <p:nvPr/>
        </p:nvSpPr>
        <p:spPr>
          <a:xfrm>
            <a:off x="11295583" y="4681728"/>
            <a:ext cx="73152" cy="73152"/>
          </a:xfrm>
          <a:prstGeom prst="ellipse">
            <a:avLst/>
          </a:prstGeom>
          <a:solidFill>
            <a:srgbClr val="111418"/>
          </a:solidFill>
          <a:ln w="12700">
            <a:solidFill>
              <a:srgbClr val="111418"/>
            </a:solidFill>
            <a:prstDash val="solid"/>
          </a:ln>
        </p:spPr>
      </p:sp>
      <p:sp>
        <p:nvSpPr>
          <p:cNvPr id="26" name="Eyebrow 03 //  SIMULATION"/>
          <p:cNvSpPr txBox="1"/>
          <p:nvPr/>
        </p:nvSpPr>
        <p:spPr>
          <a:xfrm>
            <a:off x="7975397" y="49834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SIMULATION</a:t>
            </a:r>
            <a:endParaRPr lang="en-US" sz="1000" dirty="0"/>
          </a:p>
        </p:txBody>
      </p:sp>
      <p:sp>
        <p:nvSpPr>
          <p:cNvPr id="27" name="Kartentitel Simulation"/>
          <p:cNvSpPr txBox="1"/>
          <p:nvPr/>
        </p:nvSpPr>
        <p:spPr>
          <a:xfrm>
            <a:off x="7975397" y="5257800"/>
            <a:ext cx="3301898" cy="411480"/>
          </a:xfrm>
          <a:prstGeom prst="rect">
            <a:avLst/>
          </a:prstGeom>
          <a:noFill/>
          <a:ln/>
        </p:spPr>
        <p:txBody>
          <a:bodyPr wrap="square" lIns="0" tIns="0" rIns="0" bIns="0" rtlCol="0" anchor="ctr"/>
          <a:lstStyle/>
          <a:p>
            <a:pPr indent="0" marL="0">
              <a:buNone/>
            </a:pPr>
            <a:r>
              <a:rPr lang="en-US" sz="2000" spc="-40" kern="0" dirty="0">
                <a:solidFill>
                  <a:srgbClr val="111418"/>
                </a:solidFill>
              </a:rPr>
              <a:t>Simulation</a:t>
            </a:r>
            <a:endParaRPr lang="en-US" sz="2000" dirty="0"/>
          </a:p>
        </p:txBody>
      </p:sp>
      <p:sp>
        <p:nvSpPr>
          <p:cNvPr id="28" name="Kartentext Simulation"/>
          <p:cNvSpPr txBox="1"/>
          <p:nvPr/>
        </p:nvSpPr>
        <p:spPr>
          <a:xfrm>
            <a:off x="7975397" y="5669280"/>
            <a:ext cx="3301898" cy="548640"/>
          </a:xfrm>
          <a:prstGeom prst="rect">
            <a:avLst/>
          </a:prstGeom>
          <a:noFill/>
          <a:ln/>
        </p:spPr>
        <p:txBody>
          <a:bodyPr wrap="square" lIns="0" tIns="0" rIns="0" bIns="0" rtlCol="0" anchor="t"/>
          <a:lstStyle/>
          <a:p>
            <a:pPr indent="0" marL="0">
              <a:lnSpc>
                <a:spcPct val="120000"/>
              </a:lnSpc>
              <a:buNone/>
            </a:pPr>
            <a:r>
              <a:rPr lang="en-US" sz="1100" dirty="0">
                <a:solidFill>
                  <a:srgbClr val="707981"/>
                </a:solidFill>
              </a:rPr>
              <a:t>Festigkeit und Strömung rechnen, bevor das erste Teil entsteht.</a:t>
            </a:r>
            <a:endParaRPr lang="en-US" sz="1100" dirty="0"/>
          </a:p>
        </p:txBody>
      </p:sp>
      <p:sp>
        <p:nvSpPr>
          <p:cNvPr id="2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7</a:t>
            </a:fld>
            <a:endParaRPr lang="en-US"/>
          </a:p>
        </p:txBody>
      </p:sp>
      <p:sp>
        <p:nvSpPr>
          <p:cNvPr id="30"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LEISTUNGEN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So arbeiten wir</a:t>
            </a:r>
            <a:endParaRPr lang="en-US" sz="3400" dirty="0"/>
          </a:p>
        </p:txBody>
      </p:sp>
      <p:sp>
        <p:nvSpPr>
          <p:cNvPr id="5" name="Schritt Nummer 1"/>
          <p:cNvSpPr txBox="1"/>
          <p:nvPr/>
        </p:nvSpPr>
        <p:spPr>
          <a:xfrm>
            <a:off x="548640" y="2743200"/>
            <a:ext cx="548640" cy="274320"/>
          </a:xfrm>
          <a:prstGeom prst="rect">
            <a:avLst/>
          </a:prstGeom>
          <a:noFill/>
          <a:ln/>
        </p:spPr>
        <p:txBody>
          <a:bodyPr wrap="square" lIns="0" tIns="0" rIns="0" bIns="0" rtlCol="0" anchor="ctr"/>
          <a:lstStyle/>
          <a:p>
            <a:pPr indent="0" marL="0">
              <a:buNone/>
            </a:pPr>
            <a:r>
              <a:rPr lang="en-US" sz="1000" spc="-30" kern="0" dirty="0">
                <a:solidFill>
                  <a:srgbClr val="25C77A"/>
                </a:solidFill>
              </a:rPr>
              <a:t>01</a:t>
            </a:r>
            <a:endParaRPr lang="en-US" sz="1000" dirty="0"/>
          </a:p>
        </p:txBody>
      </p:sp>
      <p:sp>
        <p:nvSpPr>
          <p:cNvPr id="6" name="Schritt 1"/>
          <p:cNvSpPr txBox="1"/>
          <p:nvPr/>
        </p:nvSpPr>
        <p:spPr>
          <a:xfrm>
            <a:off x="1188720" y="2651760"/>
            <a:ext cx="5120640" cy="475488"/>
          </a:xfrm>
          <a:prstGeom prst="rect">
            <a:avLst/>
          </a:prstGeom>
          <a:noFill/>
          <a:ln/>
        </p:spPr>
        <p:txBody>
          <a:bodyPr wrap="square" lIns="0" tIns="0" rIns="0" bIns="0" rtlCol="0" anchor="ctr"/>
          <a:lstStyle/>
          <a:p>
            <a:pPr indent="0" marL="0">
              <a:buNone/>
            </a:pPr>
            <a:r>
              <a:rPr lang="en-US" sz="2800" spc="-50" kern="0" dirty="0">
                <a:solidFill>
                  <a:srgbClr val="111418"/>
                </a:solidFill>
              </a:rPr>
              <a:t>Idee</a:t>
            </a:r>
            <a:endParaRPr lang="en-US" sz="2800" dirty="0"/>
          </a:p>
        </p:txBody>
      </p:sp>
      <p:sp>
        <p:nvSpPr>
          <p:cNvPr id="7" name="Linie Schritt 1"/>
          <p:cNvSpPr/>
          <p:nvPr/>
        </p:nvSpPr>
        <p:spPr>
          <a:xfrm>
            <a:off x="548640" y="3255264"/>
            <a:ext cx="5852160" cy="0"/>
          </a:xfrm>
          <a:prstGeom prst="line">
            <a:avLst/>
          </a:prstGeom>
          <a:noFill/>
          <a:ln w="6350">
            <a:solidFill>
              <a:srgbClr val="91A19B"/>
            </a:solidFill>
            <a:prstDash val="solid"/>
          </a:ln>
        </p:spPr>
      </p:sp>
      <p:sp>
        <p:nvSpPr>
          <p:cNvPr id="8" name="Schritt Nummer 2"/>
          <p:cNvSpPr txBox="1"/>
          <p:nvPr/>
        </p:nvSpPr>
        <p:spPr>
          <a:xfrm>
            <a:off x="548640" y="3438144"/>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02</a:t>
            </a:r>
            <a:endParaRPr lang="en-US" sz="1000" dirty="0"/>
          </a:p>
        </p:txBody>
      </p:sp>
      <p:sp>
        <p:nvSpPr>
          <p:cNvPr id="9" name="Schritt 2"/>
          <p:cNvSpPr txBox="1"/>
          <p:nvPr/>
        </p:nvSpPr>
        <p:spPr>
          <a:xfrm>
            <a:off x="1188720" y="3346704"/>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Konzept</a:t>
            </a:r>
            <a:endParaRPr lang="en-US" sz="2800" dirty="0"/>
          </a:p>
        </p:txBody>
      </p:sp>
      <p:sp>
        <p:nvSpPr>
          <p:cNvPr id="10" name="Linie Schritt 2"/>
          <p:cNvSpPr/>
          <p:nvPr/>
        </p:nvSpPr>
        <p:spPr>
          <a:xfrm>
            <a:off x="548640" y="3950208"/>
            <a:ext cx="5852160" cy="0"/>
          </a:xfrm>
          <a:prstGeom prst="line">
            <a:avLst/>
          </a:prstGeom>
          <a:noFill/>
          <a:ln w="6350">
            <a:solidFill>
              <a:srgbClr val="91A19B"/>
            </a:solidFill>
            <a:prstDash val="solid"/>
          </a:ln>
        </p:spPr>
      </p:sp>
      <p:sp>
        <p:nvSpPr>
          <p:cNvPr id="11" name="Schritt Nummer 3"/>
          <p:cNvSpPr txBox="1"/>
          <p:nvPr/>
        </p:nvSpPr>
        <p:spPr>
          <a:xfrm>
            <a:off x="548640" y="4133088"/>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03</a:t>
            </a:r>
            <a:endParaRPr lang="en-US" sz="1000" dirty="0"/>
          </a:p>
        </p:txBody>
      </p:sp>
      <p:sp>
        <p:nvSpPr>
          <p:cNvPr id="12" name="Schritt 3"/>
          <p:cNvSpPr txBox="1"/>
          <p:nvPr/>
        </p:nvSpPr>
        <p:spPr>
          <a:xfrm>
            <a:off x="1188720" y="4041648"/>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Konstruktion</a:t>
            </a:r>
            <a:endParaRPr lang="en-US" sz="2800" dirty="0"/>
          </a:p>
        </p:txBody>
      </p:sp>
      <p:sp>
        <p:nvSpPr>
          <p:cNvPr id="13" name="Linie Schritt 3"/>
          <p:cNvSpPr/>
          <p:nvPr/>
        </p:nvSpPr>
        <p:spPr>
          <a:xfrm>
            <a:off x="548640" y="4645152"/>
            <a:ext cx="5852160" cy="0"/>
          </a:xfrm>
          <a:prstGeom prst="line">
            <a:avLst/>
          </a:prstGeom>
          <a:noFill/>
          <a:ln w="6350">
            <a:solidFill>
              <a:srgbClr val="91A19B"/>
            </a:solidFill>
            <a:prstDash val="solid"/>
          </a:ln>
        </p:spPr>
      </p:sp>
      <p:sp>
        <p:nvSpPr>
          <p:cNvPr id="14" name="Schritt Nummer 4"/>
          <p:cNvSpPr txBox="1"/>
          <p:nvPr/>
        </p:nvSpPr>
        <p:spPr>
          <a:xfrm>
            <a:off x="548640" y="4828032"/>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04</a:t>
            </a:r>
            <a:endParaRPr lang="en-US" sz="1000" dirty="0"/>
          </a:p>
        </p:txBody>
      </p:sp>
      <p:sp>
        <p:nvSpPr>
          <p:cNvPr id="15" name="Schritt 4"/>
          <p:cNvSpPr txBox="1"/>
          <p:nvPr/>
        </p:nvSpPr>
        <p:spPr>
          <a:xfrm>
            <a:off x="1188720" y="4736592"/>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Entwicklung</a:t>
            </a:r>
            <a:endParaRPr lang="en-US" sz="2800" dirty="0"/>
          </a:p>
        </p:txBody>
      </p:sp>
      <p:sp>
        <p:nvSpPr>
          <p:cNvPr id="16" name="Linie Schritt 4"/>
          <p:cNvSpPr/>
          <p:nvPr/>
        </p:nvSpPr>
        <p:spPr>
          <a:xfrm>
            <a:off x="548640" y="5340096"/>
            <a:ext cx="5852160" cy="0"/>
          </a:xfrm>
          <a:prstGeom prst="line">
            <a:avLst/>
          </a:prstGeom>
          <a:noFill/>
          <a:ln w="6350">
            <a:solidFill>
              <a:srgbClr val="91A19B"/>
            </a:solidFill>
            <a:prstDash val="solid"/>
          </a:ln>
        </p:spPr>
      </p:sp>
      <p:sp>
        <p:nvSpPr>
          <p:cNvPr id="17" name="Schritt Nummer 5"/>
          <p:cNvSpPr txBox="1"/>
          <p:nvPr/>
        </p:nvSpPr>
        <p:spPr>
          <a:xfrm>
            <a:off x="548640" y="5522976"/>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05</a:t>
            </a:r>
            <a:endParaRPr lang="en-US" sz="1000" dirty="0"/>
          </a:p>
        </p:txBody>
      </p:sp>
      <p:sp>
        <p:nvSpPr>
          <p:cNvPr id="18" name="Schritt 5"/>
          <p:cNvSpPr txBox="1"/>
          <p:nvPr/>
        </p:nvSpPr>
        <p:spPr>
          <a:xfrm>
            <a:off x="1188720" y="5431536"/>
            <a:ext cx="5120640" cy="475488"/>
          </a:xfrm>
          <a:prstGeom prst="rect">
            <a:avLst/>
          </a:prstGeom>
          <a:noFill/>
          <a:ln/>
        </p:spPr>
        <p:txBody>
          <a:bodyPr wrap="square" lIns="0" tIns="0" rIns="0" bIns="0" rtlCol="0" anchor="ctr"/>
          <a:lstStyle/>
          <a:p>
            <a:pPr indent="0" marL="0">
              <a:buNone/>
            </a:pPr>
            <a:r>
              <a:rPr lang="en-US" sz="2800" spc="-50" kern="0" dirty="0">
                <a:solidFill>
                  <a:srgbClr val="707981"/>
                </a:solidFill>
              </a:rPr>
              <a:t>Prototyp</a:t>
            </a:r>
            <a:endParaRPr lang="en-US" sz="2800" dirty="0"/>
          </a:p>
        </p:txBody>
      </p:sp>
      <p:sp>
        <p:nvSpPr>
          <p:cNvPr id="19" name="Linie Schritt 5"/>
          <p:cNvSpPr/>
          <p:nvPr/>
        </p:nvSpPr>
        <p:spPr>
          <a:xfrm>
            <a:off x="548640" y="6035040"/>
            <a:ext cx="5852160" cy="0"/>
          </a:xfrm>
          <a:prstGeom prst="line">
            <a:avLst/>
          </a:prstGeom>
          <a:noFill/>
          <a:ln w="6350">
            <a:solidFill>
              <a:srgbClr val="91A19B"/>
            </a:solidFill>
            <a:prstDash val="solid"/>
          </a:ln>
        </p:spPr>
      </p:sp>
      <p:pic>
        <p:nvPicPr>
          <p:cNvPr id="20" name="Prozessfoto" descr="p19">    </p:cNvPr>
          <p:cNvPicPr>
            <a:picLocks noChangeAspect="1"/>
          </p:cNvPicPr>
          <p:nvPr/>
        </p:nvPicPr>
        <p:blipFill>
          <a:blip r:embed="rId1"/>
          <a:srcRect l="0" r="0" t="0" b="0"/>
          <a:stretch/>
        </p:blipFill>
        <p:spPr>
          <a:xfrm>
            <a:off x="7315200" y="2651760"/>
            <a:ext cx="3962095" cy="3108960"/>
          </a:xfrm>
          <a:prstGeom prst="rect">
            <a:avLst/>
          </a:prstGeom>
        </p:spPr>
      </p:pic>
      <p:sp>
        <p:nvSpPr>
          <p:cNvPr id="21" name="Eckmarker 1"/>
          <p:cNvSpPr/>
          <p:nvPr/>
        </p:nvSpPr>
        <p:spPr>
          <a:xfrm>
            <a:off x="7223760" y="2560320"/>
            <a:ext cx="73152" cy="73152"/>
          </a:xfrm>
          <a:prstGeom prst="ellipse">
            <a:avLst/>
          </a:prstGeom>
          <a:solidFill>
            <a:srgbClr val="111418"/>
          </a:solidFill>
          <a:ln w="12700">
            <a:solidFill>
              <a:srgbClr val="111418"/>
            </a:solidFill>
            <a:prstDash val="solid"/>
          </a:ln>
        </p:spPr>
      </p:sp>
      <p:sp>
        <p:nvSpPr>
          <p:cNvPr id="22" name="Eckmarker 2"/>
          <p:cNvSpPr/>
          <p:nvPr/>
        </p:nvSpPr>
        <p:spPr>
          <a:xfrm>
            <a:off x="11295583" y="2560320"/>
            <a:ext cx="73152" cy="73152"/>
          </a:xfrm>
          <a:prstGeom prst="ellipse">
            <a:avLst/>
          </a:prstGeom>
          <a:solidFill>
            <a:srgbClr val="111418"/>
          </a:solidFill>
          <a:ln w="12700">
            <a:solidFill>
              <a:srgbClr val="111418"/>
            </a:solidFill>
            <a:prstDash val="solid"/>
          </a:ln>
        </p:spPr>
      </p:sp>
      <p:sp>
        <p:nvSpPr>
          <p:cNvPr id="23" name="Eckmarker 3"/>
          <p:cNvSpPr/>
          <p:nvPr/>
        </p:nvSpPr>
        <p:spPr>
          <a:xfrm>
            <a:off x="7223760" y="5779008"/>
            <a:ext cx="73152" cy="73152"/>
          </a:xfrm>
          <a:prstGeom prst="ellipse">
            <a:avLst/>
          </a:prstGeom>
          <a:solidFill>
            <a:srgbClr val="111418"/>
          </a:solidFill>
          <a:ln w="12700">
            <a:solidFill>
              <a:srgbClr val="111418"/>
            </a:solidFill>
            <a:prstDash val="solid"/>
          </a:ln>
        </p:spPr>
      </p:sp>
      <p:sp>
        <p:nvSpPr>
          <p:cNvPr id="24" name="Eckmarker 4"/>
          <p:cNvSpPr/>
          <p:nvPr/>
        </p:nvSpPr>
        <p:spPr>
          <a:xfrm>
            <a:off x="11295583" y="5779008"/>
            <a:ext cx="73152" cy="73152"/>
          </a:xfrm>
          <a:prstGeom prst="ellipse">
            <a:avLst/>
          </a:prstGeom>
          <a:solidFill>
            <a:srgbClr val="111418"/>
          </a:solidFill>
          <a:ln w="12700">
            <a:solidFill>
              <a:srgbClr val="111418"/>
            </a:solidFill>
            <a:prstDash val="solid"/>
          </a:ln>
        </p:spPr>
      </p:sp>
      <p:sp>
        <p:nvSpPr>
          <p:cNvPr id="25" name="Eyebrow 01 //  IDEE  ·  DREI MITARBEITENDE PRÜFEN BAUTEILE"/>
          <p:cNvSpPr txBox="1"/>
          <p:nvPr/>
        </p:nvSpPr>
        <p:spPr>
          <a:xfrm>
            <a:off x="7315200" y="6035040"/>
            <a:ext cx="3962095" cy="256032"/>
          </a:xfrm>
          <a:prstGeom prst="rect">
            <a:avLst/>
          </a:prstGeom>
          <a:noFill/>
          <a:ln/>
        </p:spPr>
        <p:txBody>
          <a:bodyPr wrap="square" lIns="0" tIns="0" rIns="0" bIns="0" rtlCol="0" anchor="ctr"/>
          <a:lstStyle/>
          <a:p>
            <a:pPr indent="0" marL="0">
              <a:buNone/>
            </a:pPr>
            <a:r>
              <a:rPr lang="en-US" sz="1000" spc="-30" kern="0" dirty="0">
                <a:solidFill>
                  <a:srgbClr val="707981"/>
                </a:solidFill>
              </a:rPr>
              <a:t>01 //  IDEE  ·  DREI MITARBEITENDE PRÜFEN BAUTEILE</a:t>
            </a:r>
            <a:endParaRPr lang="en-US" sz="1000" dirty="0"/>
          </a:p>
        </p:txBody>
      </p:sp>
      <p:sp>
        <p:nvSpPr>
          <p:cNvPr id="2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8</a:t>
            </a:fld>
            <a:endParaRPr lang="en-US"/>
          </a:p>
        </p:txBody>
      </p:sp>
      <p:sp>
        <p:nvSpPr>
          <p:cNvPr id="2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05 //  TEAM</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Wofür wir stehen</a:t>
            </a:r>
            <a:endParaRPr lang="en-US" sz="3400" dirty="0"/>
          </a:p>
        </p:txBody>
      </p:sp>
      <p:sp>
        <p:nvSpPr>
          <p:cNvPr id="5" name="Eyebrow 01 //  VISION"/>
          <p:cNvSpPr txBox="1"/>
          <p:nvPr/>
        </p:nvSpPr>
        <p:spPr>
          <a:xfrm>
            <a:off x="548640" y="2697480"/>
            <a:ext cx="2743200" cy="256032"/>
          </a:xfrm>
          <a:prstGeom prst="rect">
            <a:avLst/>
          </a:prstGeom>
          <a:noFill/>
          <a:ln/>
        </p:spPr>
        <p:txBody>
          <a:bodyPr wrap="square" lIns="0" tIns="0" rIns="0" bIns="0" rtlCol="0" anchor="ctr"/>
          <a:lstStyle/>
          <a:p>
            <a:pPr indent="0" marL="0">
              <a:buNone/>
            </a:pPr>
            <a:r>
              <a:rPr lang="en-US" sz="1000" spc="-30" kern="0" dirty="0">
                <a:solidFill>
                  <a:srgbClr val="707981"/>
                </a:solidFill>
              </a:rPr>
              <a:t>01 //  VISION</a:t>
            </a:r>
            <a:endParaRPr lang="en-US" sz="1000" dirty="0"/>
          </a:p>
        </p:txBody>
      </p:sp>
      <p:sp>
        <p:nvSpPr>
          <p:cNvPr id="6" name="Zeile 1 Titel"/>
          <p:cNvSpPr txBox="1"/>
          <p:nvPr/>
        </p:nvSpPr>
        <p:spPr>
          <a:xfrm>
            <a:off x="548640" y="2971800"/>
            <a:ext cx="4937760" cy="685800"/>
          </a:xfrm>
          <a:prstGeom prst="rect">
            <a:avLst/>
          </a:prstGeom>
          <a:noFill/>
          <a:ln/>
        </p:spPr>
        <p:txBody>
          <a:bodyPr wrap="square" lIns="0" tIns="0" rIns="0" bIns="0" rtlCol="0" anchor="t"/>
          <a:lstStyle/>
          <a:p>
            <a:pPr indent="0" marL="0">
              <a:lnSpc>
                <a:spcPct val="100000"/>
              </a:lnSpc>
              <a:buNone/>
            </a:pPr>
            <a:r>
              <a:rPr lang="en-US" sz="2000" spc="-40" kern="0" dirty="0">
                <a:solidFill>
                  <a:srgbClr val="111418"/>
                </a:solidFill>
              </a:rPr>
              <a:t>Better products for life.</a:t>
            </a:r>
            <a:endParaRPr lang="en-US" sz="2000" dirty="0"/>
          </a:p>
        </p:txBody>
      </p:sp>
      <p:sp>
        <p:nvSpPr>
          <p:cNvPr id="7" name="Zeile 1 Text"/>
          <p:cNvSpPr txBox="1"/>
          <p:nvPr/>
        </p:nvSpPr>
        <p:spPr>
          <a:xfrm>
            <a:off x="6035040" y="2743200"/>
            <a:ext cx="5242255" cy="86868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Mit dieser Vision lösen wir Probleme mit unseren Ideen. Im Innovationsnetzwerk unserer Kunden sind wir langfristige Partnerin - nachhaltig, ökologisch und effizient.</a:t>
            </a:r>
            <a:endParaRPr lang="en-US" sz="1200" dirty="0"/>
          </a:p>
        </p:txBody>
      </p:sp>
      <p:sp>
        <p:nvSpPr>
          <p:cNvPr id="8" name="Linie Zeile 1"/>
          <p:cNvSpPr/>
          <p:nvPr/>
        </p:nvSpPr>
        <p:spPr>
          <a:xfrm>
            <a:off x="548640" y="3739896"/>
            <a:ext cx="10728655" cy="0"/>
          </a:xfrm>
          <a:prstGeom prst="line">
            <a:avLst/>
          </a:prstGeom>
          <a:noFill/>
          <a:ln w="6350">
            <a:solidFill>
              <a:srgbClr val="A0A1A3"/>
            </a:solidFill>
            <a:prstDash val="solid"/>
          </a:ln>
        </p:spPr>
      </p:sp>
      <p:sp>
        <p:nvSpPr>
          <p:cNvPr id="9" name="Eyebrow 02 //  MISSION"/>
          <p:cNvSpPr txBox="1"/>
          <p:nvPr/>
        </p:nvSpPr>
        <p:spPr>
          <a:xfrm>
            <a:off x="548640" y="3886200"/>
            <a:ext cx="2743200" cy="256032"/>
          </a:xfrm>
          <a:prstGeom prst="rect">
            <a:avLst/>
          </a:prstGeom>
          <a:noFill/>
          <a:ln/>
        </p:spPr>
        <p:txBody>
          <a:bodyPr wrap="square" lIns="0" tIns="0" rIns="0" bIns="0" rtlCol="0" anchor="ctr"/>
          <a:lstStyle/>
          <a:p>
            <a:pPr indent="0" marL="0">
              <a:buNone/>
            </a:pPr>
            <a:r>
              <a:rPr lang="en-US" sz="1000" spc="-30" kern="0" dirty="0">
                <a:solidFill>
                  <a:srgbClr val="707981"/>
                </a:solidFill>
              </a:rPr>
              <a:t>02 //  MISSION</a:t>
            </a:r>
            <a:endParaRPr lang="en-US" sz="1000" dirty="0"/>
          </a:p>
        </p:txBody>
      </p:sp>
      <p:sp>
        <p:nvSpPr>
          <p:cNvPr id="10" name="Zeile 2 Titel"/>
          <p:cNvSpPr txBox="1"/>
          <p:nvPr/>
        </p:nvSpPr>
        <p:spPr>
          <a:xfrm>
            <a:off x="548640" y="4160520"/>
            <a:ext cx="4937760" cy="685800"/>
          </a:xfrm>
          <a:prstGeom prst="rect">
            <a:avLst/>
          </a:prstGeom>
          <a:noFill/>
          <a:ln/>
        </p:spPr>
        <p:txBody>
          <a:bodyPr wrap="square" lIns="0" tIns="0" rIns="0" bIns="0" rtlCol="0" anchor="t"/>
          <a:lstStyle/>
          <a:p>
            <a:pPr indent="0" marL="0">
              <a:lnSpc>
                <a:spcPct val="100000"/>
              </a:lnSpc>
              <a:buNone/>
            </a:pPr>
            <a:r>
              <a:rPr lang="en-US" sz="2000" spc="-40" kern="0" dirty="0">
                <a:solidFill>
                  <a:srgbClr val="111418"/>
                </a:solidFill>
              </a:rPr>
              <a:t>Aus weniger mehr entwickeln.</a:t>
            </a:r>
            <a:endParaRPr lang="en-US" sz="2000" dirty="0"/>
          </a:p>
        </p:txBody>
      </p:sp>
      <p:sp>
        <p:nvSpPr>
          <p:cNvPr id="11" name="Zeile 2 Text"/>
          <p:cNvSpPr txBox="1"/>
          <p:nvPr/>
        </p:nvSpPr>
        <p:spPr>
          <a:xfrm>
            <a:off x="6035040" y="3931920"/>
            <a:ext cx="5242255" cy="86868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Unser Team unterstützt Kunden bei der Produktentwicklung und verbessert so deren Wettbewerbsfähigkeit.</a:t>
            </a:r>
            <a:endParaRPr lang="en-US" sz="1200" dirty="0"/>
          </a:p>
        </p:txBody>
      </p:sp>
      <p:sp>
        <p:nvSpPr>
          <p:cNvPr id="12" name="Linie Zeile 2"/>
          <p:cNvSpPr/>
          <p:nvPr/>
        </p:nvSpPr>
        <p:spPr>
          <a:xfrm>
            <a:off x="548640" y="4928616"/>
            <a:ext cx="10728655" cy="0"/>
          </a:xfrm>
          <a:prstGeom prst="line">
            <a:avLst/>
          </a:prstGeom>
          <a:noFill/>
          <a:ln w="6350">
            <a:solidFill>
              <a:srgbClr val="A0A1A3"/>
            </a:solidFill>
            <a:prstDash val="solid"/>
          </a:ln>
        </p:spPr>
      </p:sp>
      <p:sp>
        <p:nvSpPr>
          <p:cNvPr id="13" name="Eyebrow 03 //  LEITBILD"/>
          <p:cNvSpPr txBox="1"/>
          <p:nvPr/>
        </p:nvSpPr>
        <p:spPr>
          <a:xfrm>
            <a:off x="548640" y="5074920"/>
            <a:ext cx="2743200" cy="256032"/>
          </a:xfrm>
          <a:prstGeom prst="rect">
            <a:avLst/>
          </a:prstGeom>
          <a:noFill/>
          <a:ln/>
        </p:spPr>
        <p:txBody>
          <a:bodyPr wrap="square" lIns="0" tIns="0" rIns="0" bIns="0" rtlCol="0" anchor="ctr"/>
          <a:lstStyle/>
          <a:p>
            <a:pPr indent="0" marL="0">
              <a:buNone/>
            </a:pPr>
            <a:r>
              <a:rPr lang="en-US" sz="1000" spc="-30" kern="0" dirty="0">
                <a:solidFill>
                  <a:srgbClr val="707981"/>
                </a:solidFill>
              </a:rPr>
              <a:t>03 //  LEITBILD</a:t>
            </a:r>
            <a:endParaRPr lang="en-US" sz="1000" dirty="0"/>
          </a:p>
        </p:txBody>
      </p:sp>
      <p:sp>
        <p:nvSpPr>
          <p:cNvPr id="14" name="Zeile 3 Titel"/>
          <p:cNvSpPr txBox="1"/>
          <p:nvPr/>
        </p:nvSpPr>
        <p:spPr>
          <a:xfrm>
            <a:off x="548640" y="5349240"/>
            <a:ext cx="4937760" cy="685800"/>
          </a:xfrm>
          <a:prstGeom prst="rect">
            <a:avLst/>
          </a:prstGeom>
          <a:noFill/>
          <a:ln/>
        </p:spPr>
        <p:txBody>
          <a:bodyPr wrap="square" lIns="0" tIns="0" rIns="0" bIns="0" rtlCol="0" anchor="t"/>
          <a:lstStyle/>
          <a:p>
            <a:pPr indent="0" marL="0">
              <a:lnSpc>
                <a:spcPct val="100000"/>
              </a:lnSpc>
              <a:buNone/>
            </a:pPr>
            <a:r>
              <a:rPr lang="en-US" sz="2000" spc="-40" kern="0" dirty="0">
                <a:solidFill>
                  <a:srgbClr val="111418"/>
                </a:solidFill>
              </a:rPr>
              <a:t>Verantwortungsbewusst, ehrlich, loyal.</a:t>
            </a:r>
            <a:endParaRPr lang="en-US" sz="2000" dirty="0"/>
          </a:p>
        </p:txBody>
      </p:sp>
      <p:sp>
        <p:nvSpPr>
          <p:cNvPr id="15" name="Zeile 3 Text"/>
          <p:cNvSpPr txBox="1"/>
          <p:nvPr/>
        </p:nvSpPr>
        <p:spPr>
          <a:xfrm>
            <a:off x="6035040" y="5120640"/>
            <a:ext cx="5242255" cy="86868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Mitarbeitende sind unser wichtigstes Gut. Wir bieten attraktive Arbeitsplätze und fördern die Menschen gezielt.</a:t>
            </a:r>
            <a:endParaRPr lang="en-US" sz="1200" dirty="0"/>
          </a:p>
        </p:txBody>
      </p:sp>
      <p:sp>
        <p:nvSpPr>
          <p:cNvPr id="16" name="Linie Zeile 3"/>
          <p:cNvSpPr/>
          <p:nvPr/>
        </p:nvSpPr>
        <p:spPr>
          <a:xfrm>
            <a:off x="548640" y="6117336"/>
            <a:ext cx="10728655" cy="0"/>
          </a:xfrm>
          <a:prstGeom prst="line">
            <a:avLst/>
          </a:prstGeom>
          <a:noFill/>
          <a:ln w="6350">
            <a:solidFill>
              <a:srgbClr val="A0A1A3"/>
            </a:solidFill>
            <a:prstDash val="solid"/>
          </a:ln>
        </p:spPr>
      </p:sp>
      <p:sp>
        <p:nvSpPr>
          <p:cNvPr id="1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9</a:t>
            </a:fld>
            <a:endParaRPr lang="en-US"/>
          </a:p>
        </p:txBody>
      </p:sp>
      <p:sp>
        <p:nvSpPr>
          <p:cNvPr id="18"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Text 0"/>
          <p:cNvSpPr/>
          <p:nvPr>
            <p:ph idx="101" type="body" hasCustomPrompt="1"/>
          </p:nvPr>
        </p:nvSpPr>
        <p:spPr>
          <a:xfrm>
            <a:off x="548640" y="1737360"/>
            <a:ext cx="7315200" cy="274320"/>
          </a:xfrm>
          <a:prstGeom prst="rect">
            <a:avLst/>
          </a:prstGeom>
          <a:noFill/>
          <a:ln/>
        </p:spPr>
        <p:txBody>
          <a:bodyPr wrap="square" lIns="0" tIns="0" rIns="0" bIns="0" rtlCol="0" anchor="t"/>
          <a:lstStyle/>
          <a:p>
            <a:pPr indent="0" marL="0">
              <a:buNone/>
            </a:pPr>
            <a:r>
              <a:rPr lang="en-US" sz="1000" spc="-30" kern="0" dirty="0">
                <a:solidFill>
                  <a:srgbClr val="A0A1A3"/>
                </a:solidFill>
              </a:rPr>
              <a:t>02 //  UNTERNEHMEN  ·  MISSION</a:t>
            </a:r>
            <a:endParaRPr lang="en-US" sz="1000" dirty="0"/>
          </a:p>
        </p:txBody>
      </p:sp>
      <p:sp>
        <p:nvSpPr>
          <p:cNvPr id="4" name="Text 0"/>
          <p:cNvSpPr/>
          <p:nvPr>
            <p:ph idx="102" type="title" hasCustomPrompt="1"/>
          </p:nvPr>
        </p:nvSpPr>
        <p:spPr>
          <a:xfrm>
            <a:off x="548640" y="2103120"/>
            <a:ext cx="10332720" cy="2377440"/>
          </a:xfrm>
          <a:prstGeom prst="rect">
            <a:avLst/>
          </a:prstGeom>
          <a:noFill/>
          <a:ln/>
        </p:spPr>
        <p:txBody>
          <a:bodyPr wrap="square" lIns="0" tIns="0" rIns="0" bIns="0" rtlCol="0" anchor="t"/>
          <a:lstStyle/>
          <a:p>
            <a:pPr algn="l" indent="0" marL="0">
              <a:lnSpc>
                <a:spcPct val="95000"/>
              </a:lnSpc>
              <a:buNone/>
            </a:pPr>
            <a:r>
              <a:rPr lang="en-US" sz="4400" spc="-88" kern="0" dirty="0">
                <a:solidFill>
                  <a:srgbClr val="E7FFF2"/>
                </a:solidFill>
              </a:rPr>
              <a:t>«Aus weniger mehr entwickeln - die einfachste Lösung ist meist die beste.»</a:t>
            </a:r>
            <a:endParaRPr lang="en-US" sz="4400" dirty="0"/>
          </a:p>
        </p:txBody>
      </p:sp>
      <p:sp>
        <p:nvSpPr>
          <p:cNvPr id="5" name="Text 0"/>
          <p:cNvSpPr/>
          <p:nvPr>
            <p:ph idx="103" type="body" hasCustomPrompt="1"/>
          </p:nvPr>
        </p:nvSpPr>
        <p:spPr>
          <a:xfrm>
            <a:off x="548640" y="4754880"/>
            <a:ext cx="7315200" cy="365760"/>
          </a:xfrm>
          <a:prstGeom prst="rect">
            <a:avLst/>
          </a:prstGeom>
          <a:noFill/>
          <a:ln/>
        </p:spPr>
        <p:txBody>
          <a:bodyPr wrap="square" lIns="0" tIns="0" rIns="0" bIns="0" rtlCol="0" anchor="t"/>
          <a:lstStyle/>
          <a:p>
            <a:pPr indent="0" marL="0">
              <a:buNone/>
            </a:pPr>
            <a:r>
              <a:rPr lang="en-US" sz="1200" dirty="0">
                <a:solidFill>
                  <a:srgbClr val="A0A1A3"/>
                </a:solidFill>
              </a:rPr>
              <a:t>Alain Roth  ·  Gründer, IdeeRoth AG</a:t>
            </a:r>
            <a:endParaRPr lang="en-US" sz="1200" dirty="0"/>
          </a:p>
        </p:txBody>
      </p:sp>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10</a:t>
            </a:fld>
            <a:endParaRPr lang="en-US"/>
          </a:p>
        </p:txBody>
      </p:sp>
      <p:sp>
        <p:nvSpPr>
          <p:cNvPr id="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LEISTUNGEN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Ein Projekt in Zahlen</a:t>
            </a:r>
            <a:endParaRPr lang="en-US" sz="3400" dirty="0"/>
          </a:p>
        </p:txBody>
      </p:sp>
      <p:sp>
        <p:nvSpPr>
          <p:cNvPr id="5" name="Linie Kennzahlen oben"/>
          <p:cNvSpPr/>
          <p:nvPr/>
        </p:nvSpPr>
        <p:spPr>
          <a:xfrm>
            <a:off x="548640" y="2743200"/>
            <a:ext cx="10728655" cy="0"/>
          </a:xfrm>
          <a:prstGeom prst="line">
            <a:avLst/>
          </a:prstGeom>
          <a:noFill/>
          <a:ln w="6350">
            <a:solidFill>
              <a:srgbClr val="91A19B"/>
            </a:solidFill>
            <a:prstDash val="solid"/>
          </a:ln>
        </p:spPr>
      </p:sp>
      <p:sp>
        <p:nvSpPr>
          <p:cNvPr id="6" name="Kennzahl 1"/>
          <p:cNvSpPr txBox="1"/>
          <p:nvPr/>
        </p:nvSpPr>
        <p:spPr>
          <a:xfrm>
            <a:off x="548640" y="2971800"/>
            <a:ext cx="3301898" cy="1005840"/>
          </a:xfrm>
          <a:prstGeom prst="rect">
            <a:avLst/>
          </a:prstGeom>
          <a:noFill/>
          <a:ln/>
        </p:spPr>
        <p:txBody>
          <a:bodyPr wrap="square" lIns="0" tIns="0" rIns="0" bIns="0" rtlCol="0" anchor="ctr"/>
          <a:lstStyle/>
          <a:p>
            <a:pPr indent="0" marL="0">
              <a:buNone/>
            </a:pPr>
            <a:r>
              <a:rPr lang="en-US" sz="6000" spc="-150" kern="0" dirty="0">
                <a:solidFill>
                  <a:srgbClr val="111418"/>
                </a:solidFill>
              </a:rPr>
              <a:t>38 %</a:t>
            </a:r>
            <a:endParaRPr lang="en-US" sz="6000" dirty="0"/>
          </a:p>
        </p:txBody>
      </p:sp>
      <p:sp>
        <p:nvSpPr>
          <p:cNvPr id="7" name="Eyebrow WENIGER TEILE"/>
          <p:cNvSpPr txBox="1"/>
          <p:nvPr/>
        </p:nvSpPr>
        <p:spPr>
          <a:xfrm>
            <a:off x="548640" y="40690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WENIGER TEILE</a:t>
            </a:r>
            <a:endParaRPr lang="en-US" sz="1000" dirty="0"/>
          </a:p>
        </p:txBody>
      </p:sp>
      <p:sp>
        <p:nvSpPr>
          <p:cNvPr id="8" name="Kennzahl Text 1"/>
          <p:cNvSpPr txBox="1"/>
          <p:nvPr/>
        </p:nvSpPr>
        <p:spPr>
          <a:xfrm>
            <a:off x="548640" y="4389120"/>
            <a:ext cx="3301898" cy="548640"/>
          </a:xfrm>
          <a:prstGeom prst="rect">
            <a:avLst/>
          </a:prstGeom>
          <a:noFill/>
          <a:ln/>
        </p:spPr>
        <p:txBody>
          <a:bodyPr wrap="square" lIns="0" tIns="0" rIns="0" bIns="0" rtlCol="0" anchor="t"/>
          <a:lstStyle/>
          <a:p>
            <a:pPr indent="0" marL="0">
              <a:lnSpc>
                <a:spcPct val="120000"/>
              </a:lnSpc>
              <a:buNone/>
            </a:pPr>
            <a:r>
              <a:rPr lang="en-US" sz="1200" dirty="0">
                <a:solidFill>
                  <a:srgbClr val="707981"/>
                </a:solidFill>
              </a:rPr>
              <a:t>Baugruppe neu gedacht, Montage halbiert.</a:t>
            </a:r>
            <a:endParaRPr lang="en-US" sz="1200" dirty="0"/>
          </a:p>
        </p:txBody>
      </p:sp>
      <p:sp>
        <p:nvSpPr>
          <p:cNvPr id="9" name="Kennzahl 2"/>
          <p:cNvSpPr txBox="1"/>
          <p:nvPr/>
        </p:nvSpPr>
        <p:spPr>
          <a:xfrm>
            <a:off x="4262018" y="2971800"/>
            <a:ext cx="3301898" cy="1005840"/>
          </a:xfrm>
          <a:prstGeom prst="rect">
            <a:avLst/>
          </a:prstGeom>
          <a:noFill/>
          <a:ln/>
        </p:spPr>
        <p:txBody>
          <a:bodyPr wrap="square" lIns="0" tIns="0" rIns="0" bIns="0" rtlCol="0" anchor="ctr"/>
          <a:lstStyle/>
          <a:p>
            <a:pPr indent="0" marL="0">
              <a:buNone/>
            </a:pPr>
            <a:r>
              <a:rPr lang="en-US" sz="6000" spc="-150" kern="0" dirty="0">
                <a:solidFill>
                  <a:srgbClr val="25C77A"/>
                </a:solidFill>
              </a:rPr>
              <a:t>6</a:t>
            </a:r>
            <a:endParaRPr lang="en-US" sz="6000" dirty="0"/>
          </a:p>
        </p:txBody>
      </p:sp>
      <p:sp>
        <p:nvSpPr>
          <p:cNvPr id="10" name="Eyebrow WOCHEN BIS ZUM PROTOTYP"/>
          <p:cNvSpPr txBox="1"/>
          <p:nvPr/>
        </p:nvSpPr>
        <p:spPr>
          <a:xfrm>
            <a:off x="4262018" y="40690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WOCHEN BIS ZUM PROTOTYP</a:t>
            </a:r>
            <a:endParaRPr lang="en-US" sz="1000" dirty="0"/>
          </a:p>
        </p:txBody>
      </p:sp>
      <p:sp>
        <p:nvSpPr>
          <p:cNvPr id="11" name="Kennzahl Text 2"/>
          <p:cNvSpPr txBox="1"/>
          <p:nvPr/>
        </p:nvSpPr>
        <p:spPr>
          <a:xfrm>
            <a:off x="4262018" y="4389120"/>
            <a:ext cx="3301898" cy="548640"/>
          </a:xfrm>
          <a:prstGeom prst="rect">
            <a:avLst/>
          </a:prstGeom>
          <a:noFill/>
          <a:ln/>
        </p:spPr>
        <p:txBody>
          <a:bodyPr wrap="square" lIns="0" tIns="0" rIns="0" bIns="0" rtlCol="0" anchor="t"/>
          <a:lstStyle/>
          <a:p>
            <a:pPr indent="0" marL="0">
              <a:lnSpc>
                <a:spcPct val="120000"/>
              </a:lnSpc>
              <a:buNone/>
            </a:pPr>
            <a:r>
              <a:rPr lang="en-US" sz="1200" dirty="0">
                <a:solidFill>
                  <a:srgbClr val="707981"/>
                </a:solidFill>
              </a:rPr>
              <a:t>Vom Kickoff bis zum ersten Funktionsmuster.</a:t>
            </a:r>
            <a:endParaRPr lang="en-US" sz="1200" dirty="0"/>
          </a:p>
        </p:txBody>
      </p:sp>
      <p:sp>
        <p:nvSpPr>
          <p:cNvPr id="12" name="Kennzahl 3"/>
          <p:cNvSpPr txBox="1"/>
          <p:nvPr/>
        </p:nvSpPr>
        <p:spPr>
          <a:xfrm>
            <a:off x="7975397" y="2971800"/>
            <a:ext cx="3301898" cy="1005840"/>
          </a:xfrm>
          <a:prstGeom prst="rect">
            <a:avLst/>
          </a:prstGeom>
          <a:noFill/>
          <a:ln/>
        </p:spPr>
        <p:txBody>
          <a:bodyPr wrap="square" lIns="0" tIns="0" rIns="0" bIns="0" rtlCol="0" anchor="ctr"/>
          <a:lstStyle/>
          <a:p>
            <a:pPr indent="0" marL="0">
              <a:buNone/>
            </a:pPr>
            <a:r>
              <a:rPr lang="en-US" sz="6000" spc="-150" kern="0" dirty="0">
                <a:solidFill>
                  <a:srgbClr val="111418"/>
                </a:solidFill>
              </a:rPr>
              <a:t>100 %</a:t>
            </a:r>
            <a:endParaRPr lang="en-US" sz="6000" dirty="0"/>
          </a:p>
        </p:txBody>
      </p:sp>
      <p:sp>
        <p:nvSpPr>
          <p:cNvPr id="13" name="Eyebrow IM EIGENEN HAUS"/>
          <p:cNvSpPr txBox="1"/>
          <p:nvPr/>
        </p:nvSpPr>
        <p:spPr>
          <a:xfrm>
            <a:off x="7975397" y="406908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IM EIGENEN HAUS</a:t>
            </a:r>
            <a:endParaRPr lang="en-US" sz="1000" dirty="0"/>
          </a:p>
        </p:txBody>
      </p:sp>
      <p:sp>
        <p:nvSpPr>
          <p:cNvPr id="14" name="Kennzahl Text 3"/>
          <p:cNvSpPr txBox="1"/>
          <p:nvPr/>
        </p:nvSpPr>
        <p:spPr>
          <a:xfrm>
            <a:off x="7975397" y="4389120"/>
            <a:ext cx="3301898" cy="548640"/>
          </a:xfrm>
          <a:prstGeom prst="rect">
            <a:avLst/>
          </a:prstGeom>
          <a:noFill/>
          <a:ln/>
        </p:spPr>
        <p:txBody>
          <a:bodyPr wrap="square" lIns="0" tIns="0" rIns="0" bIns="0" rtlCol="0" anchor="t"/>
          <a:lstStyle/>
          <a:p>
            <a:pPr indent="0" marL="0">
              <a:lnSpc>
                <a:spcPct val="120000"/>
              </a:lnSpc>
              <a:buNone/>
            </a:pPr>
            <a:r>
              <a:rPr lang="en-US" sz="1200" dirty="0">
                <a:solidFill>
                  <a:srgbClr val="707981"/>
                </a:solidFill>
              </a:rPr>
              <a:t>Konstruktion, Simulation und Prototyp.</a:t>
            </a:r>
            <a:endParaRPr lang="en-US" sz="1200" dirty="0"/>
          </a:p>
        </p:txBody>
      </p:sp>
      <p:sp>
        <p:nvSpPr>
          <p:cNvPr id="15" name="Linie Kennzahlen unten"/>
          <p:cNvSpPr/>
          <p:nvPr/>
        </p:nvSpPr>
        <p:spPr>
          <a:xfrm>
            <a:off x="548640" y="5120640"/>
            <a:ext cx="10728655" cy="0"/>
          </a:xfrm>
          <a:prstGeom prst="line">
            <a:avLst/>
          </a:prstGeom>
          <a:noFill/>
          <a:ln w="6350">
            <a:solidFill>
              <a:srgbClr val="91A19B"/>
            </a:solidFill>
            <a:prstDash val="solid"/>
          </a:ln>
        </p:spPr>
      </p:sp>
      <p:sp>
        <p:nvSpPr>
          <p:cNvPr id="1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11</a:t>
            </a:fld>
            <a:endParaRPr lang="en-US"/>
          </a:p>
        </p:txBody>
      </p:sp>
      <p:sp>
        <p:nvSpPr>
          <p:cNvPr id="1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AGENDA  ·  KUNDENPRÄSENTATION  ·  PROJEKTNUMMER</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Worum es heute geht</a:t>
            </a:r>
            <a:endParaRPr lang="en-US" sz="3400" dirty="0"/>
          </a:p>
        </p:txBody>
      </p:sp>
      <p:sp>
        <p:nvSpPr>
          <p:cNvPr id="5" name="Agenda Nummer 1"/>
          <p:cNvSpPr txBox="1"/>
          <p:nvPr/>
        </p:nvSpPr>
        <p:spPr>
          <a:xfrm>
            <a:off x="548640" y="2660904"/>
            <a:ext cx="548640" cy="274320"/>
          </a:xfrm>
          <a:prstGeom prst="rect">
            <a:avLst/>
          </a:prstGeom>
          <a:noFill/>
          <a:ln/>
        </p:spPr>
        <p:txBody>
          <a:bodyPr wrap="square" lIns="0" tIns="0" rIns="0" bIns="0" rtlCol="0" anchor="ctr"/>
          <a:lstStyle/>
          <a:p>
            <a:pPr indent="0" marL="0">
              <a:buNone/>
            </a:pPr>
            <a:r>
              <a:rPr lang="en-US" sz="1000" spc="-30" kern="0" dirty="0">
                <a:solidFill>
                  <a:srgbClr val="25C77A"/>
                </a:solidFill>
              </a:rPr>
              <a:t>01</a:t>
            </a:r>
            <a:endParaRPr lang="en-US" sz="1000" dirty="0"/>
          </a:p>
        </p:txBody>
      </p:sp>
      <p:sp>
        <p:nvSpPr>
          <p:cNvPr id="6" name="Agenda Punkt 1"/>
          <p:cNvSpPr txBox="1"/>
          <p:nvPr/>
        </p:nvSpPr>
        <p:spPr>
          <a:xfrm>
            <a:off x="1188720" y="2606040"/>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Ausgangslage und Ziel</a:t>
            </a:r>
            <a:endParaRPr lang="en-US" sz="2000" dirty="0"/>
          </a:p>
        </p:txBody>
      </p:sp>
      <p:sp>
        <p:nvSpPr>
          <p:cNvPr id="7" name="Linie Agenda 1"/>
          <p:cNvSpPr/>
          <p:nvPr/>
        </p:nvSpPr>
        <p:spPr>
          <a:xfrm>
            <a:off x="548640" y="3099816"/>
            <a:ext cx="5852160" cy="0"/>
          </a:xfrm>
          <a:prstGeom prst="line">
            <a:avLst/>
          </a:prstGeom>
          <a:noFill/>
          <a:ln w="6350">
            <a:solidFill>
              <a:srgbClr val="91A19B"/>
            </a:solidFill>
            <a:prstDash val="solid"/>
          </a:ln>
        </p:spPr>
      </p:sp>
      <p:sp>
        <p:nvSpPr>
          <p:cNvPr id="8" name="Agenda Nummer 2"/>
          <p:cNvSpPr txBox="1"/>
          <p:nvPr/>
        </p:nvSpPr>
        <p:spPr>
          <a:xfrm>
            <a:off x="548640" y="3227832"/>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02</a:t>
            </a:r>
            <a:endParaRPr lang="en-US" sz="1000" dirty="0"/>
          </a:p>
        </p:txBody>
      </p:sp>
      <p:sp>
        <p:nvSpPr>
          <p:cNvPr id="9" name="Agenda Punkt 2"/>
          <p:cNvSpPr txBox="1"/>
          <p:nvPr/>
        </p:nvSpPr>
        <p:spPr>
          <a:xfrm>
            <a:off x="1188720" y="3172968"/>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Konzeptvarianten</a:t>
            </a:r>
            <a:endParaRPr lang="en-US" sz="2000" dirty="0"/>
          </a:p>
        </p:txBody>
      </p:sp>
      <p:sp>
        <p:nvSpPr>
          <p:cNvPr id="10" name="Linie Agenda 2"/>
          <p:cNvSpPr/>
          <p:nvPr/>
        </p:nvSpPr>
        <p:spPr>
          <a:xfrm>
            <a:off x="548640" y="3666744"/>
            <a:ext cx="5852160" cy="0"/>
          </a:xfrm>
          <a:prstGeom prst="line">
            <a:avLst/>
          </a:prstGeom>
          <a:noFill/>
          <a:ln w="6350">
            <a:solidFill>
              <a:srgbClr val="91A19B"/>
            </a:solidFill>
            <a:prstDash val="solid"/>
          </a:ln>
        </p:spPr>
      </p:sp>
      <p:sp>
        <p:nvSpPr>
          <p:cNvPr id="11" name="Agenda Nummer 3"/>
          <p:cNvSpPr txBox="1"/>
          <p:nvPr/>
        </p:nvSpPr>
        <p:spPr>
          <a:xfrm>
            <a:off x="548640" y="3794760"/>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03</a:t>
            </a:r>
            <a:endParaRPr lang="en-US" sz="1000" dirty="0"/>
          </a:p>
        </p:txBody>
      </p:sp>
      <p:sp>
        <p:nvSpPr>
          <p:cNvPr id="12" name="Agenda Punkt 3"/>
          <p:cNvSpPr txBox="1"/>
          <p:nvPr/>
        </p:nvSpPr>
        <p:spPr>
          <a:xfrm>
            <a:off x="1188720" y="3739896"/>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Simulation und Ergebnisse</a:t>
            </a:r>
            <a:endParaRPr lang="en-US" sz="2000" dirty="0"/>
          </a:p>
        </p:txBody>
      </p:sp>
      <p:sp>
        <p:nvSpPr>
          <p:cNvPr id="13" name="Linie Agenda 3"/>
          <p:cNvSpPr/>
          <p:nvPr/>
        </p:nvSpPr>
        <p:spPr>
          <a:xfrm>
            <a:off x="548640" y="4233672"/>
            <a:ext cx="5852160" cy="0"/>
          </a:xfrm>
          <a:prstGeom prst="line">
            <a:avLst/>
          </a:prstGeom>
          <a:noFill/>
          <a:ln w="6350">
            <a:solidFill>
              <a:srgbClr val="91A19B"/>
            </a:solidFill>
            <a:prstDash val="solid"/>
          </a:ln>
        </p:spPr>
      </p:sp>
      <p:sp>
        <p:nvSpPr>
          <p:cNvPr id="14" name="Agenda Nummer 4"/>
          <p:cNvSpPr txBox="1"/>
          <p:nvPr/>
        </p:nvSpPr>
        <p:spPr>
          <a:xfrm>
            <a:off x="548640" y="4361688"/>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04</a:t>
            </a:r>
            <a:endParaRPr lang="en-US" sz="1000" dirty="0"/>
          </a:p>
        </p:txBody>
      </p:sp>
      <p:sp>
        <p:nvSpPr>
          <p:cNvPr id="15" name="Agenda Punkt 4"/>
          <p:cNvSpPr txBox="1"/>
          <p:nvPr/>
        </p:nvSpPr>
        <p:spPr>
          <a:xfrm>
            <a:off x="1188720" y="4306824"/>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Prototyp und Tests</a:t>
            </a:r>
            <a:endParaRPr lang="en-US" sz="2000" dirty="0"/>
          </a:p>
        </p:txBody>
      </p:sp>
      <p:sp>
        <p:nvSpPr>
          <p:cNvPr id="16" name="Linie Agenda 4"/>
          <p:cNvSpPr/>
          <p:nvPr/>
        </p:nvSpPr>
        <p:spPr>
          <a:xfrm>
            <a:off x="548640" y="4800600"/>
            <a:ext cx="5852160" cy="0"/>
          </a:xfrm>
          <a:prstGeom prst="line">
            <a:avLst/>
          </a:prstGeom>
          <a:noFill/>
          <a:ln w="6350">
            <a:solidFill>
              <a:srgbClr val="91A19B"/>
            </a:solidFill>
            <a:prstDash val="solid"/>
          </a:ln>
        </p:spPr>
      </p:sp>
      <p:sp>
        <p:nvSpPr>
          <p:cNvPr id="17" name="Agenda Nummer 5"/>
          <p:cNvSpPr txBox="1"/>
          <p:nvPr/>
        </p:nvSpPr>
        <p:spPr>
          <a:xfrm>
            <a:off x="548640" y="4928616"/>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05</a:t>
            </a:r>
            <a:endParaRPr lang="en-US" sz="1000" dirty="0"/>
          </a:p>
        </p:txBody>
      </p:sp>
      <p:sp>
        <p:nvSpPr>
          <p:cNvPr id="18" name="Agenda Punkt 5"/>
          <p:cNvSpPr txBox="1"/>
          <p:nvPr/>
        </p:nvSpPr>
        <p:spPr>
          <a:xfrm>
            <a:off x="1188720" y="4873752"/>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Terminplan und Kosten</a:t>
            </a:r>
            <a:endParaRPr lang="en-US" sz="2000" dirty="0"/>
          </a:p>
        </p:txBody>
      </p:sp>
      <p:sp>
        <p:nvSpPr>
          <p:cNvPr id="19" name="Linie Agenda 5"/>
          <p:cNvSpPr/>
          <p:nvPr/>
        </p:nvSpPr>
        <p:spPr>
          <a:xfrm>
            <a:off x="548640" y="5367528"/>
            <a:ext cx="5852160" cy="0"/>
          </a:xfrm>
          <a:prstGeom prst="line">
            <a:avLst/>
          </a:prstGeom>
          <a:noFill/>
          <a:ln w="6350">
            <a:solidFill>
              <a:srgbClr val="91A19B"/>
            </a:solidFill>
            <a:prstDash val="solid"/>
          </a:ln>
        </p:spPr>
      </p:sp>
      <p:sp>
        <p:nvSpPr>
          <p:cNvPr id="20" name="Agenda Nummer 6"/>
          <p:cNvSpPr txBox="1"/>
          <p:nvPr/>
        </p:nvSpPr>
        <p:spPr>
          <a:xfrm>
            <a:off x="548640" y="5495544"/>
            <a:ext cx="548640" cy="274320"/>
          </a:xfrm>
          <a:prstGeom prst="rect">
            <a:avLst/>
          </a:prstGeom>
          <a:noFill/>
          <a:ln/>
        </p:spPr>
        <p:txBody>
          <a:bodyPr wrap="square" lIns="0" tIns="0" rIns="0" bIns="0" rtlCol="0" anchor="ctr"/>
          <a:lstStyle/>
          <a:p>
            <a:pPr indent="0" marL="0">
              <a:buNone/>
            </a:pPr>
            <a:r>
              <a:rPr lang="en-US" sz="1000" spc="-30" kern="0" dirty="0">
                <a:solidFill>
                  <a:srgbClr val="707981"/>
                </a:solidFill>
              </a:rPr>
              <a:t>06</a:t>
            </a:r>
            <a:endParaRPr lang="en-US" sz="1000" dirty="0"/>
          </a:p>
        </p:txBody>
      </p:sp>
      <p:sp>
        <p:nvSpPr>
          <p:cNvPr id="21" name="Agenda Punkt 6"/>
          <p:cNvSpPr txBox="1"/>
          <p:nvPr/>
        </p:nvSpPr>
        <p:spPr>
          <a:xfrm>
            <a:off x="1188720" y="5440680"/>
            <a:ext cx="5120640" cy="384048"/>
          </a:xfrm>
          <a:prstGeom prst="rect">
            <a:avLst/>
          </a:prstGeom>
          <a:noFill/>
          <a:ln/>
        </p:spPr>
        <p:txBody>
          <a:bodyPr wrap="square" lIns="0" tIns="0" rIns="0" bIns="0" rtlCol="0" anchor="ctr"/>
          <a:lstStyle/>
          <a:p>
            <a:pPr indent="0" marL="0">
              <a:buNone/>
            </a:pPr>
            <a:r>
              <a:rPr lang="en-US" sz="2000" spc="-40" kern="0" dirty="0">
                <a:solidFill>
                  <a:srgbClr val="111418"/>
                </a:solidFill>
              </a:rPr>
              <a:t>Nächste Schritte</a:t>
            </a:r>
            <a:endParaRPr lang="en-US" sz="2000" dirty="0"/>
          </a:p>
        </p:txBody>
      </p:sp>
      <p:sp>
        <p:nvSpPr>
          <p:cNvPr id="22" name="Linie Agenda 6"/>
          <p:cNvSpPr/>
          <p:nvPr/>
        </p:nvSpPr>
        <p:spPr>
          <a:xfrm>
            <a:off x="548640" y="5934456"/>
            <a:ext cx="5852160" cy="0"/>
          </a:xfrm>
          <a:prstGeom prst="line">
            <a:avLst/>
          </a:prstGeom>
          <a:noFill/>
          <a:ln w="6350">
            <a:solidFill>
              <a:srgbClr val="91A19B"/>
            </a:solidFill>
            <a:prstDash val="solid"/>
          </a:ln>
        </p:spPr>
      </p:sp>
      <p:pic>
        <p:nvPicPr>
          <p:cNvPr id="23" name="Agendafoto" descr="p23">    </p:cNvPr>
          <p:cNvPicPr>
            <a:picLocks noChangeAspect="1"/>
          </p:cNvPicPr>
          <p:nvPr/>
        </p:nvPicPr>
        <p:blipFill>
          <a:blip r:embed="rId1"/>
          <a:srcRect l="0" r="0" t="0" b="0"/>
          <a:stretch/>
        </p:blipFill>
        <p:spPr>
          <a:xfrm>
            <a:off x="7315200" y="2606040"/>
            <a:ext cx="3962095" cy="3108960"/>
          </a:xfrm>
          <a:prstGeom prst="rect">
            <a:avLst/>
          </a:prstGeom>
        </p:spPr>
      </p:pic>
      <p:sp>
        <p:nvSpPr>
          <p:cNvPr id="24" name="Eckmarker 1"/>
          <p:cNvSpPr/>
          <p:nvPr/>
        </p:nvSpPr>
        <p:spPr>
          <a:xfrm>
            <a:off x="7223760" y="2514600"/>
            <a:ext cx="73152" cy="73152"/>
          </a:xfrm>
          <a:prstGeom prst="ellipse">
            <a:avLst/>
          </a:prstGeom>
          <a:solidFill>
            <a:srgbClr val="111418"/>
          </a:solidFill>
          <a:ln w="12700">
            <a:solidFill>
              <a:srgbClr val="111418"/>
            </a:solidFill>
            <a:prstDash val="solid"/>
          </a:ln>
        </p:spPr>
      </p:sp>
      <p:sp>
        <p:nvSpPr>
          <p:cNvPr id="25"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26" name="Eckmarker 3"/>
          <p:cNvSpPr/>
          <p:nvPr/>
        </p:nvSpPr>
        <p:spPr>
          <a:xfrm>
            <a:off x="7223760" y="5733288"/>
            <a:ext cx="73152" cy="73152"/>
          </a:xfrm>
          <a:prstGeom prst="ellipse">
            <a:avLst/>
          </a:prstGeom>
          <a:solidFill>
            <a:srgbClr val="111418"/>
          </a:solidFill>
          <a:ln w="12700">
            <a:solidFill>
              <a:srgbClr val="111418"/>
            </a:solidFill>
            <a:prstDash val="solid"/>
          </a:ln>
        </p:spPr>
      </p:sp>
      <p:sp>
        <p:nvSpPr>
          <p:cNvPr id="27" name="Eckmarker 4"/>
          <p:cNvSpPr/>
          <p:nvPr/>
        </p:nvSpPr>
        <p:spPr>
          <a:xfrm>
            <a:off x="11295583" y="5733288"/>
            <a:ext cx="73152" cy="73152"/>
          </a:xfrm>
          <a:prstGeom prst="ellipse">
            <a:avLst/>
          </a:prstGeom>
          <a:solidFill>
            <a:srgbClr val="111418"/>
          </a:solidFill>
          <a:ln w="12700">
            <a:solidFill>
              <a:srgbClr val="111418"/>
            </a:solidFill>
            <a:prstDash val="solid"/>
          </a:ln>
        </p:spPr>
      </p:sp>
      <p:sp>
        <p:nvSpPr>
          <p:cNvPr id="28" name="Eyebrow 15. OKTOBER 2026  ·  ROMANSHORN  ·  60 MINUTEN"/>
          <p:cNvSpPr txBox="1"/>
          <p:nvPr/>
        </p:nvSpPr>
        <p:spPr>
          <a:xfrm>
            <a:off x="7315200" y="6035040"/>
            <a:ext cx="3962095" cy="256032"/>
          </a:xfrm>
          <a:prstGeom prst="rect">
            <a:avLst/>
          </a:prstGeom>
          <a:noFill/>
          <a:ln/>
        </p:spPr>
        <p:txBody>
          <a:bodyPr wrap="square" lIns="0" tIns="0" rIns="0" bIns="0" rtlCol="0" anchor="ctr"/>
          <a:lstStyle/>
          <a:p>
            <a:pPr indent="0" marL="0">
              <a:buNone/>
            </a:pPr>
            <a:r>
              <a:rPr lang="en-US" sz="1000" spc="-30" kern="0" dirty="0">
                <a:solidFill>
                  <a:srgbClr val="707981"/>
                </a:solidFill>
              </a:rPr>
              <a:t>15. OKTOBER 2026  ·  ROMANSHORN  ·  60 MINUTEN</a:t>
            </a:r>
            <a:endParaRPr lang="en-US" sz="1000" dirty="0"/>
          </a:p>
        </p:txBody>
      </p:sp>
      <p:sp>
        <p:nvSpPr>
          <p:cNvPr id="2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12</a:t>
            </a:fld>
            <a:endParaRPr lang="en-US"/>
          </a:p>
        </p:txBody>
      </p:sp>
      <p:sp>
        <p:nvSpPr>
          <p:cNvPr id="30"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05 //  TERMINPLAN UND KOSTEN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Arbeitspakete und Stand</a:t>
            </a:r>
            <a:endParaRPr lang="en-US" sz="3400" dirty="0"/>
          </a:p>
        </p:txBody>
      </p:sp>
      <p:graphicFrame>
        <p:nvGraphicFramePr>
          <p:cNvPr id="5" name="Tabelle Arbeitspakete"/>
          <p:cNvGraphicFramePr>
            <a:graphicFrameLocks noGrp="1"/>
          </p:cNvGraphicFramePr>
          <p:nvPr>
            <p:extLst>
              <p:ext uri="{D42A27DB-BD31-4B8C-83A1-F6EECF244321}">
                <p14:modId xmlns:p14="http://schemas.microsoft.com/office/powerpoint/2010/main" val="1579011935"/>
              </p:ext>
            </p:extLst>
          </p:nvPr>
        </p:nvGraphicFramePr>
        <p:xfrm>
          <a:off x="548640" y="2606040"/>
          <a:ext cx="10728655" cy="914400"/>
        </p:xfrm>
        <a:graphic>
          <a:graphicData uri="http://schemas.openxmlformats.org/drawingml/2006/table">
            <a:tbl>
              <a:tblPr/>
              <a:tblGrid>
                <a:gridCol w="640080"/>
                <a:gridCol w="3474720"/>
                <a:gridCol w="2194560"/>
                <a:gridCol w="1325880"/>
                <a:gridCol w="1234440"/>
                <a:gridCol w="1856232"/>
              </a:tblGrid>
              <a:tr h="438912">
                <a:tc>
                  <a:txBody>
                    <a:bodyPr/>
                    <a:lstStyle/>
                    <a:p>
                      <a:pPr algn="l" indent="0" marL="0">
                        <a:buNone/>
                      </a:pPr>
                      <a:r>
                        <a:rPr lang="en-US" sz="900" spc="-20" kern="0" dirty="0">
                          <a:solidFill>
                            <a:srgbClr val="707981"/>
                          </a:solidFill>
                          <a:latin typeface="Inter" pitchFamily="34" charset="0"/>
                          <a:ea typeface="Inter" pitchFamily="34" charset="-122"/>
                          <a:cs typeface="Inter" pitchFamily="34" charset="-120"/>
                        </a:rPr>
                        <a:t>NR</a:t>
                      </a:r>
                      <a:endParaRPr lang="en-US" sz="900" dirty="0">
                        <a:latin typeface="Inter" charset="0"/>
                        <a:ea typeface="Inter" charset="0"/>
                        <a:cs typeface="Inter" charset="0"/>
                      </a:endParaRPr>
                    </a:p>
                  </a:txBody>
                  <a:tcPr marL="0"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l" indent="0" marL="0">
                        <a:buNone/>
                      </a:pPr>
                      <a:r>
                        <a:rPr lang="en-US" sz="900" spc="-20" kern="0" dirty="0">
                          <a:solidFill>
                            <a:srgbClr val="707981"/>
                          </a:solidFill>
                          <a:latin typeface="Inter" pitchFamily="34" charset="0"/>
                          <a:ea typeface="Inter" pitchFamily="34" charset="-122"/>
                          <a:cs typeface="Inter" pitchFamily="34" charset="-120"/>
                        </a:rPr>
                        <a:t>ARBEITSPAKET</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l" indent="0" marL="0">
                        <a:buNone/>
                      </a:pPr>
                      <a:r>
                        <a:rPr lang="en-US" sz="900" spc="-20" kern="0" dirty="0">
                          <a:solidFill>
                            <a:srgbClr val="707981"/>
                          </a:solidFill>
                          <a:latin typeface="Inter" pitchFamily="34" charset="0"/>
                          <a:ea typeface="Inter" pitchFamily="34" charset="-122"/>
                          <a:cs typeface="Inter" pitchFamily="34" charset="-120"/>
                        </a:rPr>
                        <a:t>VERANTWORTLICH</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900" spc="-20" kern="0" dirty="0">
                          <a:solidFill>
                            <a:srgbClr val="707981"/>
                          </a:solidFill>
                          <a:latin typeface="Inter" pitchFamily="34" charset="0"/>
                          <a:ea typeface="Inter" pitchFamily="34" charset="-122"/>
                          <a:cs typeface="Inter" pitchFamily="34" charset="-120"/>
                        </a:rPr>
                        <a:t>TERMIN</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900" spc="-20" kern="0" dirty="0">
                          <a:solidFill>
                            <a:srgbClr val="707981"/>
                          </a:solidFill>
                          <a:latin typeface="Inter" pitchFamily="34" charset="0"/>
                          <a:ea typeface="Inter" pitchFamily="34" charset="-122"/>
                          <a:cs typeface="Inter" pitchFamily="34" charset="-120"/>
                        </a:rPr>
                        <a:t>AUFWAND</a:t>
                      </a:r>
                      <a:endParaRPr lang="en-US" sz="900" dirty="0">
                        <a:latin typeface="Inter" charset="0"/>
                        <a:ea typeface="Inter" charset="0"/>
                        <a:cs typeface="Inter" charset="0"/>
                      </a:endParaRPr>
                    </a:p>
                  </a:txBody>
                  <a:tcPr marL="73152"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707981"/>
                          </a:solidFill>
                          <a:latin typeface="Inter" pitchFamily="34" charset="0"/>
                          <a:ea typeface="Inter" pitchFamily="34" charset="-122"/>
                          <a:cs typeface="Inter" pitchFamily="34" charset="-120"/>
                        </a:rPr>
                        <a:t>STATUS</a:t>
                      </a:r>
                      <a:endParaRPr lang="en-US" sz="900" dirty="0">
                        <a:latin typeface="Inter" charset="0"/>
                        <a:ea typeface="Inter" charset="0"/>
                        <a:cs typeface="Inter" charset="0"/>
                      </a:endParaRPr>
                    </a:p>
                  </a:txBody>
                  <a:tcPr marL="320040" marR="73152" marT="0" marB="73152" anchor="b">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01</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Anforderungen und Lastenheft</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A. Roth</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31.03.2026</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8 Tage</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111418"/>
                          </a:solidFill>
                          <a:latin typeface="Inter" pitchFamily="34" charset="0"/>
                          <a:ea typeface="Inter" pitchFamily="34" charset="-122"/>
                          <a:cs typeface="Inter" pitchFamily="34" charset="-120"/>
                        </a:rPr>
                        <a:t>ERLEDIGT</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02</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Konzeptvarianten A und B</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Team Konstruktion</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30.06.2026</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22 Tage</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111418"/>
                          </a:solidFill>
                          <a:latin typeface="Inter" pitchFamily="34" charset="0"/>
                          <a:ea typeface="Inter" pitchFamily="34" charset="-122"/>
                          <a:cs typeface="Inter" pitchFamily="34" charset="-120"/>
                        </a:rPr>
                        <a:t>ERLEDIGT</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25C77A"/>
                          </a:solidFill>
                          <a:latin typeface="Inter" pitchFamily="34" charset="0"/>
                          <a:ea typeface="Inter" pitchFamily="34" charset="-122"/>
                          <a:cs typeface="Inter" pitchFamily="34" charset="-120"/>
                        </a:rPr>
                        <a:t>03</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Simulation Festigkeit und Strömung</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Team Simulation</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30.11.2026</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12 Tage</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25C77A"/>
                          </a:solidFill>
                          <a:latin typeface="Inter" pitchFamily="34" charset="0"/>
                          <a:ea typeface="Inter" pitchFamily="34" charset="-122"/>
                          <a:cs typeface="Inter" pitchFamily="34" charset="-120"/>
                        </a:rPr>
                        <a:t>AKTIV</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04</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Prototyp und Funktionstest</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Werkstatt</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28.02.2027</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18 Tage</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707981"/>
                          </a:solidFill>
                          <a:latin typeface="Inter" pitchFamily="34" charset="0"/>
                          <a:ea typeface="Inter" pitchFamily="34" charset="-122"/>
                          <a:cs typeface="Inter" pitchFamily="34" charset="-120"/>
                        </a:rPr>
                        <a:t>OFFEN</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707981"/>
                          </a:solidFill>
                          <a:latin typeface="Inter" pitchFamily="34" charset="0"/>
                          <a:ea typeface="Inter" pitchFamily="34" charset="-122"/>
                          <a:cs typeface="Inter" pitchFamily="34" charset="-120"/>
                        </a:rPr>
                        <a:t>05</a:t>
                      </a: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Serienvorbereitung und Dokumentation</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A. Roth</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30.04.2027</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10 Tage</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900" spc="-20" kern="0" dirty="0">
                          <a:solidFill>
                            <a:srgbClr val="707981"/>
                          </a:solidFill>
                          <a:latin typeface="Inter" pitchFamily="34" charset="0"/>
                          <a:ea typeface="Inter" pitchFamily="34" charset="-122"/>
                          <a:cs typeface="Inter" pitchFamily="34" charset="-120"/>
                        </a:rPr>
                        <a:t>OFFEN</a:t>
                      </a:r>
                      <a:endParaRPr lang="en-US" sz="900" dirty="0">
                        <a:latin typeface="Inter" charset="0"/>
                        <a:ea typeface="Inter" charset="0"/>
                        <a:cs typeface="Inter" charset="0"/>
                      </a:endParaRPr>
                    </a:p>
                  </a:txBody>
                  <a:tcPr marL="32004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r h="438912">
                <a:tc>
                  <a:txBody>
                    <a:bodyPr/>
                    <a:lstStyle/>
                    <a:p>
                      <a:pPr indent="0" marL="0">
                        <a:buNone/>
                      </a:pPr>
                      <a:endParaRPr lang="en-US" sz="1200" dirty="0">
                        <a:latin typeface="Inter" charset="0"/>
                        <a:ea typeface="Inter" charset="0"/>
                        <a:cs typeface="Inter" charset="0"/>
                      </a:endParaRPr>
                    </a:p>
                  </a:txBody>
                  <a:tcPr marL="0"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r>
                        <a:rPr lang="en-US" sz="1200" dirty="0">
                          <a:solidFill>
                            <a:srgbClr val="111418"/>
                          </a:solidFill>
                          <a:latin typeface="Inter" pitchFamily="34" charset="0"/>
                          <a:ea typeface="Inter" pitchFamily="34" charset="-122"/>
                          <a:cs typeface="Inter" pitchFamily="34" charset="-120"/>
                        </a:rPr>
                        <a:t>Total</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11418"/>
                          </a:solidFill>
                          <a:latin typeface="Inter" pitchFamily="34" charset="0"/>
                          <a:ea typeface="Inter" pitchFamily="34" charset="-122"/>
                          <a:cs typeface="Inter" pitchFamily="34" charset="-120"/>
                        </a:rPr>
                        <a:t>70 Tage</a:t>
                      </a: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c>
                  <a:txBody>
                    <a:bodyPr/>
                    <a:lstStyle/>
                    <a:p>
                      <a:pPr indent="0" marL="0">
                        <a:buNone/>
                      </a:pPr>
                      <a:endParaRPr lang="en-US" sz="1200" dirty="0">
                        <a:latin typeface="Inter" charset="0"/>
                        <a:ea typeface="Inter" charset="0"/>
                        <a:cs typeface="Inter" charset="0"/>
                      </a:endParaRPr>
                    </a:p>
                  </a:txBody>
                  <a:tcPr marL="73152" marR="73152" marT="54864" marB="54864" anchor="ctr">
                    <a:lnL w="0" cap="flat" cmpd="sng" algn="ctr">
                      <a:noFill/>
                    </a:lnL>
                    <a:lnR w="0" cap="flat" cmpd="sng" algn="ctr">
                      <a:noFill/>
                    </a:lnR>
                    <a:lnT w="0" cap="flat" cmpd="sng" algn="ctr">
                      <a:noFill/>
                    </a:lnT>
                    <a:lnB w="6350" cap="flat" cmpd="sng" algn="ctr">
                      <a:solidFill>
                        <a:srgbClr val="A0A1A3"/>
                      </a:solidFill>
                      <a:prstDash val="solid"/>
                      <a:round/>
                      <a:headEnd type="none" w="med" len="med"/>
                      <a:tailEnd type="none" w="med" len="med"/>
                    </a:lnB>
                    <a:solidFill>
                      <a:srgbClr val="FFFFFF"/>
                    </a:solidFill>
                  </a:tcPr>
                </a:tc>
              </a:tr>
            </a:tbl>
          </a:graphicData>
        </a:graphic>
      </p:graphicFrame>
      <p:sp>
        <p:nvSpPr>
          <p:cNvPr id="6"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13</a:t>
            </a:fld>
            <a:endParaRPr lang="en-US"/>
          </a:p>
        </p:txBody>
      </p:sp>
      <p:sp>
        <p:nvSpPr>
          <p:cNvPr id="7"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03 //  SIMULATION UND ERGEBNISSE</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Weniger Teile, weniger Risiko</a:t>
            </a:r>
            <a:endParaRPr lang="en-US" sz="3400" dirty="0"/>
          </a:p>
        </p:txBody>
      </p:sp>
      <p:graphicFrame>
        <p:nvGraphicFramePr>
          <p:cNvPr id="5" name="Diagramm Teile" descr=""/>
          <p:cNvGraphicFramePr/>
          <p:nvPr/>
        </p:nvGraphicFramePr>
        <p:xfrm>
          <a:off x="548640" y="2560320"/>
          <a:ext cx="6675120" cy="3291840"/>
        </p:xfrm>
        <a:graphic xmlns:a="http://schemas.openxmlformats.org/drawingml/2006/main">
          <a:graphicData uri="http://schemas.openxmlformats.org/drawingml/2006/chart">
            <c:chart xmlns:c="http://schemas.openxmlformats.org/drawingml/2006/chart" r:id="rId1"/>
          </a:graphicData>
        </a:graphic>
      </p:graphicFrame>
      <p:sp>
        <p:nvSpPr>
          <p:cNvPr id="6" name="Diagrammlegende"/>
          <p:cNvSpPr txBox="1"/>
          <p:nvPr/>
        </p:nvSpPr>
        <p:spPr>
          <a:xfrm>
            <a:off x="548640" y="5897880"/>
            <a:ext cx="6675120" cy="228600"/>
          </a:xfrm>
          <a:prstGeom prst="rect">
            <a:avLst/>
          </a:prstGeom>
          <a:noFill/>
          <a:ln/>
        </p:spPr>
        <p:txBody>
          <a:bodyPr wrap="square" lIns="0" tIns="0" rIns="0" bIns="0" rtlCol="0" anchor="ctr"/>
          <a:lstStyle/>
          <a:p>
            <a:pPr indent="0" marL="0">
              <a:buNone/>
            </a:pPr>
            <a:r>
              <a:rPr lang="en-US" sz="900" dirty="0">
                <a:solidFill>
                  <a:srgbClr val="707981"/>
                </a:solidFill>
              </a:rPr>
              <a:t>Anzahl je Baugruppe, Variante Ist gegenüber Variante Neu</a:t>
            </a:r>
            <a:endParaRPr lang="en-US" sz="900" dirty="0"/>
          </a:p>
        </p:txBody>
      </p:sp>
      <p:sp>
        <p:nvSpPr>
          <p:cNvPr id="7" name="Trennlinie Kommentar"/>
          <p:cNvSpPr/>
          <p:nvPr/>
        </p:nvSpPr>
        <p:spPr>
          <a:xfrm>
            <a:off x="7680960" y="2606040"/>
            <a:ext cx="0" cy="3520440"/>
          </a:xfrm>
          <a:prstGeom prst="line">
            <a:avLst/>
          </a:prstGeom>
          <a:noFill/>
          <a:ln w="6350">
            <a:solidFill>
              <a:srgbClr val="A0A1A3"/>
            </a:solidFill>
            <a:prstDash val="solid"/>
          </a:ln>
        </p:spPr>
      </p:sp>
      <p:sp>
        <p:nvSpPr>
          <p:cNvPr id="8" name="Kommentar"/>
          <p:cNvSpPr txBox="1"/>
          <p:nvPr/>
        </p:nvSpPr>
        <p:spPr>
          <a:xfrm>
            <a:off x="8001000" y="2606040"/>
            <a:ext cx="3276295" cy="3520440"/>
          </a:xfrm>
          <a:prstGeom prst="rect">
            <a:avLst/>
          </a:prstGeom>
          <a:noFill/>
          <a:ln/>
        </p:spPr>
        <p:txBody>
          <a:bodyPr wrap="square" lIns="0" tIns="0" rIns="0" bIns="0" rtlCol="0" anchor="t"/>
          <a:lstStyle/>
          <a:p>
            <a:pPr indent="0" marL="0">
              <a:spcAft>
                <a:spcPts val="1000"/>
              </a:spcAft>
              <a:buNone/>
            </a:pPr>
            <a:r>
              <a:rPr lang="en-US" sz="2000" spc="-40" kern="0" dirty="0">
                <a:solidFill>
                  <a:srgbClr val="111418"/>
                </a:solidFill>
              </a:rPr>
              <a:t>38 % weniger Teile</a:t>
            </a:r>
            <a:endParaRPr lang="en-US" sz="2000" dirty="0"/>
          </a:p>
          <a:p>
            <a:pPr indent="0" marL="0">
              <a:lnSpc>
                <a:spcPct val="120000"/>
              </a:lnSpc>
              <a:spcAft>
                <a:spcPts val="1000"/>
              </a:spcAft>
              <a:buNone/>
            </a:pPr>
            <a:r>
              <a:rPr lang="en-US" sz="1200" dirty="0">
                <a:solidFill>
                  <a:srgbClr val="111418"/>
                </a:solidFill>
              </a:rPr>
              <a:t>Die neue Baugruppe fasst mehrere Blechteile zu Spritzgussteilen zusammen. Das reduziert die Montageschritte um fast die Hälfte und die Lieferanten von neun auf fünf.</a:t>
            </a:r>
            <a:endParaRPr lang="en-US" sz="2000" dirty="0"/>
          </a:p>
          <a:p>
            <a:pPr indent="0" marL="0">
              <a:lnSpc>
                <a:spcPct val="120000"/>
              </a:lnSpc>
              <a:buNone/>
            </a:pPr>
            <a:r>
              <a:rPr lang="en-US" sz="1200" dirty="0">
                <a:solidFill>
                  <a:srgbClr val="707981"/>
                </a:solidFill>
              </a:rPr>
              <a:t>Nächster Schritt: Werkzeugkosten mit zwei Lieferanten verifizieren.</a:t>
            </a:r>
            <a:endParaRPr lang="en-US" sz="2000" dirty="0"/>
          </a:p>
        </p:txBody>
      </p:sp>
      <p:sp>
        <p:nvSpPr>
          <p:cNvPr id="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14</a:t>
            </a:fld>
            <a:endParaRPr lang="en-US"/>
          </a:p>
        </p:txBody>
      </p:sp>
      <p:sp>
        <p:nvSpPr>
          <p:cNvPr id="10"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05 //  TERMINPLAN UND KOSTEN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Produktentstehung 2026</a:t>
            </a:r>
            <a:endParaRPr lang="en-US" sz="3400" dirty="0"/>
          </a:p>
        </p:txBody>
      </p:sp>
      <p:sp>
        <p:nvSpPr>
          <p:cNvPr id="5" name="Monatslinie JAN"/>
          <p:cNvSpPr/>
          <p:nvPr/>
        </p:nvSpPr>
        <p:spPr>
          <a:xfrm>
            <a:off x="548640" y="2468880"/>
            <a:ext cx="0" cy="2816352"/>
          </a:xfrm>
          <a:prstGeom prst="line">
            <a:avLst/>
          </a:prstGeom>
          <a:noFill/>
          <a:ln w="6350">
            <a:solidFill>
              <a:srgbClr val="91A19B"/>
            </a:solidFill>
            <a:prstDash val="solid"/>
          </a:ln>
        </p:spPr>
      </p:sp>
      <p:sp>
        <p:nvSpPr>
          <p:cNvPr id="6" name="Monatslinie FEB"/>
          <p:cNvSpPr/>
          <p:nvPr/>
        </p:nvSpPr>
        <p:spPr>
          <a:xfrm>
            <a:off x="1366647" y="2468880"/>
            <a:ext cx="0" cy="2816352"/>
          </a:xfrm>
          <a:prstGeom prst="line">
            <a:avLst/>
          </a:prstGeom>
          <a:noFill/>
          <a:ln w="6350">
            <a:solidFill>
              <a:srgbClr val="91A19B"/>
            </a:solidFill>
            <a:prstDash val="solid"/>
          </a:ln>
        </p:spPr>
      </p:sp>
      <p:sp>
        <p:nvSpPr>
          <p:cNvPr id="7" name="Monatslinie MÄR"/>
          <p:cNvSpPr/>
          <p:nvPr/>
        </p:nvSpPr>
        <p:spPr>
          <a:xfrm>
            <a:off x="2105492" y="2468880"/>
            <a:ext cx="0" cy="2816352"/>
          </a:xfrm>
          <a:prstGeom prst="line">
            <a:avLst/>
          </a:prstGeom>
          <a:noFill/>
          <a:ln w="6350">
            <a:solidFill>
              <a:srgbClr val="91A19B"/>
            </a:solidFill>
            <a:prstDash val="solid"/>
          </a:ln>
        </p:spPr>
      </p:sp>
      <p:sp>
        <p:nvSpPr>
          <p:cNvPr id="8" name="Monatslinie APR"/>
          <p:cNvSpPr/>
          <p:nvPr/>
        </p:nvSpPr>
        <p:spPr>
          <a:xfrm>
            <a:off x="2923500" y="2468880"/>
            <a:ext cx="0" cy="2816352"/>
          </a:xfrm>
          <a:prstGeom prst="line">
            <a:avLst/>
          </a:prstGeom>
          <a:noFill/>
          <a:ln w="6350">
            <a:solidFill>
              <a:srgbClr val="91A19B"/>
            </a:solidFill>
            <a:prstDash val="solid"/>
          </a:ln>
        </p:spPr>
      </p:sp>
      <p:sp>
        <p:nvSpPr>
          <p:cNvPr id="9" name="Monatslinie MAI"/>
          <p:cNvSpPr/>
          <p:nvPr/>
        </p:nvSpPr>
        <p:spPr>
          <a:xfrm>
            <a:off x="3715120" y="2468880"/>
            <a:ext cx="0" cy="2816352"/>
          </a:xfrm>
          <a:prstGeom prst="line">
            <a:avLst/>
          </a:prstGeom>
          <a:noFill/>
          <a:ln w="6350">
            <a:solidFill>
              <a:srgbClr val="91A19B"/>
            </a:solidFill>
            <a:prstDash val="solid"/>
          </a:ln>
        </p:spPr>
      </p:sp>
      <p:sp>
        <p:nvSpPr>
          <p:cNvPr id="10" name="Monatslinie JUN"/>
          <p:cNvSpPr/>
          <p:nvPr/>
        </p:nvSpPr>
        <p:spPr>
          <a:xfrm>
            <a:off x="4533127" y="2468880"/>
            <a:ext cx="0" cy="2816352"/>
          </a:xfrm>
          <a:prstGeom prst="line">
            <a:avLst/>
          </a:prstGeom>
          <a:noFill/>
          <a:ln w="6350">
            <a:solidFill>
              <a:srgbClr val="91A19B"/>
            </a:solidFill>
            <a:prstDash val="solid"/>
          </a:ln>
        </p:spPr>
      </p:sp>
      <p:sp>
        <p:nvSpPr>
          <p:cNvPr id="11" name="Monatslinie JUL"/>
          <p:cNvSpPr/>
          <p:nvPr/>
        </p:nvSpPr>
        <p:spPr>
          <a:xfrm>
            <a:off x="5324747" y="2468880"/>
            <a:ext cx="0" cy="2816352"/>
          </a:xfrm>
          <a:prstGeom prst="line">
            <a:avLst/>
          </a:prstGeom>
          <a:noFill/>
          <a:ln w="6350">
            <a:solidFill>
              <a:srgbClr val="91A19B"/>
            </a:solidFill>
            <a:prstDash val="solid"/>
          </a:ln>
        </p:spPr>
      </p:sp>
      <p:sp>
        <p:nvSpPr>
          <p:cNvPr id="12" name="Monatslinie AUG"/>
          <p:cNvSpPr/>
          <p:nvPr/>
        </p:nvSpPr>
        <p:spPr>
          <a:xfrm>
            <a:off x="6142754" y="2468880"/>
            <a:ext cx="0" cy="2816352"/>
          </a:xfrm>
          <a:prstGeom prst="line">
            <a:avLst/>
          </a:prstGeom>
          <a:noFill/>
          <a:ln w="6350">
            <a:solidFill>
              <a:srgbClr val="91A19B"/>
            </a:solidFill>
            <a:prstDash val="solid"/>
          </a:ln>
        </p:spPr>
      </p:sp>
      <p:sp>
        <p:nvSpPr>
          <p:cNvPr id="13" name="Monatslinie SEP"/>
          <p:cNvSpPr/>
          <p:nvPr/>
        </p:nvSpPr>
        <p:spPr>
          <a:xfrm>
            <a:off x="6960761" y="2468880"/>
            <a:ext cx="0" cy="2816352"/>
          </a:xfrm>
          <a:prstGeom prst="line">
            <a:avLst/>
          </a:prstGeom>
          <a:noFill/>
          <a:ln w="6350">
            <a:solidFill>
              <a:srgbClr val="91A19B"/>
            </a:solidFill>
            <a:prstDash val="solid"/>
          </a:ln>
        </p:spPr>
      </p:sp>
      <p:sp>
        <p:nvSpPr>
          <p:cNvPr id="14" name="Monatslinie OKT"/>
          <p:cNvSpPr/>
          <p:nvPr/>
        </p:nvSpPr>
        <p:spPr>
          <a:xfrm>
            <a:off x="7752381" y="2468880"/>
            <a:ext cx="0" cy="2816352"/>
          </a:xfrm>
          <a:prstGeom prst="line">
            <a:avLst/>
          </a:prstGeom>
          <a:noFill/>
          <a:ln w="6350">
            <a:solidFill>
              <a:srgbClr val="91A19B"/>
            </a:solidFill>
            <a:prstDash val="solid"/>
          </a:ln>
        </p:spPr>
      </p:sp>
      <p:sp>
        <p:nvSpPr>
          <p:cNvPr id="15" name="Monatslinie NOV"/>
          <p:cNvSpPr/>
          <p:nvPr/>
        </p:nvSpPr>
        <p:spPr>
          <a:xfrm>
            <a:off x="8570388" y="2468880"/>
            <a:ext cx="0" cy="2816352"/>
          </a:xfrm>
          <a:prstGeom prst="line">
            <a:avLst/>
          </a:prstGeom>
          <a:noFill/>
          <a:ln w="6350">
            <a:solidFill>
              <a:srgbClr val="91A19B"/>
            </a:solidFill>
            <a:prstDash val="solid"/>
          </a:ln>
        </p:spPr>
      </p:sp>
      <p:sp>
        <p:nvSpPr>
          <p:cNvPr id="16" name="Monatslinie DEZ"/>
          <p:cNvSpPr/>
          <p:nvPr/>
        </p:nvSpPr>
        <p:spPr>
          <a:xfrm>
            <a:off x="9362008" y="2468880"/>
            <a:ext cx="0" cy="2816352"/>
          </a:xfrm>
          <a:prstGeom prst="line">
            <a:avLst/>
          </a:prstGeom>
          <a:noFill/>
          <a:ln w="6350">
            <a:solidFill>
              <a:srgbClr val="91A19B"/>
            </a:solidFill>
            <a:prstDash val="solid"/>
          </a:ln>
        </p:spPr>
      </p:sp>
      <p:sp>
        <p:nvSpPr>
          <p:cNvPr id="17" name="Monatslinie Ende"/>
          <p:cNvSpPr/>
          <p:nvPr/>
        </p:nvSpPr>
        <p:spPr>
          <a:xfrm>
            <a:off x="10180015" y="2468880"/>
            <a:ext cx="0" cy="2816352"/>
          </a:xfrm>
          <a:prstGeom prst="line">
            <a:avLst/>
          </a:prstGeom>
          <a:noFill/>
          <a:ln w="6350">
            <a:solidFill>
              <a:srgbClr val="91A19B"/>
            </a:solidFill>
            <a:prstDash val="solid"/>
          </a:ln>
        </p:spPr>
      </p:sp>
      <p:sp>
        <p:nvSpPr>
          <p:cNvPr id="18" name="Balken Vorentwicklung"/>
          <p:cNvSpPr/>
          <p:nvPr/>
        </p:nvSpPr>
        <p:spPr>
          <a:xfrm>
            <a:off x="1366647" y="2601468"/>
            <a:ext cx="1556852" cy="246888"/>
          </a:xfrm>
          <a:prstGeom prst="rect">
            <a:avLst/>
          </a:prstGeom>
          <a:solidFill>
            <a:srgbClr val="25C77A"/>
          </a:solidFill>
          <a:ln w="12700">
            <a:solidFill>
              <a:srgbClr val="25C77A"/>
            </a:solidFill>
            <a:prstDash val="solid"/>
          </a:ln>
        </p:spPr>
      </p:sp>
      <p:sp>
        <p:nvSpPr>
          <p:cNvPr id="19" name="Balken Text Vorentwicklung"/>
          <p:cNvSpPr txBox="1"/>
          <p:nvPr/>
        </p:nvSpPr>
        <p:spPr>
          <a:xfrm>
            <a:off x="1439799" y="2601468"/>
            <a:ext cx="1465412" cy="246888"/>
          </a:xfrm>
          <a:prstGeom prst="rect">
            <a:avLst/>
          </a:prstGeom>
          <a:noFill/>
          <a:ln/>
        </p:spPr>
        <p:txBody>
          <a:bodyPr wrap="square" lIns="0" tIns="0" rIns="0" bIns="0" rtlCol="0" anchor="ctr"/>
          <a:lstStyle/>
          <a:p>
            <a:pPr indent="0" marL="0">
              <a:buNone/>
            </a:pPr>
            <a:r>
              <a:rPr lang="en-US" sz="1000" dirty="0">
                <a:solidFill>
                  <a:srgbClr val="111418"/>
                </a:solidFill>
              </a:rPr>
              <a:t>Vorentwicklung</a:t>
            </a:r>
            <a:endParaRPr lang="en-US" sz="1000" dirty="0"/>
          </a:p>
        </p:txBody>
      </p:sp>
      <p:sp>
        <p:nvSpPr>
          <p:cNvPr id="20" name="Dauer Vorentwicklung"/>
          <p:cNvSpPr txBox="1"/>
          <p:nvPr/>
        </p:nvSpPr>
        <p:spPr>
          <a:xfrm>
            <a:off x="763143" y="2601468"/>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59 Tage</a:t>
            </a:r>
            <a:endParaRPr lang="en-US" sz="850" dirty="0"/>
          </a:p>
        </p:txBody>
      </p:sp>
      <p:sp>
        <p:nvSpPr>
          <p:cNvPr id="21" name="Datum Vorentwicklung"/>
          <p:cNvSpPr txBox="1"/>
          <p:nvPr/>
        </p:nvSpPr>
        <p:spPr>
          <a:xfrm>
            <a:off x="2996652" y="2601468"/>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1.2. - 31.3.</a:t>
            </a:r>
            <a:endParaRPr lang="en-US" sz="850" dirty="0"/>
          </a:p>
        </p:txBody>
      </p:sp>
      <p:sp>
        <p:nvSpPr>
          <p:cNvPr id="22" name="Balken Produktdefinition"/>
          <p:cNvSpPr/>
          <p:nvPr/>
        </p:nvSpPr>
        <p:spPr>
          <a:xfrm>
            <a:off x="1736070" y="2930652"/>
            <a:ext cx="1979050" cy="246888"/>
          </a:xfrm>
          <a:prstGeom prst="rect">
            <a:avLst/>
          </a:prstGeom>
          <a:solidFill>
            <a:srgbClr val="B7F3D0"/>
          </a:solidFill>
          <a:ln w="12700">
            <a:solidFill>
              <a:srgbClr val="B7F3D0"/>
            </a:solidFill>
            <a:prstDash val="solid"/>
          </a:ln>
        </p:spPr>
      </p:sp>
      <p:sp>
        <p:nvSpPr>
          <p:cNvPr id="23" name="Balken Text Produktdefinition"/>
          <p:cNvSpPr txBox="1"/>
          <p:nvPr/>
        </p:nvSpPr>
        <p:spPr>
          <a:xfrm>
            <a:off x="1809222" y="2930652"/>
            <a:ext cx="1887610" cy="246888"/>
          </a:xfrm>
          <a:prstGeom prst="rect">
            <a:avLst/>
          </a:prstGeom>
          <a:noFill/>
          <a:ln/>
        </p:spPr>
        <p:txBody>
          <a:bodyPr wrap="square" lIns="0" tIns="0" rIns="0" bIns="0" rtlCol="0" anchor="ctr"/>
          <a:lstStyle/>
          <a:p>
            <a:pPr indent="0" marL="0">
              <a:buNone/>
            </a:pPr>
            <a:r>
              <a:rPr lang="en-US" sz="1000" dirty="0">
                <a:solidFill>
                  <a:srgbClr val="111418"/>
                </a:solidFill>
              </a:rPr>
              <a:t>Produktdefinition</a:t>
            </a:r>
            <a:endParaRPr lang="en-US" sz="1000" dirty="0"/>
          </a:p>
        </p:txBody>
      </p:sp>
      <p:sp>
        <p:nvSpPr>
          <p:cNvPr id="24" name="Dauer Produktdefinition"/>
          <p:cNvSpPr txBox="1"/>
          <p:nvPr/>
        </p:nvSpPr>
        <p:spPr>
          <a:xfrm>
            <a:off x="1132566" y="2930652"/>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75 Tage</a:t>
            </a:r>
            <a:endParaRPr lang="en-US" sz="850" dirty="0"/>
          </a:p>
        </p:txBody>
      </p:sp>
      <p:sp>
        <p:nvSpPr>
          <p:cNvPr id="25" name="Datum Produktdefinition"/>
          <p:cNvSpPr txBox="1"/>
          <p:nvPr/>
        </p:nvSpPr>
        <p:spPr>
          <a:xfrm>
            <a:off x="3788272" y="2930652"/>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15.2. - 30.4.</a:t>
            </a:r>
            <a:endParaRPr lang="en-US" sz="850" dirty="0"/>
          </a:p>
        </p:txBody>
      </p:sp>
      <p:sp>
        <p:nvSpPr>
          <p:cNvPr id="26" name="Balken Konzeptentwicklung"/>
          <p:cNvSpPr/>
          <p:nvPr/>
        </p:nvSpPr>
        <p:spPr>
          <a:xfrm>
            <a:off x="2923500" y="3259836"/>
            <a:ext cx="2005437" cy="246888"/>
          </a:xfrm>
          <a:prstGeom prst="rect">
            <a:avLst/>
          </a:prstGeom>
          <a:solidFill>
            <a:srgbClr val="B7F3D0"/>
          </a:solidFill>
          <a:ln w="12700">
            <a:solidFill>
              <a:srgbClr val="B7F3D0"/>
            </a:solidFill>
            <a:prstDash val="solid"/>
          </a:ln>
        </p:spPr>
      </p:sp>
      <p:sp>
        <p:nvSpPr>
          <p:cNvPr id="27" name="Balken Text Konzeptentwicklung"/>
          <p:cNvSpPr txBox="1"/>
          <p:nvPr/>
        </p:nvSpPr>
        <p:spPr>
          <a:xfrm>
            <a:off x="2996652" y="3259836"/>
            <a:ext cx="1913997" cy="246888"/>
          </a:xfrm>
          <a:prstGeom prst="rect">
            <a:avLst/>
          </a:prstGeom>
          <a:noFill/>
          <a:ln/>
        </p:spPr>
        <p:txBody>
          <a:bodyPr wrap="square" lIns="0" tIns="0" rIns="0" bIns="0" rtlCol="0" anchor="ctr"/>
          <a:lstStyle/>
          <a:p>
            <a:pPr indent="0" marL="0">
              <a:buNone/>
            </a:pPr>
            <a:r>
              <a:rPr lang="en-US" sz="1000" dirty="0">
                <a:solidFill>
                  <a:srgbClr val="111418"/>
                </a:solidFill>
              </a:rPr>
              <a:t>Konzeptentwicklung</a:t>
            </a:r>
            <a:endParaRPr lang="en-US" sz="1000" dirty="0"/>
          </a:p>
        </p:txBody>
      </p:sp>
      <p:sp>
        <p:nvSpPr>
          <p:cNvPr id="28" name="Dauer Konzeptentwicklung"/>
          <p:cNvSpPr txBox="1"/>
          <p:nvPr/>
        </p:nvSpPr>
        <p:spPr>
          <a:xfrm>
            <a:off x="2319996" y="3259836"/>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76 Tage</a:t>
            </a:r>
            <a:endParaRPr lang="en-US" sz="850" dirty="0"/>
          </a:p>
        </p:txBody>
      </p:sp>
      <p:sp>
        <p:nvSpPr>
          <p:cNvPr id="29" name="Datum Konzeptentwicklung"/>
          <p:cNvSpPr txBox="1"/>
          <p:nvPr/>
        </p:nvSpPr>
        <p:spPr>
          <a:xfrm>
            <a:off x="5002089" y="3259836"/>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1.4. - 15.6.</a:t>
            </a:r>
            <a:endParaRPr lang="en-US" sz="850" dirty="0"/>
          </a:p>
        </p:txBody>
      </p:sp>
      <p:sp>
        <p:nvSpPr>
          <p:cNvPr id="30" name="Balken Serienentwicklung"/>
          <p:cNvSpPr/>
          <p:nvPr/>
        </p:nvSpPr>
        <p:spPr>
          <a:xfrm>
            <a:off x="4533127" y="3589020"/>
            <a:ext cx="2427634" cy="246888"/>
          </a:xfrm>
          <a:prstGeom prst="rect">
            <a:avLst/>
          </a:prstGeom>
          <a:solidFill>
            <a:srgbClr val="707981"/>
          </a:solidFill>
          <a:ln w="12700">
            <a:solidFill>
              <a:srgbClr val="707981"/>
            </a:solidFill>
            <a:prstDash val="solid"/>
          </a:ln>
        </p:spPr>
      </p:sp>
      <p:sp>
        <p:nvSpPr>
          <p:cNvPr id="31" name="Balken Text Serienentwicklung"/>
          <p:cNvSpPr txBox="1"/>
          <p:nvPr/>
        </p:nvSpPr>
        <p:spPr>
          <a:xfrm>
            <a:off x="4606279" y="3589020"/>
            <a:ext cx="2336194" cy="246888"/>
          </a:xfrm>
          <a:prstGeom prst="rect">
            <a:avLst/>
          </a:prstGeom>
          <a:noFill/>
          <a:ln/>
        </p:spPr>
        <p:txBody>
          <a:bodyPr wrap="square" lIns="0" tIns="0" rIns="0" bIns="0" rtlCol="0" anchor="ctr"/>
          <a:lstStyle/>
          <a:p>
            <a:pPr indent="0" marL="0">
              <a:buNone/>
            </a:pPr>
            <a:r>
              <a:rPr lang="en-US" sz="1000" dirty="0">
                <a:solidFill>
                  <a:srgbClr val="FFFFFF"/>
                </a:solidFill>
              </a:rPr>
              <a:t>Serienentwicklung</a:t>
            </a:r>
            <a:endParaRPr lang="en-US" sz="1000" dirty="0"/>
          </a:p>
        </p:txBody>
      </p:sp>
      <p:sp>
        <p:nvSpPr>
          <p:cNvPr id="32" name="Dauer Serienentwicklung"/>
          <p:cNvSpPr txBox="1"/>
          <p:nvPr/>
        </p:nvSpPr>
        <p:spPr>
          <a:xfrm>
            <a:off x="3929623" y="3589020"/>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92 Tage</a:t>
            </a:r>
            <a:endParaRPr lang="en-US" sz="850" dirty="0"/>
          </a:p>
        </p:txBody>
      </p:sp>
      <p:sp>
        <p:nvSpPr>
          <p:cNvPr id="33" name="Datum Serienentwicklung"/>
          <p:cNvSpPr txBox="1"/>
          <p:nvPr/>
        </p:nvSpPr>
        <p:spPr>
          <a:xfrm>
            <a:off x="7033913" y="3589020"/>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1.6. - 31.8.</a:t>
            </a:r>
            <a:endParaRPr lang="en-US" sz="850" dirty="0"/>
          </a:p>
        </p:txBody>
      </p:sp>
      <p:sp>
        <p:nvSpPr>
          <p:cNvPr id="34" name="Balken Serienvorbereitung"/>
          <p:cNvSpPr/>
          <p:nvPr/>
        </p:nvSpPr>
        <p:spPr>
          <a:xfrm>
            <a:off x="5694169" y="3918204"/>
            <a:ext cx="2058212" cy="246888"/>
          </a:xfrm>
          <a:prstGeom prst="rect">
            <a:avLst/>
          </a:prstGeom>
          <a:solidFill>
            <a:srgbClr val="707981"/>
          </a:solidFill>
          <a:ln w="12700">
            <a:solidFill>
              <a:srgbClr val="707981"/>
            </a:solidFill>
            <a:prstDash val="solid"/>
          </a:ln>
        </p:spPr>
      </p:sp>
      <p:sp>
        <p:nvSpPr>
          <p:cNvPr id="35" name="Balken Text Serienvorbereitung"/>
          <p:cNvSpPr txBox="1"/>
          <p:nvPr/>
        </p:nvSpPr>
        <p:spPr>
          <a:xfrm>
            <a:off x="5767321" y="3918204"/>
            <a:ext cx="1966772" cy="246888"/>
          </a:xfrm>
          <a:prstGeom prst="rect">
            <a:avLst/>
          </a:prstGeom>
          <a:noFill/>
          <a:ln/>
        </p:spPr>
        <p:txBody>
          <a:bodyPr wrap="square" lIns="0" tIns="0" rIns="0" bIns="0" rtlCol="0" anchor="ctr"/>
          <a:lstStyle/>
          <a:p>
            <a:pPr indent="0" marL="0">
              <a:buNone/>
            </a:pPr>
            <a:r>
              <a:rPr lang="en-US" sz="1000" dirty="0">
                <a:solidFill>
                  <a:srgbClr val="FFFFFF"/>
                </a:solidFill>
              </a:rPr>
              <a:t>Serienvorbereitung</a:t>
            </a:r>
            <a:endParaRPr lang="en-US" sz="1000" dirty="0"/>
          </a:p>
        </p:txBody>
      </p:sp>
      <p:sp>
        <p:nvSpPr>
          <p:cNvPr id="36" name="Dauer Serienvorbereitung"/>
          <p:cNvSpPr txBox="1"/>
          <p:nvPr/>
        </p:nvSpPr>
        <p:spPr>
          <a:xfrm>
            <a:off x="5090665" y="3918204"/>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78 Tage</a:t>
            </a:r>
            <a:endParaRPr lang="en-US" sz="850" dirty="0"/>
          </a:p>
        </p:txBody>
      </p:sp>
      <p:sp>
        <p:nvSpPr>
          <p:cNvPr id="37" name="Datum Serienvorbereitung"/>
          <p:cNvSpPr txBox="1"/>
          <p:nvPr/>
        </p:nvSpPr>
        <p:spPr>
          <a:xfrm>
            <a:off x="7825533" y="3918204"/>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15.7. - 30.9.</a:t>
            </a:r>
            <a:endParaRPr lang="en-US" sz="850" dirty="0"/>
          </a:p>
        </p:txBody>
      </p:sp>
      <p:sp>
        <p:nvSpPr>
          <p:cNvPr id="38" name="Balken Serienanlauf"/>
          <p:cNvSpPr/>
          <p:nvPr/>
        </p:nvSpPr>
        <p:spPr>
          <a:xfrm>
            <a:off x="6960761" y="4247388"/>
            <a:ext cx="1187430" cy="246888"/>
          </a:xfrm>
          <a:prstGeom prst="rect">
            <a:avLst/>
          </a:prstGeom>
          <a:solidFill>
            <a:srgbClr val="25C77A"/>
          </a:solidFill>
          <a:ln w="12700">
            <a:solidFill>
              <a:srgbClr val="25C77A"/>
            </a:solidFill>
            <a:prstDash val="solid"/>
          </a:ln>
        </p:spPr>
      </p:sp>
      <p:sp>
        <p:nvSpPr>
          <p:cNvPr id="39" name="Balken Text Serienanlauf"/>
          <p:cNvSpPr txBox="1"/>
          <p:nvPr/>
        </p:nvSpPr>
        <p:spPr>
          <a:xfrm>
            <a:off x="7033913" y="4247388"/>
            <a:ext cx="1095990" cy="246888"/>
          </a:xfrm>
          <a:prstGeom prst="rect">
            <a:avLst/>
          </a:prstGeom>
          <a:noFill/>
          <a:ln/>
        </p:spPr>
        <p:txBody>
          <a:bodyPr wrap="square" lIns="0" tIns="0" rIns="0" bIns="0" rtlCol="0" anchor="ctr"/>
          <a:lstStyle/>
          <a:p>
            <a:pPr indent="0" marL="0">
              <a:buNone/>
            </a:pPr>
            <a:r>
              <a:rPr lang="en-US" sz="1000" dirty="0">
                <a:solidFill>
                  <a:srgbClr val="111418"/>
                </a:solidFill>
              </a:rPr>
              <a:t>Serienanlauf</a:t>
            </a:r>
            <a:endParaRPr lang="en-US" sz="1000" dirty="0"/>
          </a:p>
        </p:txBody>
      </p:sp>
      <p:sp>
        <p:nvSpPr>
          <p:cNvPr id="40" name="Dauer Serienanlauf"/>
          <p:cNvSpPr txBox="1"/>
          <p:nvPr/>
        </p:nvSpPr>
        <p:spPr>
          <a:xfrm>
            <a:off x="6357257" y="4247388"/>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45 Tage</a:t>
            </a:r>
            <a:endParaRPr lang="en-US" sz="850" dirty="0"/>
          </a:p>
        </p:txBody>
      </p:sp>
      <p:sp>
        <p:nvSpPr>
          <p:cNvPr id="41" name="Datum Serienanlauf"/>
          <p:cNvSpPr txBox="1"/>
          <p:nvPr/>
        </p:nvSpPr>
        <p:spPr>
          <a:xfrm>
            <a:off x="8221343" y="4247388"/>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1.9. - 15.10.</a:t>
            </a:r>
            <a:endParaRPr lang="en-US" sz="850" dirty="0"/>
          </a:p>
        </p:txBody>
      </p:sp>
      <p:sp>
        <p:nvSpPr>
          <p:cNvPr id="42" name="Balken Serie"/>
          <p:cNvSpPr/>
          <p:nvPr/>
        </p:nvSpPr>
        <p:spPr>
          <a:xfrm>
            <a:off x="7752381" y="4576572"/>
            <a:ext cx="1609627" cy="246888"/>
          </a:xfrm>
          <a:prstGeom prst="rect">
            <a:avLst/>
          </a:prstGeom>
          <a:solidFill>
            <a:srgbClr val="B7F3D0"/>
          </a:solidFill>
          <a:ln w="12700">
            <a:solidFill>
              <a:srgbClr val="B7F3D0"/>
            </a:solidFill>
            <a:prstDash val="solid"/>
          </a:ln>
        </p:spPr>
      </p:sp>
      <p:sp>
        <p:nvSpPr>
          <p:cNvPr id="43" name="Balken Text Serie"/>
          <p:cNvSpPr txBox="1"/>
          <p:nvPr/>
        </p:nvSpPr>
        <p:spPr>
          <a:xfrm>
            <a:off x="7825533" y="4576572"/>
            <a:ext cx="1518187" cy="246888"/>
          </a:xfrm>
          <a:prstGeom prst="rect">
            <a:avLst/>
          </a:prstGeom>
          <a:noFill/>
          <a:ln/>
        </p:spPr>
        <p:txBody>
          <a:bodyPr wrap="square" lIns="0" tIns="0" rIns="0" bIns="0" rtlCol="0" anchor="ctr"/>
          <a:lstStyle/>
          <a:p>
            <a:pPr indent="0" marL="0">
              <a:buNone/>
            </a:pPr>
            <a:r>
              <a:rPr lang="en-US" sz="1000" dirty="0">
                <a:solidFill>
                  <a:srgbClr val="111418"/>
                </a:solidFill>
              </a:rPr>
              <a:t>Serie</a:t>
            </a:r>
            <a:endParaRPr lang="en-US" sz="1000" dirty="0"/>
          </a:p>
        </p:txBody>
      </p:sp>
      <p:sp>
        <p:nvSpPr>
          <p:cNvPr id="44" name="Dauer Serie"/>
          <p:cNvSpPr txBox="1"/>
          <p:nvPr/>
        </p:nvSpPr>
        <p:spPr>
          <a:xfrm>
            <a:off x="7148877" y="4576572"/>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61 Tage</a:t>
            </a:r>
            <a:endParaRPr lang="en-US" sz="850" dirty="0"/>
          </a:p>
        </p:txBody>
      </p:sp>
      <p:sp>
        <p:nvSpPr>
          <p:cNvPr id="45" name="Datum Serie"/>
          <p:cNvSpPr txBox="1"/>
          <p:nvPr/>
        </p:nvSpPr>
        <p:spPr>
          <a:xfrm>
            <a:off x="9435160" y="4576572"/>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1.10. - 30.11.</a:t>
            </a:r>
            <a:endParaRPr lang="en-US" sz="850" dirty="0"/>
          </a:p>
        </p:txBody>
      </p:sp>
      <p:sp>
        <p:nvSpPr>
          <p:cNvPr id="46" name="Balken Produktpflege"/>
          <p:cNvSpPr/>
          <p:nvPr/>
        </p:nvSpPr>
        <p:spPr>
          <a:xfrm>
            <a:off x="8939811" y="4905756"/>
            <a:ext cx="1240204" cy="246888"/>
          </a:xfrm>
          <a:prstGeom prst="rect">
            <a:avLst/>
          </a:prstGeom>
          <a:solidFill>
            <a:srgbClr val="B7F3D0"/>
          </a:solidFill>
          <a:ln w="12700">
            <a:solidFill>
              <a:srgbClr val="B7F3D0"/>
            </a:solidFill>
            <a:prstDash val="solid"/>
          </a:ln>
        </p:spPr>
      </p:sp>
      <p:sp>
        <p:nvSpPr>
          <p:cNvPr id="47" name="Balken Text Produktpflege"/>
          <p:cNvSpPr txBox="1"/>
          <p:nvPr/>
        </p:nvSpPr>
        <p:spPr>
          <a:xfrm>
            <a:off x="9012963" y="4905756"/>
            <a:ext cx="1148764" cy="246888"/>
          </a:xfrm>
          <a:prstGeom prst="rect">
            <a:avLst/>
          </a:prstGeom>
          <a:noFill/>
          <a:ln/>
        </p:spPr>
        <p:txBody>
          <a:bodyPr wrap="square" lIns="0" tIns="0" rIns="0" bIns="0" rtlCol="0" anchor="ctr"/>
          <a:lstStyle/>
          <a:p>
            <a:pPr indent="0" marL="0">
              <a:buNone/>
            </a:pPr>
            <a:r>
              <a:rPr lang="en-US" sz="1000" dirty="0">
                <a:solidFill>
                  <a:srgbClr val="111418"/>
                </a:solidFill>
              </a:rPr>
              <a:t>Produktpflege</a:t>
            </a:r>
            <a:endParaRPr lang="en-US" sz="1000" dirty="0"/>
          </a:p>
        </p:txBody>
      </p:sp>
      <p:sp>
        <p:nvSpPr>
          <p:cNvPr id="48" name="Dauer Produktpflege"/>
          <p:cNvSpPr txBox="1"/>
          <p:nvPr/>
        </p:nvSpPr>
        <p:spPr>
          <a:xfrm>
            <a:off x="8336307" y="4905756"/>
            <a:ext cx="530352" cy="246888"/>
          </a:xfrm>
          <a:prstGeom prst="rect">
            <a:avLst/>
          </a:prstGeom>
          <a:solidFill>
            <a:srgbClr val="E7FFF2"/>
          </a:solidFill>
          <a:ln/>
        </p:spPr>
        <p:txBody>
          <a:bodyPr wrap="square" lIns="0" tIns="0" rIns="0" bIns="0" rtlCol="0" anchor="ctr"/>
          <a:lstStyle/>
          <a:p>
            <a:pPr algn="r" indent="0" marL="0">
              <a:buNone/>
            </a:pPr>
            <a:r>
              <a:rPr lang="en-US" sz="850" dirty="0">
                <a:solidFill>
                  <a:srgbClr val="111418"/>
                </a:solidFill>
              </a:rPr>
              <a:t>47 Tage</a:t>
            </a:r>
            <a:endParaRPr lang="en-US" sz="850" dirty="0"/>
          </a:p>
        </p:txBody>
      </p:sp>
      <p:sp>
        <p:nvSpPr>
          <p:cNvPr id="49" name="Datum Produktpflege"/>
          <p:cNvSpPr txBox="1"/>
          <p:nvPr/>
        </p:nvSpPr>
        <p:spPr>
          <a:xfrm>
            <a:off x="10253167" y="4905756"/>
            <a:ext cx="1005840" cy="246888"/>
          </a:xfrm>
          <a:prstGeom prst="rect">
            <a:avLst/>
          </a:prstGeom>
          <a:solidFill>
            <a:srgbClr val="E7FFF2"/>
          </a:solidFill>
          <a:ln/>
        </p:spPr>
        <p:txBody>
          <a:bodyPr wrap="square" lIns="0" tIns="0" rIns="0" bIns="0" rtlCol="0" anchor="ctr"/>
          <a:lstStyle/>
          <a:p>
            <a:pPr indent="0" marL="0">
              <a:buNone/>
            </a:pPr>
            <a:r>
              <a:rPr lang="en-US" sz="850" dirty="0">
                <a:solidFill>
                  <a:srgbClr val="111418"/>
                </a:solidFill>
              </a:rPr>
              <a:t>15.11. - 31.12.</a:t>
            </a:r>
            <a:endParaRPr lang="en-US" sz="850" dirty="0"/>
          </a:p>
        </p:txBody>
      </p:sp>
      <p:sp>
        <p:nvSpPr>
          <p:cNvPr id="50" name="Heute-Linie"/>
          <p:cNvSpPr/>
          <p:nvPr/>
        </p:nvSpPr>
        <p:spPr>
          <a:xfrm>
            <a:off x="8134997" y="2468880"/>
            <a:ext cx="0" cy="2816352"/>
          </a:xfrm>
          <a:prstGeom prst="line">
            <a:avLst/>
          </a:prstGeom>
          <a:noFill/>
          <a:ln w="6350">
            <a:solidFill>
              <a:srgbClr val="25C77A"/>
            </a:solidFill>
            <a:prstDash val="solid"/>
          </a:ln>
        </p:spPr>
      </p:sp>
      <p:sp>
        <p:nvSpPr>
          <p:cNvPr id="51" name="Legende IdeeRoth"/>
          <p:cNvSpPr/>
          <p:nvPr/>
        </p:nvSpPr>
        <p:spPr>
          <a:xfrm>
            <a:off x="7436815" y="2103120"/>
            <a:ext cx="137160" cy="137160"/>
          </a:xfrm>
          <a:prstGeom prst="rect">
            <a:avLst/>
          </a:prstGeom>
          <a:solidFill>
            <a:srgbClr val="25C77A"/>
          </a:solidFill>
          <a:ln w="12700">
            <a:solidFill>
              <a:srgbClr val="25C77A"/>
            </a:solidFill>
            <a:prstDash val="solid"/>
          </a:ln>
        </p:spPr>
      </p:sp>
      <p:sp>
        <p:nvSpPr>
          <p:cNvPr id="52" name="Legende Text IdeeRoth"/>
          <p:cNvSpPr txBox="1"/>
          <p:nvPr/>
        </p:nvSpPr>
        <p:spPr>
          <a:xfrm>
            <a:off x="7637983" y="2048256"/>
            <a:ext cx="1143000" cy="246888"/>
          </a:xfrm>
          <a:prstGeom prst="rect">
            <a:avLst/>
          </a:prstGeom>
          <a:noFill/>
          <a:ln/>
        </p:spPr>
        <p:txBody>
          <a:bodyPr wrap="square" lIns="0" tIns="0" rIns="0" bIns="0" rtlCol="0" anchor="ctr"/>
          <a:lstStyle/>
          <a:p>
            <a:pPr indent="0" marL="0">
              <a:buNone/>
            </a:pPr>
            <a:r>
              <a:rPr lang="en-US" sz="800" dirty="0">
                <a:solidFill>
                  <a:srgbClr val="707981"/>
                </a:solidFill>
              </a:rPr>
              <a:t>IdeeRoth</a:t>
            </a:r>
            <a:endParaRPr lang="en-US" sz="800" dirty="0"/>
          </a:p>
        </p:txBody>
      </p:sp>
      <p:sp>
        <p:nvSpPr>
          <p:cNvPr id="53" name="Legende Gemeinsam"/>
          <p:cNvSpPr/>
          <p:nvPr/>
        </p:nvSpPr>
        <p:spPr>
          <a:xfrm>
            <a:off x="8762695" y="2103120"/>
            <a:ext cx="137160" cy="137160"/>
          </a:xfrm>
          <a:prstGeom prst="rect">
            <a:avLst/>
          </a:prstGeom>
          <a:solidFill>
            <a:srgbClr val="B7F3D0"/>
          </a:solidFill>
          <a:ln w="12700">
            <a:solidFill>
              <a:srgbClr val="B7F3D0"/>
            </a:solidFill>
            <a:prstDash val="solid"/>
          </a:ln>
        </p:spPr>
      </p:sp>
      <p:sp>
        <p:nvSpPr>
          <p:cNvPr id="54" name="Legende Text Gemeinsam"/>
          <p:cNvSpPr txBox="1"/>
          <p:nvPr/>
        </p:nvSpPr>
        <p:spPr>
          <a:xfrm>
            <a:off x="8963863" y="2048256"/>
            <a:ext cx="1143000" cy="246888"/>
          </a:xfrm>
          <a:prstGeom prst="rect">
            <a:avLst/>
          </a:prstGeom>
          <a:noFill/>
          <a:ln/>
        </p:spPr>
        <p:txBody>
          <a:bodyPr wrap="square" lIns="0" tIns="0" rIns="0" bIns="0" rtlCol="0" anchor="ctr"/>
          <a:lstStyle/>
          <a:p>
            <a:pPr indent="0" marL="0">
              <a:buNone/>
            </a:pPr>
            <a:r>
              <a:rPr lang="en-US" sz="800" dirty="0">
                <a:solidFill>
                  <a:srgbClr val="707981"/>
                </a:solidFill>
              </a:rPr>
              <a:t>Gemeinsam</a:t>
            </a:r>
            <a:endParaRPr lang="en-US" sz="800" dirty="0"/>
          </a:p>
        </p:txBody>
      </p:sp>
      <p:sp>
        <p:nvSpPr>
          <p:cNvPr id="55" name="Legende Kunde / Lieferant"/>
          <p:cNvSpPr/>
          <p:nvPr/>
        </p:nvSpPr>
        <p:spPr>
          <a:xfrm>
            <a:off x="10088575" y="2103120"/>
            <a:ext cx="137160" cy="137160"/>
          </a:xfrm>
          <a:prstGeom prst="rect">
            <a:avLst/>
          </a:prstGeom>
          <a:solidFill>
            <a:srgbClr val="707981"/>
          </a:solidFill>
          <a:ln w="12700">
            <a:solidFill>
              <a:srgbClr val="707981"/>
            </a:solidFill>
            <a:prstDash val="solid"/>
          </a:ln>
        </p:spPr>
      </p:sp>
      <p:sp>
        <p:nvSpPr>
          <p:cNvPr id="56" name="Legende Text Kunde / Lieferant"/>
          <p:cNvSpPr txBox="1"/>
          <p:nvPr/>
        </p:nvSpPr>
        <p:spPr>
          <a:xfrm>
            <a:off x="10289743" y="2048256"/>
            <a:ext cx="1143000" cy="246888"/>
          </a:xfrm>
          <a:prstGeom prst="rect">
            <a:avLst/>
          </a:prstGeom>
          <a:noFill/>
          <a:ln/>
        </p:spPr>
        <p:txBody>
          <a:bodyPr wrap="square" lIns="0" tIns="0" rIns="0" bIns="0" rtlCol="0" anchor="ctr"/>
          <a:lstStyle/>
          <a:p>
            <a:pPr indent="0" marL="0">
              <a:buNone/>
            </a:pPr>
            <a:r>
              <a:rPr lang="en-US" sz="800" dirty="0">
                <a:solidFill>
                  <a:srgbClr val="707981"/>
                </a:solidFill>
              </a:rPr>
              <a:t>Kunde / Lieferant</a:t>
            </a:r>
            <a:endParaRPr lang="en-US" sz="800" dirty="0"/>
          </a:p>
        </p:txBody>
      </p:sp>
      <p:sp>
        <p:nvSpPr>
          <p:cNvPr id="57" name="Monatsband"/>
          <p:cNvSpPr/>
          <p:nvPr/>
        </p:nvSpPr>
        <p:spPr>
          <a:xfrm>
            <a:off x="548640" y="5285232"/>
            <a:ext cx="9631375" cy="310896"/>
          </a:xfrm>
          <a:prstGeom prst="rect">
            <a:avLst/>
          </a:prstGeom>
          <a:solidFill>
            <a:srgbClr val="111418"/>
          </a:solidFill>
          <a:ln w="12700">
            <a:solidFill>
              <a:srgbClr val="111418"/>
            </a:solidFill>
            <a:prstDash val="solid"/>
          </a:ln>
        </p:spPr>
      </p:sp>
      <p:sp>
        <p:nvSpPr>
          <p:cNvPr id="58" name="Monat JAN"/>
          <p:cNvSpPr txBox="1"/>
          <p:nvPr/>
        </p:nvSpPr>
        <p:spPr>
          <a:xfrm>
            <a:off x="621792"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JAN</a:t>
            </a:r>
            <a:endParaRPr lang="en-US" sz="900" dirty="0"/>
          </a:p>
        </p:txBody>
      </p:sp>
      <p:sp>
        <p:nvSpPr>
          <p:cNvPr id="59" name="Bandlinie FEB"/>
          <p:cNvSpPr/>
          <p:nvPr/>
        </p:nvSpPr>
        <p:spPr>
          <a:xfrm>
            <a:off x="1366647" y="5285232"/>
            <a:ext cx="0" cy="310896"/>
          </a:xfrm>
          <a:prstGeom prst="line">
            <a:avLst/>
          </a:prstGeom>
          <a:noFill/>
          <a:ln w="6350">
            <a:solidFill>
              <a:srgbClr val="707274"/>
            </a:solidFill>
            <a:prstDash val="solid"/>
          </a:ln>
        </p:spPr>
      </p:sp>
      <p:sp>
        <p:nvSpPr>
          <p:cNvPr id="60" name="Monat FEB"/>
          <p:cNvSpPr txBox="1"/>
          <p:nvPr/>
        </p:nvSpPr>
        <p:spPr>
          <a:xfrm>
            <a:off x="1439799"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FEB</a:t>
            </a:r>
            <a:endParaRPr lang="en-US" sz="900" dirty="0"/>
          </a:p>
        </p:txBody>
      </p:sp>
      <p:sp>
        <p:nvSpPr>
          <p:cNvPr id="61" name="Bandlinie MÄR"/>
          <p:cNvSpPr/>
          <p:nvPr/>
        </p:nvSpPr>
        <p:spPr>
          <a:xfrm>
            <a:off x="2105492" y="5285232"/>
            <a:ext cx="0" cy="310896"/>
          </a:xfrm>
          <a:prstGeom prst="line">
            <a:avLst/>
          </a:prstGeom>
          <a:noFill/>
          <a:ln w="6350">
            <a:solidFill>
              <a:srgbClr val="707274"/>
            </a:solidFill>
            <a:prstDash val="solid"/>
          </a:ln>
        </p:spPr>
      </p:sp>
      <p:sp>
        <p:nvSpPr>
          <p:cNvPr id="62" name="Monat MÄR"/>
          <p:cNvSpPr txBox="1"/>
          <p:nvPr/>
        </p:nvSpPr>
        <p:spPr>
          <a:xfrm>
            <a:off x="2178644"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MÄR</a:t>
            </a:r>
            <a:endParaRPr lang="en-US" sz="900" dirty="0"/>
          </a:p>
        </p:txBody>
      </p:sp>
      <p:sp>
        <p:nvSpPr>
          <p:cNvPr id="63" name="Bandlinie APR"/>
          <p:cNvSpPr/>
          <p:nvPr/>
        </p:nvSpPr>
        <p:spPr>
          <a:xfrm>
            <a:off x="2923500" y="5285232"/>
            <a:ext cx="0" cy="310896"/>
          </a:xfrm>
          <a:prstGeom prst="line">
            <a:avLst/>
          </a:prstGeom>
          <a:noFill/>
          <a:ln w="6350">
            <a:solidFill>
              <a:srgbClr val="707274"/>
            </a:solidFill>
            <a:prstDash val="solid"/>
          </a:ln>
        </p:spPr>
      </p:sp>
      <p:sp>
        <p:nvSpPr>
          <p:cNvPr id="64" name="Monat APR"/>
          <p:cNvSpPr txBox="1"/>
          <p:nvPr/>
        </p:nvSpPr>
        <p:spPr>
          <a:xfrm>
            <a:off x="2996652"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APR</a:t>
            </a:r>
            <a:endParaRPr lang="en-US" sz="900" dirty="0"/>
          </a:p>
        </p:txBody>
      </p:sp>
      <p:sp>
        <p:nvSpPr>
          <p:cNvPr id="65" name="Bandlinie MAI"/>
          <p:cNvSpPr/>
          <p:nvPr/>
        </p:nvSpPr>
        <p:spPr>
          <a:xfrm>
            <a:off x="3715120" y="5285232"/>
            <a:ext cx="0" cy="310896"/>
          </a:xfrm>
          <a:prstGeom prst="line">
            <a:avLst/>
          </a:prstGeom>
          <a:noFill/>
          <a:ln w="6350">
            <a:solidFill>
              <a:srgbClr val="707274"/>
            </a:solidFill>
            <a:prstDash val="solid"/>
          </a:ln>
        </p:spPr>
      </p:sp>
      <p:sp>
        <p:nvSpPr>
          <p:cNvPr id="66" name="Monat MAI"/>
          <p:cNvSpPr txBox="1"/>
          <p:nvPr/>
        </p:nvSpPr>
        <p:spPr>
          <a:xfrm>
            <a:off x="3788272"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MAI</a:t>
            </a:r>
            <a:endParaRPr lang="en-US" sz="900" dirty="0"/>
          </a:p>
        </p:txBody>
      </p:sp>
      <p:sp>
        <p:nvSpPr>
          <p:cNvPr id="67" name="Bandlinie JUN"/>
          <p:cNvSpPr/>
          <p:nvPr/>
        </p:nvSpPr>
        <p:spPr>
          <a:xfrm>
            <a:off x="4533127" y="5285232"/>
            <a:ext cx="0" cy="310896"/>
          </a:xfrm>
          <a:prstGeom prst="line">
            <a:avLst/>
          </a:prstGeom>
          <a:noFill/>
          <a:ln w="6350">
            <a:solidFill>
              <a:srgbClr val="707274"/>
            </a:solidFill>
            <a:prstDash val="solid"/>
          </a:ln>
        </p:spPr>
      </p:sp>
      <p:sp>
        <p:nvSpPr>
          <p:cNvPr id="68" name="Monat JUN"/>
          <p:cNvSpPr txBox="1"/>
          <p:nvPr/>
        </p:nvSpPr>
        <p:spPr>
          <a:xfrm>
            <a:off x="4606279"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JUN</a:t>
            </a:r>
            <a:endParaRPr lang="en-US" sz="900" dirty="0"/>
          </a:p>
        </p:txBody>
      </p:sp>
      <p:sp>
        <p:nvSpPr>
          <p:cNvPr id="69" name="Bandlinie JUL"/>
          <p:cNvSpPr/>
          <p:nvPr/>
        </p:nvSpPr>
        <p:spPr>
          <a:xfrm>
            <a:off x="5324747" y="5285232"/>
            <a:ext cx="0" cy="310896"/>
          </a:xfrm>
          <a:prstGeom prst="line">
            <a:avLst/>
          </a:prstGeom>
          <a:noFill/>
          <a:ln w="6350">
            <a:solidFill>
              <a:srgbClr val="707274"/>
            </a:solidFill>
            <a:prstDash val="solid"/>
          </a:ln>
        </p:spPr>
      </p:sp>
      <p:sp>
        <p:nvSpPr>
          <p:cNvPr id="70" name="Monat JUL"/>
          <p:cNvSpPr txBox="1"/>
          <p:nvPr/>
        </p:nvSpPr>
        <p:spPr>
          <a:xfrm>
            <a:off x="5397899"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JUL</a:t>
            </a:r>
            <a:endParaRPr lang="en-US" sz="900" dirty="0"/>
          </a:p>
        </p:txBody>
      </p:sp>
      <p:sp>
        <p:nvSpPr>
          <p:cNvPr id="71" name="Bandlinie AUG"/>
          <p:cNvSpPr/>
          <p:nvPr/>
        </p:nvSpPr>
        <p:spPr>
          <a:xfrm>
            <a:off x="6142754" y="5285232"/>
            <a:ext cx="0" cy="310896"/>
          </a:xfrm>
          <a:prstGeom prst="line">
            <a:avLst/>
          </a:prstGeom>
          <a:noFill/>
          <a:ln w="6350">
            <a:solidFill>
              <a:srgbClr val="707274"/>
            </a:solidFill>
            <a:prstDash val="solid"/>
          </a:ln>
        </p:spPr>
      </p:sp>
      <p:sp>
        <p:nvSpPr>
          <p:cNvPr id="72" name="Monat AUG"/>
          <p:cNvSpPr txBox="1"/>
          <p:nvPr/>
        </p:nvSpPr>
        <p:spPr>
          <a:xfrm>
            <a:off x="6215906"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AUG</a:t>
            </a:r>
            <a:endParaRPr lang="en-US" sz="900" dirty="0"/>
          </a:p>
        </p:txBody>
      </p:sp>
      <p:sp>
        <p:nvSpPr>
          <p:cNvPr id="73" name="Bandlinie SEP"/>
          <p:cNvSpPr/>
          <p:nvPr/>
        </p:nvSpPr>
        <p:spPr>
          <a:xfrm>
            <a:off x="6960761" y="5285232"/>
            <a:ext cx="0" cy="310896"/>
          </a:xfrm>
          <a:prstGeom prst="line">
            <a:avLst/>
          </a:prstGeom>
          <a:noFill/>
          <a:ln w="6350">
            <a:solidFill>
              <a:srgbClr val="707274"/>
            </a:solidFill>
            <a:prstDash val="solid"/>
          </a:ln>
        </p:spPr>
      </p:sp>
      <p:sp>
        <p:nvSpPr>
          <p:cNvPr id="74" name="Monat SEP"/>
          <p:cNvSpPr txBox="1"/>
          <p:nvPr/>
        </p:nvSpPr>
        <p:spPr>
          <a:xfrm>
            <a:off x="7033913"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SEP</a:t>
            </a:r>
            <a:endParaRPr lang="en-US" sz="900" dirty="0"/>
          </a:p>
        </p:txBody>
      </p:sp>
      <p:sp>
        <p:nvSpPr>
          <p:cNvPr id="75" name="Bandlinie OKT"/>
          <p:cNvSpPr/>
          <p:nvPr/>
        </p:nvSpPr>
        <p:spPr>
          <a:xfrm>
            <a:off x="7752381" y="5285232"/>
            <a:ext cx="0" cy="310896"/>
          </a:xfrm>
          <a:prstGeom prst="line">
            <a:avLst/>
          </a:prstGeom>
          <a:noFill/>
          <a:ln w="6350">
            <a:solidFill>
              <a:srgbClr val="707274"/>
            </a:solidFill>
            <a:prstDash val="solid"/>
          </a:ln>
        </p:spPr>
      </p:sp>
      <p:sp>
        <p:nvSpPr>
          <p:cNvPr id="76" name="Monat OKT"/>
          <p:cNvSpPr txBox="1"/>
          <p:nvPr/>
        </p:nvSpPr>
        <p:spPr>
          <a:xfrm>
            <a:off x="7825533"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OKT</a:t>
            </a:r>
            <a:endParaRPr lang="en-US" sz="900" dirty="0"/>
          </a:p>
        </p:txBody>
      </p:sp>
      <p:sp>
        <p:nvSpPr>
          <p:cNvPr id="77" name="Bandlinie NOV"/>
          <p:cNvSpPr/>
          <p:nvPr/>
        </p:nvSpPr>
        <p:spPr>
          <a:xfrm>
            <a:off x="8570388" y="5285232"/>
            <a:ext cx="0" cy="310896"/>
          </a:xfrm>
          <a:prstGeom prst="line">
            <a:avLst/>
          </a:prstGeom>
          <a:noFill/>
          <a:ln w="6350">
            <a:solidFill>
              <a:srgbClr val="707274"/>
            </a:solidFill>
            <a:prstDash val="solid"/>
          </a:ln>
        </p:spPr>
      </p:sp>
      <p:sp>
        <p:nvSpPr>
          <p:cNvPr id="78" name="Monat NOV"/>
          <p:cNvSpPr txBox="1"/>
          <p:nvPr/>
        </p:nvSpPr>
        <p:spPr>
          <a:xfrm>
            <a:off x="8643540"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NOV</a:t>
            </a:r>
            <a:endParaRPr lang="en-US" sz="900" dirty="0"/>
          </a:p>
        </p:txBody>
      </p:sp>
      <p:sp>
        <p:nvSpPr>
          <p:cNvPr id="79" name="Bandlinie DEZ"/>
          <p:cNvSpPr/>
          <p:nvPr/>
        </p:nvSpPr>
        <p:spPr>
          <a:xfrm>
            <a:off x="9362008" y="5285232"/>
            <a:ext cx="0" cy="310896"/>
          </a:xfrm>
          <a:prstGeom prst="line">
            <a:avLst/>
          </a:prstGeom>
          <a:noFill/>
          <a:ln w="6350">
            <a:solidFill>
              <a:srgbClr val="707274"/>
            </a:solidFill>
            <a:prstDash val="solid"/>
          </a:ln>
        </p:spPr>
      </p:sp>
      <p:sp>
        <p:nvSpPr>
          <p:cNvPr id="80" name="Monat DEZ"/>
          <p:cNvSpPr txBox="1"/>
          <p:nvPr/>
        </p:nvSpPr>
        <p:spPr>
          <a:xfrm>
            <a:off x="9435160" y="5285232"/>
            <a:ext cx="640080" cy="310896"/>
          </a:xfrm>
          <a:prstGeom prst="rect">
            <a:avLst/>
          </a:prstGeom>
          <a:noFill/>
          <a:ln/>
        </p:spPr>
        <p:txBody>
          <a:bodyPr wrap="square" lIns="0" tIns="0" rIns="0" bIns="0" rtlCol="0" anchor="ctr"/>
          <a:lstStyle/>
          <a:p>
            <a:pPr indent="0" marL="0">
              <a:buNone/>
            </a:pPr>
            <a:r>
              <a:rPr lang="en-US" sz="900" spc="-20" kern="0" dirty="0">
                <a:solidFill>
                  <a:srgbClr val="E7FFF2"/>
                </a:solidFill>
              </a:rPr>
              <a:t>DEZ</a:t>
            </a:r>
            <a:endParaRPr lang="en-US" sz="900" dirty="0"/>
          </a:p>
        </p:txBody>
      </p:sp>
      <p:sp>
        <p:nvSpPr>
          <p:cNvPr id="81" name="KW Strich 1"/>
          <p:cNvSpPr/>
          <p:nvPr/>
        </p:nvSpPr>
        <p:spPr>
          <a:xfrm>
            <a:off x="548640" y="5596128"/>
            <a:ext cx="0" cy="182880"/>
          </a:xfrm>
          <a:prstGeom prst="line">
            <a:avLst/>
          </a:prstGeom>
          <a:noFill/>
          <a:ln w="6350">
            <a:solidFill>
              <a:srgbClr val="91A19B"/>
            </a:solidFill>
            <a:prstDash val="solid"/>
          </a:ln>
        </p:spPr>
      </p:sp>
      <p:sp>
        <p:nvSpPr>
          <p:cNvPr id="82" name="KW 1"/>
          <p:cNvSpPr txBox="1"/>
          <p:nvPr/>
        </p:nvSpPr>
        <p:spPr>
          <a:xfrm>
            <a:off x="548640" y="5596128"/>
            <a:ext cx="105549" cy="182880"/>
          </a:xfrm>
          <a:prstGeom prst="rect">
            <a:avLst/>
          </a:prstGeom>
          <a:noFill/>
          <a:ln/>
        </p:spPr>
        <p:txBody>
          <a:bodyPr wrap="square" lIns="0" tIns="0" rIns="0" bIns="0" rtlCol="0" anchor="ctr"/>
          <a:lstStyle/>
          <a:p>
            <a:pPr algn="ctr" indent="0" marL="0">
              <a:buNone/>
            </a:pPr>
            <a:r>
              <a:rPr lang="en-US" sz="550" dirty="0">
                <a:solidFill>
                  <a:srgbClr val="707981"/>
                </a:solidFill>
              </a:rPr>
              <a:t>1</a:t>
            </a:r>
            <a:endParaRPr lang="en-US" sz="550" dirty="0"/>
          </a:p>
        </p:txBody>
      </p:sp>
      <p:sp>
        <p:nvSpPr>
          <p:cNvPr id="83" name="KW Strich 2"/>
          <p:cNvSpPr/>
          <p:nvPr/>
        </p:nvSpPr>
        <p:spPr>
          <a:xfrm>
            <a:off x="654189" y="5596128"/>
            <a:ext cx="0" cy="182880"/>
          </a:xfrm>
          <a:prstGeom prst="line">
            <a:avLst/>
          </a:prstGeom>
          <a:noFill/>
          <a:ln w="6350">
            <a:solidFill>
              <a:srgbClr val="91A19B"/>
            </a:solidFill>
            <a:prstDash val="solid"/>
          </a:ln>
        </p:spPr>
      </p:sp>
      <p:sp>
        <p:nvSpPr>
          <p:cNvPr id="84" name="KW 2"/>
          <p:cNvSpPr txBox="1"/>
          <p:nvPr/>
        </p:nvSpPr>
        <p:spPr>
          <a:xfrm>
            <a:off x="65418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a:t>
            </a:r>
            <a:endParaRPr lang="en-US" sz="550" dirty="0"/>
          </a:p>
        </p:txBody>
      </p:sp>
      <p:sp>
        <p:nvSpPr>
          <p:cNvPr id="85" name="KW Strich 3"/>
          <p:cNvSpPr/>
          <p:nvPr/>
        </p:nvSpPr>
        <p:spPr>
          <a:xfrm>
            <a:off x="838901" y="5596128"/>
            <a:ext cx="0" cy="182880"/>
          </a:xfrm>
          <a:prstGeom prst="line">
            <a:avLst/>
          </a:prstGeom>
          <a:noFill/>
          <a:ln w="6350">
            <a:solidFill>
              <a:srgbClr val="91A19B"/>
            </a:solidFill>
            <a:prstDash val="solid"/>
          </a:ln>
        </p:spPr>
      </p:sp>
      <p:sp>
        <p:nvSpPr>
          <p:cNvPr id="86" name="KW 3"/>
          <p:cNvSpPr txBox="1"/>
          <p:nvPr/>
        </p:nvSpPr>
        <p:spPr>
          <a:xfrm>
            <a:off x="83890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a:t>
            </a:r>
            <a:endParaRPr lang="en-US" sz="550" dirty="0"/>
          </a:p>
        </p:txBody>
      </p:sp>
      <p:sp>
        <p:nvSpPr>
          <p:cNvPr id="87" name="KW Strich 4"/>
          <p:cNvSpPr/>
          <p:nvPr/>
        </p:nvSpPr>
        <p:spPr>
          <a:xfrm>
            <a:off x="1023612" y="5596128"/>
            <a:ext cx="0" cy="182880"/>
          </a:xfrm>
          <a:prstGeom prst="line">
            <a:avLst/>
          </a:prstGeom>
          <a:noFill/>
          <a:ln w="6350">
            <a:solidFill>
              <a:srgbClr val="91A19B"/>
            </a:solidFill>
            <a:prstDash val="solid"/>
          </a:ln>
        </p:spPr>
      </p:sp>
      <p:sp>
        <p:nvSpPr>
          <p:cNvPr id="88" name="KW 4"/>
          <p:cNvSpPr txBox="1"/>
          <p:nvPr/>
        </p:nvSpPr>
        <p:spPr>
          <a:xfrm>
            <a:off x="102361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a:t>
            </a:r>
            <a:endParaRPr lang="en-US" sz="550" dirty="0"/>
          </a:p>
        </p:txBody>
      </p:sp>
      <p:sp>
        <p:nvSpPr>
          <p:cNvPr id="89" name="KW Strich 5"/>
          <p:cNvSpPr/>
          <p:nvPr/>
        </p:nvSpPr>
        <p:spPr>
          <a:xfrm>
            <a:off x="1208323" y="5596128"/>
            <a:ext cx="0" cy="182880"/>
          </a:xfrm>
          <a:prstGeom prst="line">
            <a:avLst/>
          </a:prstGeom>
          <a:noFill/>
          <a:ln w="6350">
            <a:solidFill>
              <a:srgbClr val="91A19B"/>
            </a:solidFill>
            <a:prstDash val="solid"/>
          </a:ln>
        </p:spPr>
      </p:sp>
      <p:sp>
        <p:nvSpPr>
          <p:cNvPr id="90" name="KW 5"/>
          <p:cNvSpPr txBox="1"/>
          <p:nvPr/>
        </p:nvSpPr>
        <p:spPr>
          <a:xfrm>
            <a:off x="120832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a:t>
            </a:r>
            <a:endParaRPr lang="en-US" sz="550" dirty="0"/>
          </a:p>
        </p:txBody>
      </p:sp>
      <p:sp>
        <p:nvSpPr>
          <p:cNvPr id="91" name="KW Strich 6"/>
          <p:cNvSpPr/>
          <p:nvPr/>
        </p:nvSpPr>
        <p:spPr>
          <a:xfrm>
            <a:off x="1393035" y="5596128"/>
            <a:ext cx="0" cy="182880"/>
          </a:xfrm>
          <a:prstGeom prst="line">
            <a:avLst/>
          </a:prstGeom>
          <a:noFill/>
          <a:ln w="6350">
            <a:solidFill>
              <a:srgbClr val="91A19B"/>
            </a:solidFill>
            <a:prstDash val="solid"/>
          </a:ln>
        </p:spPr>
      </p:sp>
      <p:sp>
        <p:nvSpPr>
          <p:cNvPr id="92" name="KW 6"/>
          <p:cNvSpPr txBox="1"/>
          <p:nvPr/>
        </p:nvSpPr>
        <p:spPr>
          <a:xfrm>
            <a:off x="139303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6</a:t>
            </a:r>
            <a:endParaRPr lang="en-US" sz="550" dirty="0"/>
          </a:p>
        </p:txBody>
      </p:sp>
      <p:sp>
        <p:nvSpPr>
          <p:cNvPr id="93" name="KW Strich 7"/>
          <p:cNvSpPr/>
          <p:nvPr/>
        </p:nvSpPr>
        <p:spPr>
          <a:xfrm>
            <a:off x="1577746" y="5596128"/>
            <a:ext cx="0" cy="182880"/>
          </a:xfrm>
          <a:prstGeom prst="line">
            <a:avLst/>
          </a:prstGeom>
          <a:noFill/>
          <a:ln w="6350">
            <a:solidFill>
              <a:srgbClr val="91A19B"/>
            </a:solidFill>
            <a:prstDash val="solid"/>
          </a:ln>
        </p:spPr>
      </p:sp>
      <p:sp>
        <p:nvSpPr>
          <p:cNvPr id="94" name="KW 7"/>
          <p:cNvSpPr txBox="1"/>
          <p:nvPr/>
        </p:nvSpPr>
        <p:spPr>
          <a:xfrm>
            <a:off x="157774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7</a:t>
            </a:r>
            <a:endParaRPr lang="en-US" sz="550" dirty="0"/>
          </a:p>
        </p:txBody>
      </p:sp>
      <p:sp>
        <p:nvSpPr>
          <p:cNvPr id="95" name="KW Strich 8"/>
          <p:cNvSpPr/>
          <p:nvPr/>
        </p:nvSpPr>
        <p:spPr>
          <a:xfrm>
            <a:off x="1762457" y="5596128"/>
            <a:ext cx="0" cy="182880"/>
          </a:xfrm>
          <a:prstGeom prst="line">
            <a:avLst/>
          </a:prstGeom>
          <a:noFill/>
          <a:ln w="6350">
            <a:solidFill>
              <a:srgbClr val="91A19B"/>
            </a:solidFill>
            <a:prstDash val="solid"/>
          </a:ln>
        </p:spPr>
      </p:sp>
      <p:sp>
        <p:nvSpPr>
          <p:cNvPr id="96" name="KW 8"/>
          <p:cNvSpPr txBox="1"/>
          <p:nvPr/>
        </p:nvSpPr>
        <p:spPr>
          <a:xfrm>
            <a:off x="176245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8</a:t>
            </a:r>
            <a:endParaRPr lang="en-US" sz="550" dirty="0"/>
          </a:p>
        </p:txBody>
      </p:sp>
      <p:sp>
        <p:nvSpPr>
          <p:cNvPr id="97" name="KW Strich 9"/>
          <p:cNvSpPr/>
          <p:nvPr/>
        </p:nvSpPr>
        <p:spPr>
          <a:xfrm>
            <a:off x="1947168" y="5596128"/>
            <a:ext cx="0" cy="182880"/>
          </a:xfrm>
          <a:prstGeom prst="line">
            <a:avLst/>
          </a:prstGeom>
          <a:noFill/>
          <a:ln w="6350">
            <a:solidFill>
              <a:srgbClr val="91A19B"/>
            </a:solidFill>
            <a:prstDash val="solid"/>
          </a:ln>
        </p:spPr>
      </p:sp>
      <p:sp>
        <p:nvSpPr>
          <p:cNvPr id="98" name="KW 9"/>
          <p:cNvSpPr txBox="1"/>
          <p:nvPr/>
        </p:nvSpPr>
        <p:spPr>
          <a:xfrm>
            <a:off x="194716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9</a:t>
            </a:r>
            <a:endParaRPr lang="en-US" sz="550" dirty="0"/>
          </a:p>
        </p:txBody>
      </p:sp>
      <p:sp>
        <p:nvSpPr>
          <p:cNvPr id="99" name="KW Strich 10"/>
          <p:cNvSpPr/>
          <p:nvPr/>
        </p:nvSpPr>
        <p:spPr>
          <a:xfrm>
            <a:off x="2131880" y="5596128"/>
            <a:ext cx="0" cy="182880"/>
          </a:xfrm>
          <a:prstGeom prst="line">
            <a:avLst/>
          </a:prstGeom>
          <a:noFill/>
          <a:ln w="6350">
            <a:solidFill>
              <a:srgbClr val="91A19B"/>
            </a:solidFill>
            <a:prstDash val="solid"/>
          </a:ln>
        </p:spPr>
      </p:sp>
      <p:sp>
        <p:nvSpPr>
          <p:cNvPr id="100" name="KW 10"/>
          <p:cNvSpPr txBox="1"/>
          <p:nvPr/>
        </p:nvSpPr>
        <p:spPr>
          <a:xfrm>
            <a:off x="213188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10</a:t>
            </a:r>
            <a:endParaRPr lang="en-US" sz="550" dirty="0"/>
          </a:p>
        </p:txBody>
      </p:sp>
      <p:sp>
        <p:nvSpPr>
          <p:cNvPr id="101" name="KW Strich 11"/>
          <p:cNvSpPr/>
          <p:nvPr/>
        </p:nvSpPr>
        <p:spPr>
          <a:xfrm>
            <a:off x="2316591" y="5596128"/>
            <a:ext cx="0" cy="182880"/>
          </a:xfrm>
          <a:prstGeom prst="line">
            <a:avLst/>
          </a:prstGeom>
          <a:noFill/>
          <a:ln w="6350">
            <a:solidFill>
              <a:srgbClr val="91A19B"/>
            </a:solidFill>
            <a:prstDash val="solid"/>
          </a:ln>
        </p:spPr>
      </p:sp>
      <p:sp>
        <p:nvSpPr>
          <p:cNvPr id="102" name="KW 11"/>
          <p:cNvSpPr txBox="1"/>
          <p:nvPr/>
        </p:nvSpPr>
        <p:spPr>
          <a:xfrm>
            <a:off x="231659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11</a:t>
            </a:r>
            <a:endParaRPr lang="en-US" sz="550" dirty="0"/>
          </a:p>
        </p:txBody>
      </p:sp>
      <p:sp>
        <p:nvSpPr>
          <p:cNvPr id="103" name="KW Strich 12"/>
          <p:cNvSpPr/>
          <p:nvPr/>
        </p:nvSpPr>
        <p:spPr>
          <a:xfrm>
            <a:off x="2501302" y="5596128"/>
            <a:ext cx="0" cy="182880"/>
          </a:xfrm>
          <a:prstGeom prst="line">
            <a:avLst/>
          </a:prstGeom>
          <a:noFill/>
          <a:ln w="6350">
            <a:solidFill>
              <a:srgbClr val="91A19B"/>
            </a:solidFill>
            <a:prstDash val="solid"/>
          </a:ln>
        </p:spPr>
      </p:sp>
      <p:sp>
        <p:nvSpPr>
          <p:cNvPr id="104" name="KW 12"/>
          <p:cNvSpPr txBox="1"/>
          <p:nvPr/>
        </p:nvSpPr>
        <p:spPr>
          <a:xfrm>
            <a:off x="250130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12</a:t>
            </a:r>
            <a:endParaRPr lang="en-US" sz="550" dirty="0"/>
          </a:p>
        </p:txBody>
      </p:sp>
      <p:sp>
        <p:nvSpPr>
          <p:cNvPr id="105" name="KW Strich 13"/>
          <p:cNvSpPr/>
          <p:nvPr/>
        </p:nvSpPr>
        <p:spPr>
          <a:xfrm>
            <a:off x="2686014" y="5596128"/>
            <a:ext cx="0" cy="182880"/>
          </a:xfrm>
          <a:prstGeom prst="line">
            <a:avLst/>
          </a:prstGeom>
          <a:noFill/>
          <a:ln w="6350">
            <a:solidFill>
              <a:srgbClr val="91A19B"/>
            </a:solidFill>
            <a:prstDash val="solid"/>
          </a:ln>
        </p:spPr>
      </p:sp>
      <p:sp>
        <p:nvSpPr>
          <p:cNvPr id="106" name="KW 13"/>
          <p:cNvSpPr txBox="1"/>
          <p:nvPr/>
        </p:nvSpPr>
        <p:spPr>
          <a:xfrm>
            <a:off x="268601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13</a:t>
            </a:r>
            <a:endParaRPr lang="en-US" sz="550" dirty="0"/>
          </a:p>
        </p:txBody>
      </p:sp>
      <p:sp>
        <p:nvSpPr>
          <p:cNvPr id="107" name="KW Strich 14"/>
          <p:cNvSpPr/>
          <p:nvPr/>
        </p:nvSpPr>
        <p:spPr>
          <a:xfrm>
            <a:off x="2870725" y="5596128"/>
            <a:ext cx="0" cy="182880"/>
          </a:xfrm>
          <a:prstGeom prst="line">
            <a:avLst/>
          </a:prstGeom>
          <a:noFill/>
          <a:ln w="6350">
            <a:solidFill>
              <a:srgbClr val="91A19B"/>
            </a:solidFill>
            <a:prstDash val="solid"/>
          </a:ln>
        </p:spPr>
      </p:sp>
      <p:sp>
        <p:nvSpPr>
          <p:cNvPr id="108" name="KW 14"/>
          <p:cNvSpPr txBox="1"/>
          <p:nvPr/>
        </p:nvSpPr>
        <p:spPr>
          <a:xfrm>
            <a:off x="287072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14</a:t>
            </a:r>
            <a:endParaRPr lang="en-US" sz="550" dirty="0"/>
          </a:p>
        </p:txBody>
      </p:sp>
      <p:sp>
        <p:nvSpPr>
          <p:cNvPr id="109" name="KW Strich 15"/>
          <p:cNvSpPr/>
          <p:nvPr/>
        </p:nvSpPr>
        <p:spPr>
          <a:xfrm>
            <a:off x="3055436" y="5596128"/>
            <a:ext cx="0" cy="182880"/>
          </a:xfrm>
          <a:prstGeom prst="line">
            <a:avLst/>
          </a:prstGeom>
          <a:noFill/>
          <a:ln w="6350">
            <a:solidFill>
              <a:srgbClr val="91A19B"/>
            </a:solidFill>
            <a:prstDash val="solid"/>
          </a:ln>
        </p:spPr>
      </p:sp>
      <p:sp>
        <p:nvSpPr>
          <p:cNvPr id="110" name="KW 15"/>
          <p:cNvSpPr txBox="1"/>
          <p:nvPr/>
        </p:nvSpPr>
        <p:spPr>
          <a:xfrm>
            <a:off x="305543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15</a:t>
            </a:r>
            <a:endParaRPr lang="en-US" sz="550" dirty="0"/>
          </a:p>
        </p:txBody>
      </p:sp>
      <p:sp>
        <p:nvSpPr>
          <p:cNvPr id="111" name="KW Strich 16"/>
          <p:cNvSpPr/>
          <p:nvPr/>
        </p:nvSpPr>
        <p:spPr>
          <a:xfrm>
            <a:off x="3240148" y="5596128"/>
            <a:ext cx="0" cy="182880"/>
          </a:xfrm>
          <a:prstGeom prst="line">
            <a:avLst/>
          </a:prstGeom>
          <a:noFill/>
          <a:ln w="6350">
            <a:solidFill>
              <a:srgbClr val="91A19B"/>
            </a:solidFill>
            <a:prstDash val="solid"/>
          </a:ln>
        </p:spPr>
      </p:sp>
      <p:sp>
        <p:nvSpPr>
          <p:cNvPr id="112" name="KW 16"/>
          <p:cNvSpPr txBox="1"/>
          <p:nvPr/>
        </p:nvSpPr>
        <p:spPr>
          <a:xfrm>
            <a:off x="324014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16</a:t>
            </a:r>
            <a:endParaRPr lang="en-US" sz="550" dirty="0"/>
          </a:p>
        </p:txBody>
      </p:sp>
      <p:sp>
        <p:nvSpPr>
          <p:cNvPr id="113" name="KW Strich 17"/>
          <p:cNvSpPr/>
          <p:nvPr/>
        </p:nvSpPr>
        <p:spPr>
          <a:xfrm>
            <a:off x="3424859" y="5596128"/>
            <a:ext cx="0" cy="182880"/>
          </a:xfrm>
          <a:prstGeom prst="line">
            <a:avLst/>
          </a:prstGeom>
          <a:noFill/>
          <a:ln w="6350">
            <a:solidFill>
              <a:srgbClr val="91A19B"/>
            </a:solidFill>
            <a:prstDash val="solid"/>
          </a:ln>
        </p:spPr>
      </p:sp>
      <p:sp>
        <p:nvSpPr>
          <p:cNvPr id="114" name="KW 17"/>
          <p:cNvSpPr txBox="1"/>
          <p:nvPr/>
        </p:nvSpPr>
        <p:spPr>
          <a:xfrm>
            <a:off x="342485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17</a:t>
            </a:r>
            <a:endParaRPr lang="en-US" sz="550" dirty="0"/>
          </a:p>
        </p:txBody>
      </p:sp>
      <p:sp>
        <p:nvSpPr>
          <p:cNvPr id="115" name="KW Strich 18"/>
          <p:cNvSpPr/>
          <p:nvPr/>
        </p:nvSpPr>
        <p:spPr>
          <a:xfrm>
            <a:off x="3609570" y="5596128"/>
            <a:ext cx="0" cy="182880"/>
          </a:xfrm>
          <a:prstGeom prst="line">
            <a:avLst/>
          </a:prstGeom>
          <a:noFill/>
          <a:ln w="6350">
            <a:solidFill>
              <a:srgbClr val="91A19B"/>
            </a:solidFill>
            <a:prstDash val="solid"/>
          </a:ln>
        </p:spPr>
      </p:sp>
      <p:sp>
        <p:nvSpPr>
          <p:cNvPr id="116" name="KW 18"/>
          <p:cNvSpPr txBox="1"/>
          <p:nvPr/>
        </p:nvSpPr>
        <p:spPr>
          <a:xfrm>
            <a:off x="360957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18</a:t>
            </a:r>
            <a:endParaRPr lang="en-US" sz="550" dirty="0"/>
          </a:p>
        </p:txBody>
      </p:sp>
      <p:sp>
        <p:nvSpPr>
          <p:cNvPr id="117" name="KW Strich 19"/>
          <p:cNvSpPr/>
          <p:nvPr/>
        </p:nvSpPr>
        <p:spPr>
          <a:xfrm>
            <a:off x="3794282" y="5596128"/>
            <a:ext cx="0" cy="182880"/>
          </a:xfrm>
          <a:prstGeom prst="line">
            <a:avLst/>
          </a:prstGeom>
          <a:noFill/>
          <a:ln w="6350">
            <a:solidFill>
              <a:srgbClr val="91A19B"/>
            </a:solidFill>
            <a:prstDash val="solid"/>
          </a:ln>
        </p:spPr>
      </p:sp>
      <p:sp>
        <p:nvSpPr>
          <p:cNvPr id="118" name="KW 19"/>
          <p:cNvSpPr txBox="1"/>
          <p:nvPr/>
        </p:nvSpPr>
        <p:spPr>
          <a:xfrm>
            <a:off x="379428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19</a:t>
            </a:r>
            <a:endParaRPr lang="en-US" sz="550" dirty="0"/>
          </a:p>
        </p:txBody>
      </p:sp>
      <p:sp>
        <p:nvSpPr>
          <p:cNvPr id="119" name="KW Strich 20"/>
          <p:cNvSpPr/>
          <p:nvPr/>
        </p:nvSpPr>
        <p:spPr>
          <a:xfrm>
            <a:off x="3978993" y="5596128"/>
            <a:ext cx="0" cy="182880"/>
          </a:xfrm>
          <a:prstGeom prst="line">
            <a:avLst/>
          </a:prstGeom>
          <a:noFill/>
          <a:ln w="6350">
            <a:solidFill>
              <a:srgbClr val="91A19B"/>
            </a:solidFill>
            <a:prstDash val="solid"/>
          </a:ln>
        </p:spPr>
      </p:sp>
      <p:sp>
        <p:nvSpPr>
          <p:cNvPr id="120" name="KW 20"/>
          <p:cNvSpPr txBox="1"/>
          <p:nvPr/>
        </p:nvSpPr>
        <p:spPr>
          <a:xfrm>
            <a:off x="397899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20</a:t>
            </a:r>
            <a:endParaRPr lang="en-US" sz="550" dirty="0"/>
          </a:p>
        </p:txBody>
      </p:sp>
      <p:sp>
        <p:nvSpPr>
          <p:cNvPr id="121" name="KW Strich 21"/>
          <p:cNvSpPr/>
          <p:nvPr/>
        </p:nvSpPr>
        <p:spPr>
          <a:xfrm>
            <a:off x="4163704" y="5596128"/>
            <a:ext cx="0" cy="182880"/>
          </a:xfrm>
          <a:prstGeom prst="line">
            <a:avLst/>
          </a:prstGeom>
          <a:noFill/>
          <a:ln w="6350">
            <a:solidFill>
              <a:srgbClr val="91A19B"/>
            </a:solidFill>
            <a:prstDash val="solid"/>
          </a:ln>
        </p:spPr>
      </p:sp>
      <p:sp>
        <p:nvSpPr>
          <p:cNvPr id="122" name="KW 21"/>
          <p:cNvSpPr txBox="1"/>
          <p:nvPr/>
        </p:nvSpPr>
        <p:spPr>
          <a:xfrm>
            <a:off x="416370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21</a:t>
            </a:r>
            <a:endParaRPr lang="en-US" sz="550" dirty="0"/>
          </a:p>
        </p:txBody>
      </p:sp>
      <p:sp>
        <p:nvSpPr>
          <p:cNvPr id="123" name="KW Strich 22"/>
          <p:cNvSpPr/>
          <p:nvPr/>
        </p:nvSpPr>
        <p:spPr>
          <a:xfrm>
            <a:off x="4348415" y="5596128"/>
            <a:ext cx="0" cy="182880"/>
          </a:xfrm>
          <a:prstGeom prst="line">
            <a:avLst/>
          </a:prstGeom>
          <a:noFill/>
          <a:ln w="6350">
            <a:solidFill>
              <a:srgbClr val="91A19B"/>
            </a:solidFill>
            <a:prstDash val="solid"/>
          </a:ln>
        </p:spPr>
      </p:sp>
      <p:sp>
        <p:nvSpPr>
          <p:cNvPr id="124" name="KW 22"/>
          <p:cNvSpPr txBox="1"/>
          <p:nvPr/>
        </p:nvSpPr>
        <p:spPr>
          <a:xfrm>
            <a:off x="434841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22</a:t>
            </a:r>
            <a:endParaRPr lang="en-US" sz="550" dirty="0"/>
          </a:p>
        </p:txBody>
      </p:sp>
      <p:sp>
        <p:nvSpPr>
          <p:cNvPr id="125" name="KW Strich 23"/>
          <p:cNvSpPr/>
          <p:nvPr/>
        </p:nvSpPr>
        <p:spPr>
          <a:xfrm>
            <a:off x="4533127" y="5596128"/>
            <a:ext cx="0" cy="182880"/>
          </a:xfrm>
          <a:prstGeom prst="line">
            <a:avLst/>
          </a:prstGeom>
          <a:noFill/>
          <a:ln w="6350">
            <a:solidFill>
              <a:srgbClr val="91A19B"/>
            </a:solidFill>
            <a:prstDash val="solid"/>
          </a:ln>
        </p:spPr>
      </p:sp>
      <p:sp>
        <p:nvSpPr>
          <p:cNvPr id="126" name="KW 23"/>
          <p:cNvSpPr txBox="1"/>
          <p:nvPr/>
        </p:nvSpPr>
        <p:spPr>
          <a:xfrm>
            <a:off x="453312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23</a:t>
            </a:r>
            <a:endParaRPr lang="en-US" sz="550" dirty="0"/>
          </a:p>
        </p:txBody>
      </p:sp>
      <p:sp>
        <p:nvSpPr>
          <p:cNvPr id="127" name="KW Strich 24"/>
          <p:cNvSpPr/>
          <p:nvPr/>
        </p:nvSpPr>
        <p:spPr>
          <a:xfrm>
            <a:off x="4717838" y="5596128"/>
            <a:ext cx="0" cy="182880"/>
          </a:xfrm>
          <a:prstGeom prst="line">
            <a:avLst/>
          </a:prstGeom>
          <a:noFill/>
          <a:ln w="6350">
            <a:solidFill>
              <a:srgbClr val="91A19B"/>
            </a:solidFill>
            <a:prstDash val="solid"/>
          </a:ln>
        </p:spPr>
      </p:sp>
      <p:sp>
        <p:nvSpPr>
          <p:cNvPr id="128" name="KW 24"/>
          <p:cNvSpPr txBox="1"/>
          <p:nvPr/>
        </p:nvSpPr>
        <p:spPr>
          <a:xfrm>
            <a:off x="471783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24</a:t>
            </a:r>
            <a:endParaRPr lang="en-US" sz="550" dirty="0"/>
          </a:p>
        </p:txBody>
      </p:sp>
      <p:sp>
        <p:nvSpPr>
          <p:cNvPr id="129" name="KW Strich 25"/>
          <p:cNvSpPr/>
          <p:nvPr/>
        </p:nvSpPr>
        <p:spPr>
          <a:xfrm>
            <a:off x="4902549" y="5596128"/>
            <a:ext cx="0" cy="182880"/>
          </a:xfrm>
          <a:prstGeom prst="line">
            <a:avLst/>
          </a:prstGeom>
          <a:noFill/>
          <a:ln w="6350">
            <a:solidFill>
              <a:srgbClr val="91A19B"/>
            </a:solidFill>
            <a:prstDash val="solid"/>
          </a:ln>
        </p:spPr>
      </p:sp>
      <p:sp>
        <p:nvSpPr>
          <p:cNvPr id="130" name="KW 25"/>
          <p:cNvSpPr txBox="1"/>
          <p:nvPr/>
        </p:nvSpPr>
        <p:spPr>
          <a:xfrm>
            <a:off x="490254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25</a:t>
            </a:r>
            <a:endParaRPr lang="en-US" sz="550" dirty="0"/>
          </a:p>
        </p:txBody>
      </p:sp>
      <p:sp>
        <p:nvSpPr>
          <p:cNvPr id="131" name="KW Strich 26"/>
          <p:cNvSpPr/>
          <p:nvPr/>
        </p:nvSpPr>
        <p:spPr>
          <a:xfrm>
            <a:off x="5087261" y="5596128"/>
            <a:ext cx="0" cy="182880"/>
          </a:xfrm>
          <a:prstGeom prst="line">
            <a:avLst/>
          </a:prstGeom>
          <a:noFill/>
          <a:ln w="6350">
            <a:solidFill>
              <a:srgbClr val="91A19B"/>
            </a:solidFill>
            <a:prstDash val="solid"/>
          </a:ln>
        </p:spPr>
      </p:sp>
      <p:sp>
        <p:nvSpPr>
          <p:cNvPr id="132" name="KW 26"/>
          <p:cNvSpPr txBox="1"/>
          <p:nvPr/>
        </p:nvSpPr>
        <p:spPr>
          <a:xfrm>
            <a:off x="508726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26</a:t>
            </a:r>
            <a:endParaRPr lang="en-US" sz="550" dirty="0"/>
          </a:p>
        </p:txBody>
      </p:sp>
      <p:sp>
        <p:nvSpPr>
          <p:cNvPr id="133" name="KW Strich 27"/>
          <p:cNvSpPr/>
          <p:nvPr/>
        </p:nvSpPr>
        <p:spPr>
          <a:xfrm>
            <a:off x="5271972" y="5596128"/>
            <a:ext cx="0" cy="182880"/>
          </a:xfrm>
          <a:prstGeom prst="line">
            <a:avLst/>
          </a:prstGeom>
          <a:noFill/>
          <a:ln w="6350">
            <a:solidFill>
              <a:srgbClr val="91A19B"/>
            </a:solidFill>
            <a:prstDash val="solid"/>
          </a:ln>
        </p:spPr>
      </p:sp>
      <p:sp>
        <p:nvSpPr>
          <p:cNvPr id="134" name="KW 27"/>
          <p:cNvSpPr txBox="1"/>
          <p:nvPr/>
        </p:nvSpPr>
        <p:spPr>
          <a:xfrm>
            <a:off x="527197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27</a:t>
            </a:r>
            <a:endParaRPr lang="en-US" sz="550" dirty="0"/>
          </a:p>
        </p:txBody>
      </p:sp>
      <p:sp>
        <p:nvSpPr>
          <p:cNvPr id="135" name="KW Strich 28"/>
          <p:cNvSpPr/>
          <p:nvPr/>
        </p:nvSpPr>
        <p:spPr>
          <a:xfrm>
            <a:off x="5456683" y="5596128"/>
            <a:ext cx="0" cy="182880"/>
          </a:xfrm>
          <a:prstGeom prst="line">
            <a:avLst/>
          </a:prstGeom>
          <a:noFill/>
          <a:ln w="6350">
            <a:solidFill>
              <a:srgbClr val="91A19B"/>
            </a:solidFill>
            <a:prstDash val="solid"/>
          </a:ln>
        </p:spPr>
      </p:sp>
      <p:sp>
        <p:nvSpPr>
          <p:cNvPr id="136" name="KW 28"/>
          <p:cNvSpPr txBox="1"/>
          <p:nvPr/>
        </p:nvSpPr>
        <p:spPr>
          <a:xfrm>
            <a:off x="545668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28</a:t>
            </a:r>
            <a:endParaRPr lang="en-US" sz="550" dirty="0"/>
          </a:p>
        </p:txBody>
      </p:sp>
      <p:sp>
        <p:nvSpPr>
          <p:cNvPr id="137" name="KW Strich 29"/>
          <p:cNvSpPr/>
          <p:nvPr/>
        </p:nvSpPr>
        <p:spPr>
          <a:xfrm>
            <a:off x="5641395" y="5596128"/>
            <a:ext cx="0" cy="182880"/>
          </a:xfrm>
          <a:prstGeom prst="line">
            <a:avLst/>
          </a:prstGeom>
          <a:noFill/>
          <a:ln w="6350">
            <a:solidFill>
              <a:srgbClr val="91A19B"/>
            </a:solidFill>
            <a:prstDash val="solid"/>
          </a:ln>
        </p:spPr>
      </p:sp>
      <p:sp>
        <p:nvSpPr>
          <p:cNvPr id="138" name="KW 29"/>
          <p:cNvSpPr txBox="1"/>
          <p:nvPr/>
        </p:nvSpPr>
        <p:spPr>
          <a:xfrm>
            <a:off x="564139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29</a:t>
            </a:r>
            <a:endParaRPr lang="en-US" sz="550" dirty="0"/>
          </a:p>
        </p:txBody>
      </p:sp>
      <p:sp>
        <p:nvSpPr>
          <p:cNvPr id="139" name="KW Strich 30"/>
          <p:cNvSpPr/>
          <p:nvPr/>
        </p:nvSpPr>
        <p:spPr>
          <a:xfrm>
            <a:off x="5826106" y="5596128"/>
            <a:ext cx="0" cy="182880"/>
          </a:xfrm>
          <a:prstGeom prst="line">
            <a:avLst/>
          </a:prstGeom>
          <a:noFill/>
          <a:ln w="6350">
            <a:solidFill>
              <a:srgbClr val="91A19B"/>
            </a:solidFill>
            <a:prstDash val="solid"/>
          </a:ln>
        </p:spPr>
      </p:sp>
      <p:sp>
        <p:nvSpPr>
          <p:cNvPr id="140" name="KW 30"/>
          <p:cNvSpPr txBox="1"/>
          <p:nvPr/>
        </p:nvSpPr>
        <p:spPr>
          <a:xfrm>
            <a:off x="582610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30</a:t>
            </a:r>
            <a:endParaRPr lang="en-US" sz="550" dirty="0"/>
          </a:p>
        </p:txBody>
      </p:sp>
      <p:sp>
        <p:nvSpPr>
          <p:cNvPr id="141" name="KW Strich 31"/>
          <p:cNvSpPr/>
          <p:nvPr/>
        </p:nvSpPr>
        <p:spPr>
          <a:xfrm>
            <a:off x="6010817" y="5596128"/>
            <a:ext cx="0" cy="182880"/>
          </a:xfrm>
          <a:prstGeom prst="line">
            <a:avLst/>
          </a:prstGeom>
          <a:noFill/>
          <a:ln w="6350">
            <a:solidFill>
              <a:srgbClr val="91A19B"/>
            </a:solidFill>
            <a:prstDash val="solid"/>
          </a:ln>
        </p:spPr>
      </p:sp>
      <p:sp>
        <p:nvSpPr>
          <p:cNvPr id="142" name="KW 31"/>
          <p:cNvSpPr txBox="1"/>
          <p:nvPr/>
        </p:nvSpPr>
        <p:spPr>
          <a:xfrm>
            <a:off x="601081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31</a:t>
            </a:r>
            <a:endParaRPr lang="en-US" sz="550" dirty="0"/>
          </a:p>
        </p:txBody>
      </p:sp>
      <p:sp>
        <p:nvSpPr>
          <p:cNvPr id="143" name="KW Strich 32"/>
          <p:cNvSpPr/>
          <p:nvPr/>
        </p:nvSpPr>
        <p:spPr>
          <a:xfrm>
            <a:off x="6195528" y="5596128"/>
            <a:ext cx="0" cy="182880"/>
          </a:xfrm>
          <a:prstGeom prst="line">
            <a:avLst/>
          </a:prstGeom>
          <a:noFill/>
          <a:ln w="6350">
            <a:solidFill>
              <a:srgbClr val="91A19B"/>
            </a:solidFill>
            <a:prstDash val="solid"/>
          </a:ln>
        </p:spPr>
      </p:sp>
      <p:sp>
        <p:nvSpPr>
          <p:cNvPr id="144" name="KW 32"/>
          <p:cNvSpPr txBox="1"/>
          <p:nvPr/>
        </p:nvSpPr>
        <p:spPr>
          <a:xfrm>
            <a:off x="619552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32</a:t>
            </a:r>
            <a:endParaRPr lang="en-US" sz="550" dirty="0"/>
          </a:p>
        </p:txBody>
      </p:sp>
      <p:sp>
        <p:nvSpPr>
          <p:cNvPr id="145" name="KW Strich 33"/>
          <p:cNvSpPr/>
          <p:nvPr/>
        </p:nvSpPr>
        <p:spPr>
          <a:xfrm>
            <a:off x="6380240" y="5596128"/>
            <a:ext cx="0" cy="182880"/>
          </a:xfrm>
          <a:prstGeom prst="line">
            <a:avLst/>
          </a:prstGeom>
          <a:noFill/>
          <a:ln w="6350">
            <a:solidFill>
              <a:srgbClr val="91A19B"/>
            </a:solidFill>
            <a:prstDash val="solid"/>
          </a:ln>
        </p:spPr>
      </p:sp>
      <p:sp>
        <p:nvSpPr>
          <p:cNvPr id="146" name="KW 33"/>
          <p:cNvSpPr txBox="1"/>
          <p:nvPr/>
        </p:nvSpPr>
        <p:spPr>
          <a:xfrm>
            <a:off x="638024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33</a:t>
            </a:r>
            <a:endParaRPr lang="en-US" sz="550" dirty="0"/>
          </a:p>
        </p:txBody>
      </p:sp>
      <p:sp>
        <p:nvSpPr>
          <p:cNvPr id="147" name="KW Strich 34"/>
          <p:cNvSpPr/>
          <p:nvPr/>
        </p:nvSpPr>
        <p:spPr>
          <a:xfrm>
            <a:off x="6564951" y="5596128"/>
            <a:ext cx="0" cy="182880"/>
          </a:xfrm>
          <a:prstGeom prst="line">
            <a:avLst/>
          </a:prstGeom>
          <a:noFill/>
          <a:ln w="6350">
            <a:solidFill>
              <a:srgbClr val="91A19B"/>
            </a:solidFill>
            <a:prstDash val="solid"/>
          </a:ln>
        </p:spPr>
      </p:sp>
      <p:sp>
        <p:nvSpPr>
          <p:cNvPr id="148" name="KW 34"/>
          <p:cNvSpPr txBox="1"/>
          <p:nvPr/>
        </p:nvSpPr>
        <p:spPr>
          <a:xfrm>
            <a:off x="656495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34</a:t>
            </a:r>
            <a:endParaRPr lang="en-US" sz="550" dirty="0"/>
          </a:p>
        </p:txBody>
      </p:sp>
      <p:sp>
        <p:nvSpPr>
          <p:cNvPr id="149" name="KW Strich 35"/>
          <p:cNvSpPr/>
          <p:nvPr/>
        </p:nvSpPr>
        <p:spPr>
          <a:xfrm>
            <a:off x="6749662" y="5596128"/>
            <a:ext cx="0" cy="182880"/>
          </a:xfrm>
          <a:prstGeom prst="line">
            <a:avLst/>
          </a:prstGeom>
          <a:noFill/>
          <a:ln w="6350">
            <a:solidFill>
              <a:srgbClr val="91A19B"/>
            </a:solidFill>
            <a:prstDash val="solid"/>
          </a:ln>
        </p:spPr>
      </p:sp>
      <p:sp>
        <p:nvSpPr>
          <p:cNvPr id="150" name="KW 35"/>
          <p:cNvSpPr txBox="1"/>
          <p:nvPr/>
        </p:nvSpPr>
        <p:spPr>
          <a:xfrm>
            <a:off x="674966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35</a:t>
            </a:r>
            <a:endParaRPr lang="en-US" sz="550" dirty="0"/>
          </a:p>
        </p:txBody>
      </p:sp>
      <p:sp>
        <p:nvSpPr>
          <p:cNvPr id="151" name="KW Strich 36"/>
          <p:cNvSpPr/>
          <p:nvPr/>
        </p:nvSpPr>
        <p:spPr>
          <a:xfrm>
            <a:off x="6934374" y="5596128"/>
            <a:ext cx="0" cy="182880"/>
          </a:xfrm>
          <a:prstGeom prst="line">
            <a:avLst/>
          </a:prstGeom>
          <a:noFill/>
          <a:ln w="6350">
            <a:solidFill>
              <a:srgbClr val="91A19B"/>
            </a:solidFill>
            <a:prstDash val="solid"/>
          </a:ln>
        </p:spPr>
      </p:sp>
      <p:sp>
        <p:nvSpPr>
          <p:cNvPr id="152" name="KW 36"/>
          <p:cNvSpPr txBox="1"/>
          <p:nvPr/>
        </p:nvSpPr>
        <p:spPr>
          <a:xfrm>
            <a:off x="693437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36</a:t>
            </a:r>
            <a:endParaRPr lang="en-US" sz="550" dirty="0"/>
          </a:p>
        </p:txBody>
      </p:sp>
      <p:sp>
        <p:nvSpPr>
          <p:cNvPr id="153" name="KW Strich 37"/>
          <p:cNvSpPr/>
          <p:nvPr/>
        </p:nvSpPr>
        <p:spPr>
          <a:xfrm>
            <a:off x="7119085" y="5596128"/>
            <a:ext cx="0" cy="182880"/>
          </a:xfrm>
          <a:prstGeom prst="line">
            <a:avLst/>
          </a:prstGeom>
          <a:noFill/>
          <a:ln w="6350">
            <a:solidFill>
              <a:srgbClr val="91A19B"/>
            </a:solidFill>
            <a:prstDash val="solid"/>
          </a:ln>
        </p:spPr>
      </p:sp>
      <p:sp>
        <p:nvSpPr>
          <p:cNvPr id="154" name="KW 37"/>
          <p:cNvSpPr txBox="1"/>
          <p:nvPr/>
        </p:nvSpPr>
        <p:spPr>
          <a:xfrm>
            <a:off x="711908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37</a:t>
            </a:r>
            <a:endParaRPr lang="en-US" sz="550" dirty="0"/>
          </a:p>
        </p:txBody>
      </p:sp>
      <p:sp>
        <p:nvSpPr>
          <p:cNvPr id="155" name="KW Strich 38"/>
          <p:cNvSpPr/>
          <p:nvPr/>
        </p:nvSpPr>
        <p:spPr>
          <a:xfrm>
            <a:off x="7303796" y="5596128"/>
            <a:ext cx="0" cy="182880"/>
          </a:xfrm>
          <a:prstGeom prst="line">
            <a:avLst/>
          </a:prstGeom>
          <a:noFill/>
          <a:ln w="6350">
            <a:solidFill>
              <a:srgbClr val="91A19B"/>
            </a:solidFill>
            <a:prstDash val="solid"/>
          </a:ln>
        </p:spPr>
      </p:sp>
      <p:sp>
        <p:nvSpPr>
          <p:cNvPr id="156" name="KW 38"/>
          <p:cNvSpPr txBox="1"/>
          <p:nvPr/>
        </p:nvSpPr>
        <p:spPr>
          <a:xfrm>
            <a:off x="7303796"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38</a:t>
            </a:r>
            <a:endParaRPr lang="en-US" sz="550" dirty="0"/>
          </a:p>
        </p:txBody>
      </p:sp>
      <p:sp>
        <p:nvSpPr>
          <p:cNvPr id="157" name="KW Strich 39"/>
          <p:cNvSpPr/>
          <p:nvPr/>
        </p:nvSpPr>
        <p:spPr>
          <a:xfrm>
            <a:off x="7488508" y="5596128"/>
            <a:ext cx="0" cy="182880"/>
          </a:xfrm>
          <a:prstGeom prst="line">
            <a:avLst/>
          </a:prstGeom>
          <a:noFill/>
          <a:ln w="6350">
            <a:solidFill>
              <a:srgbClr val="91A19B"/>
            </a:solidFill>
            <a:prstDash val="solid"/>
          </a:ln>
        </p:spPr>
      </p:sp>
      <p:sp>
        <p:nvSpPr>
          <p:cNvPr id="158" name="KW 39"/>
          <p:cNvSpPr txBox="1"/>
          <p:nvPr/>
        </p:nvSpPr>
        <p:spPr>
          <a:xfrm>
            <a:off x="748850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39</a:t>
            </a:r>
            <a:endParaRPr lang="en-US" sz="550" dirty="0"/>
          </a:p>
        </p:txBody>
      </p:sp>
      <p:sp>
        <p:nvSpPr>
          <p:cNvPr id="159" name="KW Strich 40"/>
          <p:cNvSpPr/>
          <p:nvPr/>
        </p:nvSpPr>
        <p:spPr>
          <a:xfrm>
            <a:off x="7673219" y="5596128"/>
            <a:ext cx="0" cy="182880"/>
          </a:xfrm>
          <a:prstGeom prst="line">
            <a:avLst/>
          </a:prstGeom>
          <a:noFill/>
          <a:ln w="6350">
            <a:solidFill>
              <a:srgbClr val="91A19B"/>
            </a:solidFill>
            <a:prstDash val="solid"/>
          </a:ln>
        </p:spPr>
      </p:sp>
      <p:sp>
        <p:nvSpPr>
          <p:cNvPr id="160" name="KW 40"/>
          <p:cNvSpPr txBox="1"/>
          <p:nvPr/>
        </p:nvSpPr>
        <p:spPr>
          <a:xfrm>
            <a:off x="767321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40</a:t>
            </a:r>
            <a:endParaRPr lang="en-US" sz="550" dirty="0"/>
          </a:p>
        </p:txBody>
      </p:sp>
      <p:sp>
        <p:nvSpPr>
          <p:cNvPr id="161" name="KW Strich 41"/>
          <p:cNvSpPr/>
          <p:nvPr/>
        </p:nvSpPr>
        <p:spPr>
          <a:xfrm>
            <a:off x="7857930" y="5596128"/>
            <a:ext cx="0" cy="182880"/>
          </a:xfrm>
          <a:prstGeom prst="line">
            <a:avLst/>
          </a:prstGeom>
          <a:noFill/>
          <a:ln w="6350">
            <a:solidFill>
              <a:srgbClr val="91A19B"/>
            </a:solidFill>
            <a:prstDash val="solid"/>
          </a:ln>
        </p:spPr>
      </p:sp>
      <p:sp>
        <p:nvSpPr>
          <p:cNvPr id="162" name="KW 41"/>
          <p:cNvSpPr txBox="1"/>
          <p:nvPr/>
        </p:nvSpPr>
        <p:spPr>
          <a:xfrm>
            <a:off x="7857930"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41</a:t>
            </a:r>
            <a:endParaRPr lang="en-US" sz="550" dirty="0"/>
          </a:p>
        </p:txBody>
      </p:sp>
      <p:sp>
        <p:nvSpPr>
          <p:cNvPr id="163" name="KW Strich 42"/>
          <p:cNvSpPr/>
          <p:nvPr/>
        </p:nvSpPr>
        <p:spPr>
          <a:xfrm>
            <a:off x="8042642" y="5596128"/>
            <a:ext cx="0" cy="182880"/>
          </a:xfrm>
          <a:prstGeom prst="line">
            <a:avLst/>
          </a:prstGeom>
          <a:noFill/>
          <a:ln w="6350">
            <a:solidFill>
              <a:srgbClr val="91A19B"/>
            </a:solidFill>
            <a:prstDash val="solid"/>
          </a:ln>
        </p:spPr>
      </p:sp>
      <p:sp>
        <p:nvSpPr>
          <p:cNvPr id="164" name="KW 42"/>
          <p:cNvSpPr txBox="1"/>
          <p:nvPr/>
        </p:nvSpPr>
        <p:spPr>
          <a:xfrm>
            <a:off x="804264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42</a:t>
            </a:r>
            <a:endParaRPr lang="en-US" sz="550" dirty="0"/>
          </a:p>
        </p:txBody>
      </p:sp>
      <p:sp>
        <p:nvSpPr>
          <p:cNvPr id="165" name="KW Strich 43"/>
          <p:cNvSpPr/>
          <p:nvPr/>
        </p:nvSpPr>
        <p:spPr>
          <a:xfrm>
            <a:off x="8227353" y="5596128"/>
            <a:ext cx="0" cy="182880"/>
          </a:xfrm>
          <a:prstGeom prst="line">
            <a:avLst/>
          </a:prstGeom>
          <a:noFill/>
          <a:ln w="6350">
            <a:solidFill>
              <a:srgbClr val="91A19B"/>
            </a:solidFill>
            <a:prstDash val="solid"/>
          </a:ln>
        </p:spPr>
      </p:sp>
      <p:sp>
        <p:nvSpPr>
          <p:cNvPr id="166" name="KW 43"/>
          <p:cNvSpPr txBox="1"/>
          <p:nvPr/>
        </p:nvSpPr>
        <p:spPr>
          <a:xfrm>
            <a:off x="822735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43</a:t>
            </a:r>
            <a:endParaRPr lang="en-US" sz="550" dirty="0"/>
          </a:p>
        </p:txBody>
      </p:sp>
      <p:sp>
        <p:nvSpPr>
          <p:cNvPr id="167" name="KW Strich 44"/>
          <p:cNvSpPr/>
          <p:nvPr/>
        </p:nvSpPr>
        <p:spPr>
          <a:xfrm>
            <a:off x="8412064" y="5596128"/>
            <a:ext cx="0" cy="182880"/>
          </a:xfrm>
          <a:prstGeom prst="line">
            <a:avLst/>
          </a:prstGeom>
          <a:noFill/>
          <a:ln w="6350">
            <a:solidFill>
              <a:srgbClr val="91A19B"/>
            </a:solidFill>
            <a:prstDash val="solid"/>
          </a:ln>
        </p:spPr>
      </p:sp>
      <p:sp>
        <p:nvSpPr>
          <p:cNvPr id="168" name="KW 44"/>
          <p:cNvSpPr txBox="1"/>
          <p:nvPr/>
        </p:nvSpPr>
        <p:spPr>
          <a:xfrm>
            <a:off x="8412064"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44</a:t>
            </a:r>
            <a:endParaRPr lang="en-US" sz="550" dirty="0"/>
          </a:p>
        </p:txBody>
      </p:sp>
      <p:sp>
        <p:nvSpPr>
          <p:cNvPr id="169" name="KW Strich 45"/>
          <p:cNvSpPr/>
          <p:nvPr/>
        </p:nvSpPr>
        <p:spPr>
          <a:xfrm>
            <a:off x="8596775" y="5596128"/>
            <a:ext cx="0" cy="182880"/>
          </a:xfrm>
          <a:prstGeom prst="line">
            <a:avLst/>
          </a:prstGeom>
          <a:noFill/>
          <a:ln w="6350">
            <a:solidFill>
              <a:srgbClr val="91A19B"/>
            </a:solidFill>
            <a:prstDash val="solid"/>
          </a:ln>
        </p:spPr>
      </p:sp>
      <p:sp>
        <p:nvSpPr>
          <p:cNvPr id="170" name="KW 45"/>
          <p:cNvSpPr txBox="1"/>
          <p:nvPr/>
        </p:nvSpPr>
        <p:spPr>
          <a:xfrm>
            <a:off x="859677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45</a:t>
            </a:r>
            <a:endParaRPr lang="en-US" sz="550" dirty="0"/>
          </a:p>
        </p:txBody>
      </p:sp>
      <p:sp>
        <p:nvSpPr>
          <p:cNvPr id="171" name="KW Strich 46"/>
          <p:cNvSpPr/>
          <p:nvPr/>
        </p:nvSpPr>
        <p:spPr>
          <a:xfrm>
            <a:off x="8781487" y="5596128"/>
            <a:ext cx="0" cy="182880"/>
          </a:xfrm>
          <a:prstGeom prst="line">
            <a:avLst/>
          </a:prstGeom>
          <a:noFill/>
          <a:ln w="6350">
            <a:solidFill>
              <a:srgbClr val="91A19B"/>
            </a:solidFill>
            <a:prstDash val="solid"/>
          </a:ln>
        </p:spPr>
      </p:sp>
      <p:sp>
        <p:nvSpPr>
          <p:cNvPr id="172" name="KW 46"/>
          <p:cNvSpPr txBox="1"/>
          <p:nvPr/>
        </p:nvSpPr>
        <p:spPr>
          <a:xfrm>
            <a:off x="8781487"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46</a:t>
            </a:r>
            <a:endParaRPr lang="en-US" sz="550" dirty="0"/>
          </a:p>
        </p:txBody>
      </p:sp>
      <p:sp>
        <p:nvSpPr>
          <p:cNvPr id="173" name="KW Strich 47"/>
          <p:cNvSpPr/>
          <p:nvPr/>
        </p:nvSpPr>
        <p:spPr>
          <a:xfrm>
            <a:off x="8966198" y="5596128"/>
            <a:ext cx="0" cy="182880"/>
          </a:xfrm>
          <a:prstGeom prst="line">
            <a:avLst/>
          </a:prstGeom>
          <a:noFill/>
          <a:ln w="6350">
            <a:solidFill>
              <a:srgbClr val="91A19B"/>
            </a:solidFill>
            <a:prstDash val="solid"/>
          </a:ln>
        </p:spPr>
      </p:sp>
      <p:sp>
        <p:nvSpPr>
          <p:cNvPr id="174" name="KW 47"/>
          <p:cNvSpPr txBox="1"/>
          <p:nvPr/>
        </p:nvSpPr>
        <p:spPr>
          <a:xfrm>
            <a:off x="8966198"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47</a:t>
            </a:r>
            <a:endParaRPr lang="en-US" sz="550" dirty="0"/>
          </a:p>
        </p:txBody>
      </p:sp>
      <p:sp>
        <p:nvSpPr>
          <p:cNvPr id="175" name="KW Strich 48"/>
          <p:cNvSpPr/>
          <p:nvPr/>
        </p:nvSpPr>
        <p:spPr>
          <a:xfrm>
            <a:off x="9150909" y="5596128"/>
            <a:ext cx="0" cy="182880"/>
          </a:xfrm>
          <a:prstGeom prst="line">
            <a:avLst/>
          </a:prstGeom>
          <a:noFill/>
          <a:ln w="6350">
            <a:solidFill>
              <a:srgbClr val="91A19B"/>
            </a:solidFill>
            <a:prstDash val="solid"/>
          </a:ln>
        </p:spPr>
      </p:sp>
      <p:sp>
        <p:nvSpPr>
          <p:cNvPr id="176" name="KW 48"/>
          <p:cNvSpPr txBox="1"/>
          <p:nvPr/>
        </p:nvSpPr>
        <p:spPr>
          <a:xfrm>
            <a:off x="9150909"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48</a:t>
            </a:r>
            <a:endParaRPr lang="en-US" sz="550" dirty="0"/>
          </a:p>
        </p:txBody>
      </p:sp>
      <p:sp>
        <p:nvSpPr>
          <p:cNvPr id="177" name="KW Strich 49"/>
          <p:cNvSpPr/>
          <p:nvPr/>
        </p:nvSpPr>
        <p:spPr>
          <a:xfrm>
            <a:off x="9335621" y="5596128"/>
            <a:ext cx="0" cy="182880"/>
          </a:xfrm>
          <a:prstGeom prst="line">
            <a:avLst/>
          </a:prstGeom>
          <a:noFill/>
          <a:ln w="6350">
            <a:solidFill>
              <a:srgbClr val="91A19B"/>
            </a:solidFill>
            <a:prstDash val="solid"/>
          </a:ln>
        </p:spPr>
      </p:sp>
      <p:sp>
        <p:nvSpPr>
          <p:cNvPr id="178" name="KW 49"/>
          <p:cNvSpPr txBox="1"/>
          <p:nvPr/>
        </p:nvSpPr>
        <p:spPr>
          <a:xfrm>
            <a:off x="9335621"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49</a:t>
            </a:r>
            <a:endParaRPr lang="en-US" sz="550" dirty="0"/>
          </a:p>
        </p:txBody>
      </p:sp>
      <p:sp>
        <p:nvSpPr>
          <p:cNvPr id="179" name="KW Strich 50"/>
          <p:cNvSpPr/>
          <p:nvPr/>
        </p:nvSpPr>
        <p:spPr>
          <a:xfrm>
            <a:off x="9520332" y="5596128"/>
            <a:ext cx="0" cy="182880"/>
          </a:xfrm>
          <a:prstGeom prst="line">
            <a:avLst/>
          </a:prstGeom>
          <a:noFill/>
          <a:ln w="6350">
            <a:solidFill>
              <a:srgbClr val="91A19B"/>
            </a:solidFill>
            <a:prstDash val="solid"/>
          </a:ln>
        </p:spPr>
      </p:sp>
      <p:sp>
        <p:nvSpPr>
          <p:cNvPr id="180" name="KW 50"/>
          <p:cNvSpPr txBox="1"/>
          <p:nvPr/>
        </p:nvSpPr>
        <p:spPr>
          <a:xfrm>
            <a:off x="9520332"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50</a:t>
            </a:r>
            <a:endParaRPr lang="en-US" sz="550" dirty="0"/>
          </a:p>
        </p:txBody>
      </p:sp>
      <p:sp>
        <p:nvSpPr>
          <p:cNvPr id="181" name="KW Strich 51"/>
          <p:cNvSpPr/>
          <p:nvPr/>
        </p:nvSpPr>
        <p:spPr>
          <a:xfrm>
            <a:off x="9705043" y="5596128"/>
            <a:ext cx="0" cy="182880"/>
          </a:xfrm>
          <a:prstGeom prst="line">
            <a:avLst/>
          </a:prstGeom>
          <a:noFill/>
          <a:ln w="6350">
            <a:solidFill>
              <a:srgbClr val="91A19B"/>
            </a:solidFill>
            <a:prstDash val="solid"/>
          </a:ln>
        </p:spPr>
      </p:sp>
      <p:sp>
        <p:nvSpPr>
          <p:cNvPr id="182" name="KW 51"/>
          <p:cNvSpPr txBox="1"/>
          <p:nvPr/>
        </p:nvSpPr>
        <p:spPr>
          <a:xfrm>
            <a:off x="9705043"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51</a:t>
            </a:r>
            <a:endParaRPr lang="en-US" sz="550" dirty="0"/>
          </a:p>
        </p:txBody>
      </p:sp>
      <p:sp>
        <p:nvSpPr>
          <p:cNvPr id="183" name="KW Strich 52"/>
          <p:cNvSpPr/>
          <p:nvPr/>
        </p:nvSpPr>
        <p:spPr>
          <a:xfrm>
            <a:off x="9889755" y="5596128"/>
            <a:ext cx="0" cy="182880"/>
          </a:xfrm>
          <a:prstGeom prst="line">
            <a:avLst/>
          </a:prstGeom>
          <a:noFill/>
          <a:ln w="6350">
            <a:solidFill>
              <a:srgbClr val="91A19B"/>
            </a:solidFill>
            <a:prstDash val="solid"/>
          </a:ln>
        </p:spPr>
      </p:sp>
      <p:sp>
        <p:nvSpPr>
          <p:cNvPr id="184" name="KW 52"/>
          <p:cNvSpPr txBox="1"/>
          <p:nvPr/>
        </p:nvSpPr>
        <p:spPr>
          <a:xfrm>
            <a:off x="9889755" y="5596128"/>
            <a:ext cx="184711" cy="182880"/>
          </a:xfrm>
          <a:prstGeom prst="rect">
            <a:avLst/>
          </a:prstGeom>
          <a:noFill/>
          <a:ln/>
        </p:spPr>
        <p:txBody>
          <a:bodyPr wrap="square" lIns="0" tIns="0" rIns="0" bIns="0" rtlCol="0" anchor="ctr"/>
          <a:lstStyle/>
          <a:p>
            <a:pPr algn="ctr" indent="0" marL="0">
              <a:buNone/>
            </a:pPr>
            <a:r>
              <a:rPr lang="en-US" sz="550" dirty="0">
                <a:solidFill>
                  <a:srgbClr val="707981"/>
                </a:solidFill>
              </a:rPr>
              <a:t>52</a:t>
            </a:r>
            <a:endParaRPr lang="en-US" sz="550" dirty="0"/>
          </a:p>
        </p:txBody>
      </p:sp>
      <p:sp>
        <p:nvSpPr>
          <p:cNvPr id="185" name="KW Strich 53"/>
          <p:cNvSpPr/>
          <p:nvPr/>
        </p:nvSpPr>
        <p:spPr>
          <a:xfrm>
            <a:off x="10074466" y="5596128"/>
            <a:ext cx="0" cy="182880"/>
          </a:xfrm>
          <a:prstGeom prst="line">
            <a:avLst/>
          </a:prstGeom>
          <a:noFill/>
          <a:ln w="6350">
            <a:solidFill>
              <a:srgbClr val="91A19B"/>
            </a:solidFill>
            <a:prstDash val="solid"/>
          </a:ln>
        </p:spPr>
      </p:sp>
      <p:sp>
        <p:nvSpPr>
          <p:cNvPr id="186" name="KW 53"/>
          <p:cNvSpPr txBox="1"/>
          <p:nvPr/>
        </p:nvSpPr>
        <p:spPr>
          <a:xfrm>
            <a:off x="10074466" y="5596128"/>
            <a:ext cx="105549" cy="182880"/>
          </a:xfrm>
          <a:prstGeom prst="rect">
            <a:avLst/>
          </a:prstGeom>
          <a:noFill/>
          <a:ln/>
        </p:spPr>
        <p:txBody>
          <a:bodyPr wrap="square" lIns="0" tIns="0" rIns="0" bIns="0" rtlCol="0" anchor="ctr"/>
          <a:lstStyle/>
          <a:p>
            <a:pPr algn="ctr" indent="0" marL="0">
              <a:buNone/>
            </a:pPr>
            <a:r>
              <a:rPr lang="en-US" sz="550" dirty="0">
                <a:solidFill>
                  <a:srgbClr val="707981"/>
                </a:solidFill>
              </a:rPr>
              <a:t>53</a:t>
            </a:r>
            <a:endParaRPr lang="en-US" sz="550" dirty="0"/>
          </a:p>
        </p:txBody>
      </p:sp>
      <p:sp>
        <p:nvSpPr>
          <p:cNvPr id="187" name="KW Strich Ende"/>
          <p:cNvSpPr/>
          <p:nvPr/>
        </p:nvSpPr>
        <p:spPr>
          <a:xfrm>
            <a:off x="10180015" y="5596128"/>
            <a:ext cx="0" cy="182880"/>
          </a:xfrm>
          <a:prstGeom prst="line">
            <a:avLst/>
          </a:prstGeom>
          <a:noFill/>
          <a:ln w="6350">
            <a:solidFill>
              <a:srgbClr val="91A19B"/>
            </a:solidFill>
            <a:prstDash val="solid"/>
          </a:ln>
        </p:spPr>
      </p:sp>
      <p:sp>
        <p:nvSpPr>
          <p:cNvPr id="188" name="Linie unter den Kalenderwochen"/>
          <p:cNvSpPr/>
          <p:nvPr/>
        </p:nvSpPr>
        <p:spPr>
          <a:xfrm>
            <a:off x="548640" y="5779008"/>
            <a:ext cx="9631375" cy="0"/>
          </a:xfrm>
          <a:prstGeom prst="line">
            <a:avLst/>
          </a:prstGeom>
          <a:noFill/>
          <a:ln w="6350">
            <a:solidFill>
              <a:srgbClr val="91A19B"/>
            </a:solidFill>
            <a:prstDash val="solid"/>
          </a:ln>
        </p:spPr>
      </p:sp>
      <p:sp>
        <p:nvSpPr>
          <p:cNvPr id="189" name="Projektstart"/>
          <p:cNvSpPr/>
          <p:nvPr/>
        </p:nvSpPr>
        <p:spPr>
          <a:xfrm>
            <a:off x="1293495" y="5833872"/>
            <a:ext cx="146304" cy="182880"/>
          </a:xfrm>
          <a:prstGeom prst="chevron">
            <a:avLst/>
          </a:prstGeom>
          <a:solidFill>
            <a:srgbClr val="25C77A"/>
          </a:solidFill>
          <a:ln w="12700">
            <a:solidFill>
              <a:srgbClr val="25C77A"/>
            </a:solidFill>
            <a:prstDash val="solid"/>
          </a:ln>
        </p:spPr>
      </p:sp>
      <p:sp>
        <p:nvSpPr>
          <p:cNvPr id="190" name="Projektende"/>
          <p:cNvSpPr/>
          <p:nvPr/>
        </p:nvSpPr>
        <p:spPr>
          <a:xfrm>
            <a:off x="10033711" y="5833872"/>
            <a:ext cx="146304" cy="182880"/>
          </a:xfrm>
          <a:prstGeom prst="chevron">
            <a:avLst/>
          </a:prstGeom>
          <a:solidFill>
            <a:srgbClr val="25C77A"/>
          </a:solidFill>
          <a:ln w="12700">
            <a:solidFill>
              <a:srgbClr val="25C77A"/>
            </a:solidFill>
            <a:prstDash val="solid"/>
          </a:ln>
        </p:spPr>
      </p:sp>
      <p:sp>
        <p:nvSpPr>
          <p:cNvPr id="191" name="Projektstart Text"/>
          <p:cNvSpPr txBox="1"/>
          <p:nvPr/>
        </p:nvSpPr>
        <p:spPr>
          <a:xfrm>
            <a:off x="543687" y="6035040"/>
            <a:ext cx="1645920" cy="329184"/>
          </a:xfrm>
          <a:prstGeom prst="rect">
            <a:avLst/>
          </a:prstGeom>
          <a:noFill/>
          <a:ln/>
        </p:spPr>
        <p:txBody>
          <a:bodyPr wrap="square" lIns="0" tIns="0" rIns="0" bIns="0" rtlCol="0" anchor="t"/>
          <a:lstStyle/>
          <a:p>
            <a:pPr algn="ctr" indent="0" marL="0">
              <a:lnSpc>
                <a:spcPct val="105000"/>
              </a:lnSpc>
              <a:buNone/>
            </a:pPr>
            <a:r>
              <a:rPr lang="en-US" sz="800" dirty="0">
                <a:solidFill>
                  <a:srgbClr val="111418"/>
                </a:solidFill>
              </a:rPr>
              <a:t>1. Februar 2026</a:t>
            </a:r>
            <a:endParaRPr lang="en-US" sz="800" dirty="0"/>
          </a:p>
          <a:p>
            <a:pPr algn="ctr" indent="0" marL="0">
              <a:lnSpc>
                <a:spcPct val="105000"/>
              </a:lnSpc>
              <a:buNone/>
            </a:pPr>
            <a:r>
              <a:rPr lang="en-US" sz="800" dirty="0">
                <a:solidFill>
                  <a:srgbClr val="111418"/>
                </a:solidFill>
              </a:rPr>
              <a:t>Projektstart</a:t>
            </a:r>
            <a:endParaRPr lang="en-US" sz="800" dirty="0"/>
          </a:p>
        </p:txBody>
      </p:sp>
      <p:sp>
        <p:nvSpPr>
          <p:cNvPr id="192" name="Projektende Text"/>
          <p:cNvSpPr txBox="1"/>
          <p:nvPr/>
        </p:nvSpPr>
        <p:spPr>
          <a:xfrm>
            <a:off x="8534095" y="6035040"/>
            <a:ext cx="1645920" cy="329184"/>
          </a:xfrm>
          <a:prstGeom prst="rect">
            <a:avLst/>
          </a:prstGeom>
          <a:noFill/>
          <a:ln/>
        </p:spPr>
        <p:txBody>
          <a:bodyPr wrap="square" lIns="0" tIns="0" rIns="0" bIns="0" rtlCol="0" anchor="t"/>
          <a:lstStyle/>
          <a:p>
            <a:pPr algn="r" indent="0" marL="0">
              <a:lnSpc>
                <a:spcPct val="105000"/>
              </a:lnSpc>
              <a:buNone/>
            </a:pPr>
            <a:r>
              <a:rPr lang="en-US" sz="800" dirty="0">
                <a:solidFill>
                  <a:srgbClr val="111418"/>
                </a:solidFill>
              </a:rPr>
              <a:t>31. Dezember 2026</a:t>
            </a:r>
            <a:endParaRPr lang="en-US" sz="800" dirty="0"/>
          </a:p>
          <a:p>
            <a:pPr algn="r" indent="0" marL="0">
              <a:lnSpc>
                <a:spcPct val="105000"/>
              </a:lnSpc>
              <a:buNone/>
            </a:pPr>
            <a:r>
              <a:rPr lang="en-US" sz="800" dirty="0">
                <a:solidFill>
                  <a:srgbClr val="111418"/>
                </a:solidFill>
              </a:rPr>
              <a:t>Projektende</a:t>
            </a:r>
            <a:endParaRPr lang="en-US" sz="800" dirty="0"/>
          </a:p>
        </p:txBody>
      </p:sp>
      <p:sp>
        <p:nvSpPr>
          <p:cNvPr id="193" name="Heute"/>
          <p:cNvSpPr/>
          <p:nvPr/>
        </p:nvSpPr>
        <p:spPr>
          <a:xfrm>
            <a:off x="8061845" y="5861304"/>
            <a:ext cx="146304" cy="128016"/>
          </a:xfrm>
          <a:prstGeom prst="triangle">
            <a:avLst/>
          </a:prstGeom>
          <a:solidFill>
            <a:srgbClr val="25C77A"/>
          </a:solidFill>
          <a:ln w="12700">
            <a:solidFill>
              <a:srgbClr val="25C77A"/>
            </a:solidFill>
            <a:prstDash val="solid"/>
          </a:ln>
        </p:spPr>
      </p:sp>
      <p:sp>
        <p:nvSpPr>
          <p:cNvPr id="194" name="Heute Text"/>
          <p:cNvSpPr txBox="1"/>
          <p:nvPr/>
        </p:nvSpPr>
        <p:spPr>
          <a:xfrm>
            <a:off x="7677797" y="6035040"/>
            <a:ext cx="914400" cy="182880"/>
          </a:xfrm>
          <a:prstGeom prst="rect">
            <a:avLst/>
          </a:prstGeom>
          <a:noFill/>
          <a:ln/>
        </p:spPr>
        <p:txBody>
          <a:bodyPr wrap="square" lIns="0" tIns="0" rIns="0" bIns="0" rtlCol="0" anchor="t"/>
          <a:lstStyle/>
          <a:p>
            <a:pPr algn="ctr" indent="0" marL="0">
              <a:buNone/>
            </a:pPr>
            <a:r>
              <a:rPr lang="en-US" sz="800" dirty="0">
                <a:solidFill>
                  <a:srgbClr val="25C77A"/>
                </a:solidFill>
              </a:rPr>
              <a:t>Heute</a:t>
            </a:r>
            <a:endParaRPr lang="en-US" sz="800" dirty="0"/>
          </a:p>
        </p:txBody>
      </p:sp>
      <p:sp>
        <p:nvSpPr>
          <p:cNvPr id="195" name="Meilenstein 1"/>
          <p:cNvSpPr/>
          <p:nvPr/>
        </p:nvSpPr>
        <p:spPr>
          <a:xfrm>
            <a:off x="4851735" y="5861304"/>
            <a:ext cx="128016" cy="128016"/>
          </a:xfrm>
          <a:prstGeom prst="ellipse">
            <a:avLst/>
          </a:prstGeom>
          <a:solidFill>
            <a:srgbClr val="25C77A"/>
          </a:solidFill>
          <a:ln w="12700">
            <a:solidFill>
              <a:srgbClr val="25C77A"/>
            </a:solidFill>
            <a:prstDash val="solid"/>
          </a:ln>
        </p:spPr>
      </p:sp>
      <p:sp>
        <p:nvSpPr>
          <p:cNvPr id="196" name="Meilenstein Text 1"/>
          <p:cNvSpPr txBox="1"/>
          <p:nvPr/>
        </p:nvSpPr>
        <p:spPr>
          <a:xfrm>
            <a:off x="3909903" y="6035040"/>
            <a:ext cx="2011680" cy="182880"/>
          </a:xfrm>
          <a:prstGeom prst="rect">
            <a:avLst/>
          </a:prstGeom>
          <a:noFill/>
          <a:ln/>
        </p:spPr>
        <p:txBody>
          <a:bodyPr wrap="square" lIns="0" tIns="0" rIns="0" bIns="0" rtlCol="0" anchor="t"/>
          <a:lstStyle/>
          <a:p>
            <a:pPr algn="ctr" indent="0" marL="0">
              <a:buNone/>
            </a:pPr>
            <a:r>
              <a:rPr lang="en-US" sz="800" dirty="0">
                <a:solidFill>
                  <a:srgbClr val="111418"/>
                </a:solidFill>
              </a:rPr>
              <a:t>Meilenstein 1  ·  Konzeptfreigabe</a:t>
            </a:r>
            <a:endParaRPr lang="en-US" sz="800" dirty="0"/>
          </a:p>
        </p:txBody>
      </p:sp>
      <p:sp>
        <p:nvSpPr>
          <p:cNvPr id="197" name="Meilenstein 2"/>
          <p:cNvSpPr/>
          <p:nvPr/>
        </p:nvSpPr>
        <p:spPr>
          <a:xfrm>
            <a:off x="6883559" y="5861304"/>
            <a:ext cx="128016" cy="128016"/>
          </a:xfrm>
          <a:prstGeom prst="ellipse">
            <a:avLst/>
          </a:prstGeom>
          <a:solidFill>
            <a:srgbClr val="25C77A"/>
          </a:solidFill>
          <a:ln w="12700">
            <a:solidFill>
              <a:srgbClr val="25C77A"/>
            </a:solidFill>
            <a:prstDash val="solid"/>
          </a:ln>
        </p:spPr>
      </p:sp>
      <p:sp>
        <p:nvSpPr>
          <p:cNvPr id="198" name="Meilenstein Text 2"/>
          <p:cNvSpPr txBox="1"/>
          <p:nvPr/>
        </p:nvSpPr>
        <p:spPr>
          <a:xfrm>
            <a:off x="5941727" y="6035040"/>
            <a:ext cx="2011680" cy="182880"/>
          </a:xfrm>
          <a:prstGeom prst="rect">
            <a:avLst/>
          </a:prstGeom>
          <a:noFill/>
          <a:ln/>
        </p:spPr>
        <p:txBody>
          <a:bodyPr wrap="square" lIns="0" tIns="0" rIns="0" bIns="0" rtlCol="0" anchor="t"/>
          <a:lstStyle/>
          <a:p>
            <a:pPr algn="ctr" indent="0" marL="0">
              <a:buNone/>
            </a:pPr>
            <a:r>
              <a:rPr lang="en-US" sz="800" dirty="0">
                <a:solidFill>
                  <a:srgbClr val="111418"/>
                </a:solidFill>
              </a:rPr>
              <a:t>Meilenstein 2  ·  Freigabe Serie</a:t>
            </a:r>
            <a:endParaRPr lang="en-US" sz="800" dirty="0"/>
          </a:p>
        </p:txBody>
      </p:sp>
      <p:sp>
        <p:nvSpPr>
          <p:cNvPr id="19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15</a:t>
            </a:fld>
            <a:endParaRPr lang="en-US"/>
          </a:p>
        </p:txBody>
      </p:sp>
      <p:sp>
        <p:nvSpPr>
          <p:cNvPr id="200"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UNTERNEHMEN  ·  COMPANY</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Was wir tun</a:t>
            </a:r>
            <a:endParaRPr lang="en-US" sz="3400" dirty="0"/>
          </a:p>
          <a:p>
            <a:pPr algn="l" indent="0" marL="0">
              <a:lnSpc>
                <a:spcPct val="95000"/>
              </a:lnSpc>
              <a:buNone/>
            </a:pPr>
            <a:r>
              <a:rPr lang="en-US" sz="1800" spc="-68" kern="0" dirty="0">
                <a:solidFill>
                  <a:srgbClr val="707981"/>
                </a:solidFill>
              </a:rPr>
              <a:t>What we do</a:t>
            </a:r>
            <a:endParaRPr lang="en-US" sz="3400" dirty="0"/>
          </a:p>
        </p:txBody>
      </p:sp>
      <p:sp>
        <p:nvSpPr>
          <p:cNvPr id="5" name="Text zweisprachig A"/>
          <p:cNvSpPr txBox="1"/>
          <p:nvPr/>
        </p:nvSpPr>
        <p:spPr>
          <a:xfrm>
            <a:off x="548640" y="2606040"/>
            <a:ext cx="6583680" cy="3611880"/>
          </a:xfrm>
          <a:prstGeom prst="rect">
            <a:avLst/>
          </a:prstGeom>
          <a:noFill/>
          <a:ln/>
        </p:spPr>
        <p:txBody>
          <a:bodyPr wrap="square" lIns="0" tIns="0" rIns="0" bIns="0" rtlCol="0" anchor="t"/>
          <a:lstStyle/>
          <a:p>
            <a:pPr indent="0" marL="0">
              <a:lnSpc>
                <a:spcPct val="110000"/>
              </a:lnSpc>
              <a:buNone/>
            </a:pPr>
            <a:r>
              <a:rPr lang="en-US" sz="1300" dirty="0">
                <a:solidFill>
                  <a:srgbClr val="111418"/>
                </a:solidFill>
              </a:rPr>
              <a:t>Von der ersten Idee bis zur fertigen Serienentwicklung: Konstruktion, Simulation, Entwicklung und Prototyping unter einem Dach.</a:t>
            </a:r>
            <a:endParaRPr lang="en-US" sz="1300" dirty="0"/>
          </a:p>
          <a:p>
            <a:pPr indent="0" marL="0">
              <a:lnSpc>
                <a:spcPct val="100000"/>
              </a:lnSpc>
              <a:spcAft>
                <a:spcPts val="1200"/>
              </a:spcAft>
              <a:buNone/>
            </a:pPr>
            <a:r>
              <a:rPr lang="en-US" sz="1100" dirty="0">
                <a:solidFill>
                  <a:srgbClr val="707981"/>
                </a:solidFill>
              </a:rPr>
              <a:t>From the first idea to series production: engineering, simulation, development and prototyping under one roof.</a:t>
            </a:r>
            <a:endParaRPr lang="en-US" sz="1300" dirty="0"/>
          </a:p>
          <a:p>
            <a:pPr marL="342900" indent="-342900">
              <a:lnSpc>
                <a:spcPct val="110000"/>
              </a:lnSpc>
              <a:buSzPct val="100000"/>
              <a:buFont typeface="Inter" pitchFamily="34" charset="0"/>
              <a:buChar char="•"/>
            </a:pPr>
            <a:r>
              <a:rPr lang="en-US" sz="1300" dirty="0">
                <a:solidFill>
                  <a:srgbClr val="111418"/>
                </a:solidFill>
              </a:rPr>
              <a:t>Eine unabhängige und neutrale Sichtweise</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An independent and neutral perspective</a:t>
            </a:r>
            <a:endParaRPr lang="en-US" sz="1300" dirty="0"/>
          </a:p>
          <a:p>
            <a:pPr marL="342900" indent="-342900">
              <a:lnSpc>
                <a:spcPct val="110000"/>
              </a:lnSpc>
              <a:buSzPct val="100000"/>
              <a:buFont typeface="Inter" pitchFamily="34" charset="0"/>
              <a:buChar char="•"/>
            </a:pPr>
            <a:r>
              <a:rPr lang="en-US" sz="1300" dirty="0">
                <a:solidFill>
                  <a:srgbClr val="111418"/>
                </a:solidFill>
              </a:rPr>
              <a:t>Eine zielgerichtete Umsetzung und Resultaterreichung</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Targeted implementation and results</a:t>
            </a:r>
            <a:endParaRPr lang="en-US" sz="1300" dirty="0"/>
          </a:p>
          <a:p>
            <a:pPr marL="342900" indent="-342900">
              <a:lnSpc>
                <a:spcPct val="110000"/>
              </a:lnSpc>
              <a:buSzPct val="100000"/>
              <a:buFont typeface="Inter" pitchFamily="34" charset="0"/>
              <a:buChar char="•"/>
            </a:pPr>
            <a:r>
              <a:rPr lang="en-US" sz="1300" dirty="0">
                <a:solidFill>
                  <a:srgbClr val="111418"/>
                </a:solidFill>
              </a:rPr>
              <a:t>Einen starken technologischen und betriebswirtschaftlichen Leistungsverbund</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A strong technological and business network</a:t>
            </a:r>
            <a:endParaRPr lang="en-US" sz="1300" dirty="0"/>
          </a:p>
          <a:p>
            <a:pPr marL="342900" indent="-342900">
              <a:lnSpc>
                <a:spcPct val="110000"/>
              </a:lnSpc>
              <a:buSzPct val="100000"/>
              <a:buFont typeface="Inter" pitchFamily="34" charset="0"/>
              <a:buChar char="•"/>
            </a:pPr>
            <a:r>
              <a:rPr lang="en-US" sz="1300" dirty="0">
                <a:solidFill>
                  <a:srgbClr val="111418"/>
                </a:solidFill>
              </a:rPr>
              <a:t>Branchenspezifisches Anwendungsfachwissen</a:t>
            </a:r>
            <a:endParaRPr lang="en-US" sz="1300" dirty="0"/>
          </a:p>
          <a:p>
            <a:pPr marL="342900" indent="-342900">
              <a:lnSpc>
                <a:spcPct val="100000"/>
              </a:lnSpc>
              <a:spcAft>
                <a:spcPts val="900"/>
              </a:spcAft>
              <a:buSzPct val="100000"/>
              <a:buFont typeface="Inter" pitchFamily="34" charset="0"/>
              <a:buChar char=" "/>
            </a:pPr>
            <a:r>
              <a:rPr lang="en-US" sz="1100" dirty="0">
                <a:solidFill>
                  <a:srgbClr val="707981"/>
                </a:solidFill>
              </a:rPr>
              <a:t>Industry-specific application expertise</a:t>
            </a:r>
            <a:endParaRPr lang="en-US" sz="1300" dirty="0"/>
          </a:p>
        </p:txBody>
      </p:sp>
      <p:sp>
        <p:nvSpPr>
          <p:cNvPr id="6" name="Text 0"/>
          <p:cNvSpPr/>
          <p:nvPr>
            <p:ph idx="103" type="body" hasCustomPrompt="1"/>
          </p:nvPr>
        </p:nvSpPr>
        <p:spPr>
          <a:xfrm>
            <a:off x="548640" y="2606040"/>
            <a:ext cx="6766560" cy="3474720"/>
          </a:xfrm>
          <a:prstGeom prst="rect">
            <a:avLst/>
          </a:prstGeom>
          <a:noFill/>
          <a:ln/>
        </p:spPr>
        <p:txBody>
          <a:bodyPr wrap="square" lIns="0" tIns="0" rIns="0" bIns="0" rtlCol="0" anchor="t"/>
          <a:lstStyle/>
          <a:p>
            <a:pPr indent="0" marL="0">
              <a:lnSpc>
                <a:spcPct val="120000"/>
              </a:lnSpc>
              <a:spcAft>
                <a:spcPts val="800"/>
              </a:spcAft>
              <a:buNone/>
            </a:pPr>
            <a:endParaRPr lang="en-US" sz="1400" dirty="0"/>
          </a:p>
        </p:txBody>
      </p:sp>
      <p:sp>
        <p:nvSpPr>
          <p:cNvPr id="7"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16</a:t>
            </a:fld>
            <a:endParaRPr lang="en-US"/>
          </a:p>
        </p:txBody>
      </p:sp>
      <p:sp>
        <p:nvSpPr>
          <p:cNvPr id="8"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UNTERNEHMEN  ·  COMPANY</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Was wir tun  ·  What we do</a:t>
            </a:r>
            <a:endParaRPr lang="en-US" sz="3400" dirty="0"/>
          </a:p>
        </p:txBody>
      </p:sp>
      <p:sp>
        <p:nvSpPr>
          <p:cNvPr id="5" name="Eyebrow DEUTSCH"/>
          <p:cNvSpPr txBox="1"/>
          <p:nvPr/>
        </p:nvSpPr>
        <p:spPr>
          <a:xfrm>
            <a:off x="548640"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DEUTSCH</a:t>
            </a:r>
            <a:endParaRPr lang="en-US" sz="1000" dirty="0"/>
          </a:p>
        </p:txBody>
      </p:sp>
      <p:sp>
        <p:nvSpPr>
          <p:cNvPr id="6" name="Eyebrow ENGLISH"/>
          <p:cNvSpPr txBox="1"/>
          <p:nvPr/>
        </p:nvSpPr>
        <p:spPr>
          <a:xfrm>
            <a:off x="6141568"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ENGLISH</a:t>
            </a:r>
            <a:endParaRPr lang="en-US" sz="1000" dirty="0"/>
          </a:p>
        </p:txBody>
      </p:sp>
      <p:sp>
        <p:nvSpPr>
          <p:cNvPr id="7" name="Lead 1"/>
          <p:cNvSpPr txBox="1"/>
          <p:nvPr/>
        </p:nvSpPr>
        <p:spPr>
          <a:xfrm>
            <a:off x="548640" y="2926080"/>
            <a:ext cx="5135728" cy="777240"/>
          </a:xfrm>
          <a:prstGeom prst="rect">
            <a:avLst/>
          </a:prstGeom>
          <a:noFill/>
          <a:ln/>
        </p:spPr>
        <p:txBody>
          <a:bodyPr wrap="square" lIns="0" tIns="0" rIns="0" bIns="0" rtlCol="0" anchor="t"/>
          <a:lstStyle/>
          <a:p>
            <a:pPr indent="0" marL="0">
              <a:lnSpc>
                <a:spcPct val="120000"/>
              </a:lnSpc>
              <a:buNone/>
            </a:pPr>
            <a:r>
              <a:rPr lang="en-US" sz="1300" dirty="0">
                <a:solidFill>
                  <a:srgbClr val="111418"/>
                </a:solidFill>
              </a:rPr>
              <a:t>Von der ersten Idee bis zur fertigen Serienentwicklung: Konstruktion, Simulation, Entwicklung und Prototyping unter einem Dach.</a:t>
            </a:r>
            <a:endParaRPr lang="en-US" sz="1300" dirty="0"/>
          </a:p>
        </p:txBody>
      </p:sp>
      <p:sp>
        <p:nvSpPr>
          <p:cNvPr id="8" name="Lead 2"/>
          <p:cNvSpPr txBox="1"/>
          <p:nvPr/>
        </p:nvSpPr>
        <p:spPr>
          <a:xfrm>
            <a:off x="6141568" y="2926080"/>
            <a:ext cx="5135728" cy="777240"/>
          </a:xfrm>
          <a:prstGeom prst="rect">
            <a:avLst/>
          </a:prstGeom>
          <a:noFill/>
          <a:ln/>
        </p:spPr>
        <p:txBody>
          <a:bodyPr wrap="square" lIns="0" tIns="0" rIns="0" bIns="0" rtlCol="0" anchor="t"/>
          <a:lstStyle/>
          <a:p>
            <a:pPr indent="0" marL="0">
              <a:lnSpc>
                <a:spcPct val="120000"/>
              </a:lnSpc>
              <a:buNone/>
            </a:pPr>
            <a:r>
              <a:rPr lang="en-US" sz="1300" dirty="0">
                <a:solidFill>
                  <a:srgbClr val="111418"/>
                </a:solidFill>
              </a:rPr>
              <a:t>From the first idea to series production: engineering, simulation, development and prototyping under one roof.</a:t>
            </a:r>
            <a:endParaRPr lang="en-US" sz="1300" dirty="0"/>
          </a:p>
        </p:txBody>
      </p:sp>
      <p:sp>
        <p:nvSpPr>
          <p:cNvPr id="9" name="Punkt 1 1"/>
          <p:cNvSpPr txBox="1"/>
          <p:nvPr/>
        </p:nvSpPr>
        <p:spPr>
          <a:xfrm>
            <a:off x="548640" y="3749040"/>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Eine unabhängige und neutrale Sichtweise</a:t>
            </a:r>
            <a:endParaRPr lang="en-US" sz="1300" dirty="0"/>
          </a:p>
        </p:txBody>
      </p:sp>
      <p:sp>
        <p:nvSpPr>
          <p:cNvPr id="10" name="Punkt 2 1"/>
          <p:cNvSpPr txBox="1"/>
          <p:nvPr/>
        </p:nvSpPr>
        <p:spPr>
          <a:xfrm>
            <a:off x="6141568" y="3749040"/>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An independent and neutral perspective</a:t>
            </a:r>
            <a:endParaRPr lang="en-US" sz="1300" dirty="0"/>
          </a:p>
        </p:txBody>
      </p:sp>
      <p:sp>
        <p:nvSpPr>
          <p:cNvPr id="11" name="Punkt 1 2"/>
          <p:cNvSpPr txBox="1"/>
          <p:nvPr/>
        </p:nvSpPr>
        <p:spPr>
          <a:xfrm>
            <a:off x="548640" y="4334256"/>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Eine zielgerichtete Umsetzung und Resultaterreichung</a:t>
            </a:r>
            <a:endParaRPr lang="en-US" sz="1300" dirty="0"/>
          </a:p>
        </p:txBody>
      </p:sp>
      <p:sp>
        <p:nvSpPr>
          <p:cNvPr id="12" name="Punkt 2 2"/>
          <p:cNvSpPr txBox="1"/>
          <p:nvPr/>
        </p:nvSpPr>
        <p:spPr>
          <a:xfrm>
            <a:off x="6141568" y="4334256"/>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Targeted implementation and results</a:t>
            </a:r>
            <a:endParaRPr lang="en-US" sz="1300" dirty="0"/>
          </a:p>
        </p:txBody>
      </p:sp>
      <p:sp>
        <p:nvSpPr>
          <p:cNvPr id="13" name="Punkt 1 3"/>
          <p:cNvSpPr txBox="1"/>
          <p:nvPr/>
        </p:nvSpPr>
        <p:spPr>
          <a:xfrm>
            <a:off x="548640" y="4919472"/>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Einen starken technologischen und betriebswirtschaftlichen Leistungsverbund</a:t>
            </a:r>
            <a:endParaRPr lang="en-US" sz="1300" dirty="0"/>
          </a:p>
        </p:txBody>
      </p:sp>
      <p:sp>
        <p:nvSpPr>
          <p:cNvPr id="14" name="Punkt 2 3"/>
          <p:cNvSpPr txBox="1"/>
          <p:nvPr/>
        </p:nvSpPr>
        <p:spPr>
          <a:xfrm>
            <a:off x="6141568" y="4919472"/>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A strong technological and business network</a:t>
            </a:r>
            <a:endParaRPr lang="en-US" sz="1300" dirty="0"/>
          </a:p>
        </p:txBody>
      </p:sp>
      <p:sp>
        <p:nvSpPr>
          <p:cNvPr id="15" name="Punkt 1 4"/>
          <p:cNvSpPr txBox="1"/>
          <p:nvPr/>
        </p:nvSpPr>
        <p:spPr>
          <a:xfrm>
            <a:off x="548640" y="5504688"/>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Branchenspezifisches Anwendungsfachwissen</a:t>
            </a:r>
            <a:endParaRPr lang="en-US" sz="1300" dirty="0"/>
          </a:p>
        </p:txBody>
      </p:sp>
      <p:sp>
        <p:nvSpPr>
          <p:cNvPr id="16" name="Punkt 2 4"/>
          <p:cNvSpPr txBox="1"/>
          <p:nvPr/>
        </p:nvSpPr>
        <p:spPr>
          <a:xfrm>
            <a:off x="6141568" y="5504688"/>
            <a:ext cx="5135728" cy="54864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300" dirty="0">
                <a:solidFill>
                  <a:srgbClr val="111418"/>
                </a:solidFill>
              </a:rPr>
              <a:t>Industry-specific application expertise</a:t>
            </a:r>
            <a:endParaRPr lang="en-US" sz="1300" dirty="0"/>
          </a:p>
        </p:txBody>
      </p:sp>
      <p:sp>
        <p:nvSpPr>
          <p:cNvPr id="17" name="Spaltenlinie"/>
          <p:cNvSpPr/>
          <p:nvPr/>
        </p:nvSpPr>
        <p:spPr>
          <a:xfrm>
            <a:off x="5912968" y="2606040"/>
            <a:ext cx="0" cy="3429000"/>
          </a:xfrm>
          <a:prstGeom prst="line">
            <a:avLst/>
          </a:prstGeom>
          <a:noFill/>
          <a:ln w="6350">
            <a:solidFill>
              <a:srgbClr val="A0A1A3"/>
            </a:solidFill>
            <a:prstDash val="solid"/>
          </a:ln>
        </p:spPr>
      </p:sp>
      <p:sp>
        <p:nvSpPr>
          <p:cNvPr id="18"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17</a:t>
            </a:fld>
            <a:endParaRPr lang="en-US"/>
          </a:p>
        </p:txBody>
      </p:sp>
      <p:sp>
        <p:nvSpPr>
          <p:cNvPr id="19"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02 //  KONZEPTVARIANTEN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Blech oder Spritzguss</a:t>
            </a:r>
            <a:endParaRPr lang="en-US" sz="3400" dirty="0"/>
          </a:p>
        </p:txBody>
      </p:sp>
      <p:sp>
        <p:nvSpPr>
          <p:cNvPr id="5" name="Eyebrow VARIANTE A  ·  BLECH"/>
          <p:cNvSpPr txBox="1"/>
          <p:nvPr/>
        </p:nvSpPr>
        <p:spPr>
          <a:xfrm>
            <a:off x="548640"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VARIANTE A  ·  BLECH</a:t>
            </a:r>
            <a:endParaRPr lang="en-US" sz="1000" dirty="0"/>
          </a:p>
        </p:txBody>
      </p:sp>
      <p:pic>
        <p:nvPicPr>
          <p:cNvPr id="6" name="Foto VARIANTE A  ·  BLECH" descr="p14">    </p:cNvPr>
          <p:cNvPicPr>
            <a:picLocks noChangeAspect="1"/>
          </p:cNvPicPr>
          <p:nvPr/>
        </p:nvPicPr>
        <p:blipFill>
          <a:blip r:embed="rId1"/>
          <a:srcRect l="0" r="0" t="0" b="0"/>
          <a:stretch/>
        </p:blipFill>
        <p:spPr>
          <a:xfrm>
            <a:off x="548640" y="3017520"/>
            <a:ext cx="5135728" cy="1554480"/>
          </a:xfrm>
          <a:prstGeom prst="rect">
            <a:avLst/>
          </a:prstGeom>
        </p:spPr>
      </p:pic>
      <p:sp>
        <p:nvSpPr>
          <p:cNvPr id="7" name="Eckmarker 1"/>
          <p:cNvSpPr/>
          <p:nvPr/>
        </p:nvSpPr>
        <p:spPr>
          <a:xfrm>
            <a:off x="457200" y="2926080"/>
            <a:ext cx="73152" cy="73152"/>
          </a:xfrm>
          <a:prstGeom prst="ellipse">
            <a:avLst/>
          </a:prstGeom>
          <a:solidFill>
            <a:srgbClr val="111418"/>
          </a:solidFill>
          <a:ln w="12700">
            <a:solidFill>
              <a:srgbClr val="111418"/>
            </a:solidFill>
            <a:prstDash val="solid"/>
          </a:ln>
        </p:spPr>
      </p:sp>
      <p:sp>
        <p:nvSpPr>
          <p:cNvPr id="8" name="Eckmarker 2"/>
          <p:cNvSpPr/>
          <p:nvPr/>
        </p:nvSpPr>
        <p:spPr>
          <a:xfrm>
            <a:off x="5702656" y="2926080"/>
            <a:ext cx="73152" cy="73152"/>
          </a:xfrm>
          <a:prstGeom prst="ellipse">
            <a:avLst/>
          </a:prstGeom>
          <a:solidFill>
            <a:srgbClr val="111418"/>
          </a:solidFill>
          <a:ln w="12700">
            <a:solidFill>
              <a:srgbClr val="111418"/>
            </a:solidFill>
            <a:prstDash val="solid"/>
          </a:ln>
        </p:spPr>
      </p:sp>
      <p:sp>
        <p:nvSpPr>
          <p:cNvPr id="9" name="Eckmarker 3"/>
          <p:cNvSpPr/>
          <p:nvPr/>
        </p:nvSpPr>
        <p:spPr>
          <a:xfrm>
            <a:off x="457200" y="4590288"/>
            <a:ext cx="73152" cy="73152"/>
          </a:xfrm>
          <a:prstGeom prst="ellipse">
            <a:avLst/>
          </a:prstGeom>
          <a:solidFill>
            <a:srgbClr val="111418"/>
          </a:solidFill>
          <a:ln w="12700">
            <a:solidFill>
              <a:srgbClr val="111418"/>
            </a:solidFill>
            <a:prstDash val="solid"/>
          </a:ln>
        </p:spPr>
      </p:sp>
      <p:sp>
        <p:nvSpPr>
          <p:cNvPr id="10" name="Eckmarker 4"/>
          <p:cNvSpPr/>
          <p:nvPr/>
        </p:nvSpPr>
        <p:spPr>
          <a:xfrm>
            <a:off x="5702656" y="4590288"/>
            <a:ext cx="73152" cy="73152"/>
          </a:xfrm>
          <a:prstGeom prst="ellipse">
            <a:avLst/>
          </a:prstGeom>
          <a:solidFill>
            <a:srgbClr val="111418"/>
          </a:solidFill>
          <a:ln w="12700">
            <a:solidFill>
              <a:srgbClr val="111418"/>
            </a:solidFill>
            <a:prstDash val="solid"/>
          </a:ln>
        </p:spPr>
      </p:sp>
      <p:sp>
        <p:nvSpPr>
          <p:cNvPr id="11" name="Punkte VARIANTE A  ·  BLECH"/>
          <p:cNvSpPr txBox="1"/>
          <p:nvPr/>
        </p:nvSpPr>
        <p:spPr>
          <a:xfrm>
            <a:off x="548640" y="4754880"/>
            <a:ext cx="5135728" cy="1005840"/>
          </a:xfrm>
          <a:prstGeom prst="rect">
            <a:avLst/>
          </a:prstGeom>
          <a:noFill/>
          <a:ln/>
        </p:spPr>
        <p:txBody>
          <a:bodyPr wrap="square" lIns="0" tIns="0" rIns="0" bIns="0" rtlCol="0" anchor="t"/>
          <a:lstStyle/>
          <a:p>
            <a:pPr marL="342900" indent="-342900">
              <a:lnSpc>
                <a:spcPct val="120000"/>
              </a:lnSpc>
              <a:spcAft>
                <a:spcPts val="400"/>
              </a:spcAft>
              <a:buSzPct val="100000"/>
              <a:buFont typeface="Inter" pitchFamily="34" charset="0"/>
              <a:buChar char="•"/>
            </a:pPr>
            <a:r>
              <a:rPr lang="en-US" sz="1200" dirty="0">
                <a:solidFill>
                  <a:srgbClr val="111418"/>
                </a:solidFill>
              </a:rPr>
              <a:t>48 Teile, 9 Lieferanten</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Werkzeugkosten tief, Teilekosten hoch</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Montage 31 Schritte</a:t>
            </a:r>
            <a:endParaRPr lang="en-US" sz="1200" dirty="0"/>
          </a:p>
        </p:txBody>
      </p:sp>
      <p:sp>
        <p:nvSpPr>
          <p:cNvPr id="12" name="Linie Bewertung 1"/>
          <p:cNvSpPr/>
          <p:nvPr/>
        </p:nvSpPr>
        <p:spPr>
          <a:xfrm>
            <a:off x="548640" y="5788152"/>
            <a:ext cx="5135728" cy="0"/>
          </a:xfrm>
          <a:prstGeom prst="line">
            <a:avLst/>
          </a:prstGeom>
          <a:noFill/>
          <a:ln w="6350">
            <a:solidFill>
              <a:srgbClr val="91A19B"/>
            </a:solidFill>
            <a:prstDash val="solid"/>
          </a:ln>
        </p:spPr>
      </p:sp>
      <p:sp>
        <p:nvSpPr>
          <p:cNvPr id="13" name="Bewertung VARIANTE A  ·  BLECH"/>
          <p:cNvSpPr txBox="1"/>
          <p:nvPr/>
        </p:nvSpPr>
        <p:spPr>
          <a:xfrm>
            <a:off x="548640" y="5897880"/>
            <a:ext cx="4038448" cy="274320"/>
          </a:xfrm>
          <a:prstGeom prst="rect">
            <a:avLst/>
          </a:prstGeom>
          <a:noFill/>
          <a:ln/>
        </p:spPr>
        <p:txBody>
          <a:bodyPr wrap="square" lIns="0" tIns="0" rIns="0" bIns="0" rtlCol="0" anchor="ctr"/>
          <a:lstStyle/>
          <a:p>
            <a:pPr indent="0" marL="0">
              <a:buNone/>
            </a:pPr>
            <a:r>
              <a:rPr lang="en-US" sz="1000" spc="-20" kern="0" dirty="0">
                <a:solidFill>
                  <a:srgbClr val="111418"/>
                </a:solidFill>
              </a:rPr>
              <a:t>48 Teile  ·  CHF 48.-  ·  Werkzeug CHF 9 000.-</a:t>
            </a:r>
            <a:endParaRPr lang="en-US" sz="1000" dirty="0"/>
          </a:p>
        </p:txBody>
      </p:sp>
      <p:sp>
        <p:nvSpPr>
          <p:cNvPr id="14" name="Eyebrow VARIANTE B  ·  SPRITZGUSS"/>
          <p:cNvSpPr txBox="1"/>
          <p:nvPr/>
        </p:nvSpPr>
        <p:spPr>
          <a:xfrm>
            <a:off x="6141568" y="2606040"/>
            <a:ext cx="5135728" cy="256032"/>
          </a:xfrm>
          <a:prstGeom prst="rect">
            <a:avLst/>
          </a:prstGeom>
          <a:noFill/>
          <a:ln/>
        </p:spPr>
        <p:txBody>
          <a:bodyPr wrap="square" lIns="0" tIns="0" rIns="0" bIns="0" rtlCol="0" anchor="ctr"/>
          <a:lstStyle/>
          <a:p>
            <a:pPr indent="0" marL="0">
              <a:buNone/>
            </a:pPr>
            <a:r>
              <a:rPr lang="en-US" sz="1000" spc="-30" kern="0" dirty="0">
                <a:solidFill>
                  <a:srgbClr val="707981"/>
                </a:solidFill>
              </a:rPr>
              <a:t>VARIANTE B  ·  SPRITZGUSS</a:t>
            </a:r>
            <a:endParaRPr lang="en-US" sz="1000" dirty="0"/>
          </a:p>
        </p:txBody>
      </p:sp>
      <p:pic>
        <p:nvPicPr>
          <p:cNvPr id="15" name="Foto VARIANTE B  ·  SPRITZGUSS" descr="p22">    </p:cNvPr>
          <p:cNvPicPr>
            <a:picLocks noChangeAspect="1"/>
          </p:cNvPicPr>
          <p:nvPr/>
        </p:nvPicPr>
        <p:blipFill>
          <a:blip r:embed="rId2"/>
          <a:srcRect l="0" r="0" t="0" b="0"/>
          <a:stretch/>
        </p:blipFill>
        <p:spPr>
          <a:xfrm>
            <a:off x="6141568" y="3017520"/>
            <a:ext cx="5135728" cy="1554480"/>
          </a:xfrm>
          <a:prstGeom prst="rect">
            <a:avLst/>
          </a:prstGeom>
        </p:spPr>
      </p:pic>
      <p:sp>
        <p:nvSpPr>
          <p:cNvPr id="16" name="Eckmarker 1"/>
          <p:cNvSpPr/>
          <p:nvPr/>
        </p:nvSpPr>
        <p:spPr>
          <a:xfrm>
            <a:off x="6050128" y="2926080"/>
            <a:ext cx="73152" cy="73152"/>
          </a:xfrm>
          <a:prstGeom prst="ellipse">
            <a:avLst/>
          </a:prstGeom>
          <a:solidFill>
            <a:srgbClr val="111418"/>
          </a:solidFill>
          <a:ln w="12700">
            <a:solidFill>
              <a:srgbClr val="111418"/>
            </a:solidFill>
            <a:prstDash val="solid"/>
          </a:ln>
        </p:spPr>
      </p:sp>
      <p:sp>
        <p:nvSpPr>
          <p:cNvPr id="17" name="Eckmarker 2"/>
          <p:cNvSpPr/>
          <p:nvPr/>
        </p:nvSpPr>
        <p:spPr>
          <a:xfrm>
            <a:off x="11295583" y="2926080"/>
            <a:ext cx="73152" cy="73152"/>
          </a:xfrm>
          <a:prstGeom prst="ellipse">
            <a:avLst/>
          </a:prstGeom>
          <a:solidFill>
            <a:srgbClr val="111418"/>
          </a:solidFill>
          <a:ln w="12700">
            <a:solidFill>
              <a:srgbClr val="111418"/>
            </a:solidFill>
            <a:prstDash val="solid"/>
          </a:ln>
        </p:spPr>
      </p:sp>
      <p:sp>
        <p:nvSpPr>
          <p:cNvPr id="18" name="Eckmarker 3"/>
          <p:cNvSpPr/>
          <p:nvPr/>
        </p:nvSpPr>
        <p:spPr>
          <a:xfrm>
            <a:off x="6050128" y="4590288"/>
            <a:ext cx="73152" cy="73152"/>
          </a:xfrm>
          <a:prstGeom prst="ellipse">
            <a:avLst/>
          </a:prstGeom>
          <a:solidFill>
            <a:srgbClr val="111418"/>
          </a:solidFill>
          <a:ln w="12700">
            <a:solidFill>
              <a:srgbClr val="111418"/>
            </a:solidFill>
            <a:prstDash val="solid"/>
          </a:ln>
        </p:spPr>
      </p:sp>
      <p:sp>
        <p:nvSpPr>
          <p:cNvPr id="19" name="Eckmarker 4"/>
          <p:cNvSpPr/>
          <p:nvPr/>
        </p:nvSpPr>
        <p:spPr>
          <a:xfrm>
            <a:off x="11295583" y="4590288"/>
            <a:ext cx="73152" cy="73152"/>
          </a:xfrm>
          <a:prstGeom prst="ellipse">
            <a:avLst/>
          </a:prstGeom>
          <a:solidFill>
            <a:srgbClr val="111418"/>
          </a:solidFill>
          <a:ln w="12700">
            <a:solidFill>
              <a:srgbClr val="111418"/>
            </a:solidFill>
            <a:prstDash val="solid"/>
          </a:ln>
        </p:spPr>
      </p:sp>
      <p:sp>
        <p:nvSpPr>
          <p:cNvPr id="20" name="Punkte VARIANTE B  ·  SPRITZGUSS"/>
          <p:cNvSpPr txBox="1"/>
          <p:nvPr/>
        </p:nvSpPr>
        <p:spPr>
          <a:xfrm>
            <a:off x="6141568" y="4754880"/>
            <a:ext cx="5135728" cy="1005840"/>
          </a:xfrm>
          <a:prstGeom prst="rect">
            <a:avLst/>
          </a:prstGeom>
          <a:noFill/>
          <a:ln/>
        </p:spPr>
        <p:txBody>
          <a:bodyPr wrap="square" lIns="0" tIns="0" rIns="0" bIns="0" rtlCol="0" anchor="t"/>
          <a:lstStyle/>
          <a:p>
            <a:pPr marL="342900" indent="-342900">
              <a:lnSpc>
                <a:spcPct val="120000"/>
              </a:lnSpc>
              <a:spcAft>
                <a:spcPts val="400"/>
              </a:spcAft>
              <a:buSzPct val="100000"/>
              <a:buFont typeface="Inter" pitchFamily="34" charset="0"/>
              <a:buChar char="•"/>
            </a:pPr>
            <a:r>
              <a:rPr lang="en-US" sz="1200" dirty="0">
                <a:solidFill>
                  <a:srgbClr val="111418"/>
                </a:solidFill>
              </a:rPr>
              <a:t>30 Teile, 5 Lieferanten</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Werkzeugkosten hoch, Teilekosten tief</a:t>
            </a:r>
            <a:endParaRPr lang="en-US" sz="1200" dirty="0"/>
          </a:p>
          <a:p>
            <a:pPr marL="342900" indent="-342900">
              <a:lnSpc>
                <a:spcPct val="120000"/>
              </a:lnSpc>
              <a:spcAft>
                <a:spcPts val="400"/>
              </a:spcAft>
              <a:buSzPct val="100000"/>
              <a:buFont typeface="Inter" pitchFamily="34" charset="0"/>
              <a:buChar char="•"/>
            </a:pPr>
            <a:r>
              <a:rPr lang="en-US" sz="1200" dirty="0">
                <a:solidFill>
                  <a:srgbClr val="111418"/>
                </a:solidFill>
              </a:rPr>
              <a:t>Montage 17 Schritte</a:t>
            </a:r>
            <a:endParaRPr lang="en-US" sz="1200" dirty="0"/>
          </a:p>
        </p:txBody>
      </p:sp>
      <p:sp>
        <p:nvSpPr>
          <p:cNvPr id="21" name="Linie Bewertung 2"/>
          <p:cNvSpPr/>
          <p:nvPr/>
        </p:nvSpPr>
        <p:spPr>
          <a:xfrm>
            <a:off x="6141568" y="5788152"/>
            <a:ext cx="5135728" cy="0"/>
          </a:xfrm>
          <a:prstGeom prst="line">
            <a:avLst/>
          </a:prstGeom>
          <a:noFill/>
          <a:ln w="6350">
            <a:solidFill>
              <a:srgbClr val="91A19B"/>
            </a:solidFill>
            <a:prstDash val="solid"/>
          </a:ln>
        </p:spPr>
      </p:sp>
      <p:sp>
        <p:nvSpPr>
          <p:cNvPr id="22" name="Bewertung VARIANTE B  ·  SPRITZGUSS"/>
          <p:cNvSpPr txBox="1"/>
          <p:nvPr/>
        </p:nvSpPr>
        <p:spPr>
          <a:xfrm>
            <a:off x="6141568" y="5897880"/>
            <a:ext cx="4038448" cy="274320"/>
          </a:xfrm>
          <a:prstGeom prst="rect">
            <a:avLst/>
          </a:prstGeom>
          <a:noFill/>
          <a:ln/>
        </p:spPr>
        <p:txBody>
          <a:bodyPr wrap="square" lIns="0" tIns="0" rIns="0" bIns="0" rtlCol="0" anchor="ctr"/>
          <a:lstStyle/>
          <a:p>
            <a:pPr indent="0" marL="0">
              <a:buNone/>
            </a:pPr>
            <a:r>
              <a:rPr lang="en-US" sz="1000" spc="-20" kern="0" dirty="0">
                <a:solidFill>
                  <a:srgbClr val="111418"/>
                </a:solidFill>
              </a:rPr>
              <a:t>30 Teile  ·  CHF 31.-  ·  Werkzeug CHF 42 000.-</a:t>
            </a:r>
            <a:endParaRPr lang="en-US" sz="1000" dirty="0"/>
          </a:p>
        </p:txBody>
      </p:sp>
      <p:sp>
        <p:nvSpPr>
          <p:cNvPr id="23" name="Label EMPFOHLEN"/>
          <p:cNvSpPr/>
          <p:nvPr/>
        </p:nvSpPr>
        <p:spPr>
          <a:xfrm>
            <a:off x="10317175" y="5916168"/>
            <a:ext cx="960120" cy="237744"/>
          </a:xfrm>
          <a:prstGeom prst="rect">
            <a:avLst/>
          </a:prstGeom>
          <a:solidFill>
            <a:srgbClr val="25C77A"/>
          </a:solidFill>
          <a:ln w="6350">
            <a:solidFill>
              <a:srgbClr val="25C77A"/>
            </a:solidFill>
            <a:prstDash val="solid"/>
          </a:ln>
        </p:spPr>
      </p:sp>
      <p:sp>
        <p:nvSpPr>
          <p:cNvPr id="24" name="Label EMPFOHLEN Text"/>
          <p:cNvSpPr txBox="1"/>
          <p:nvPr/>
        </p:nvSpPr>
        <p:spPr>
          <a:xfrm>
            <a:off x="10317175" y="5916168"/>
            <a:ext cx="96012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EMPFOHLEN</a:t>
            </a:r>
            <a:endParaRPr lang="en-US" sz="750" dirty="0"/>
          </a:p>
        </p:txBody>
      </p:sp>
      <p:sp>
        <p:nvSpPr>
          <p:cNvPr id="2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18</a:t>
            </a:fld>
            <a:endParaRPr lang="en-US"/>
          </a:p>
        </p:txBody>
      </p:sp>
      <p:sp>
        <p:nvSpPr>
          <p:cNvPr id="26"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PROTOTYP UND TESTS</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Vom Muster zum Funktionsprototyp</a:t>
            </a:r>
            <a:endParaRPr lang="en-US" sz="3400" dirty="0"/>
          </a:p>
        </p:txBody>
      </p:sp>
      <p:pic>
        <p:nvPicPr>
          <p:cNvPr id="5" name="Bild 01" descr="p22">    </p:cNvPr>
          <p:cNvPicPr>
            <a:picLocks noChangeAspect="1"/>
          </p:cNvPicPr>
          <p:nvPr/>
        </p:nvPicPr>
        <p:blipFill>
          <a:blip r:embed="rId1"/>
          <a:srcRect l="0" r="0" t="0" b="0"/>
          <a:stretch/>
        </p:blipFill>
        <p:spPr>
          <a:xfrm>
            <a:off x="548640" y="2606040"/>
            <a:ext cx="3301898" cy="1188720"/>
          </a:xfrm>
          <a:prstGeom prst="rect">
            <a:avLst/>
          </a:prstGeom>
        </p:spPr>
      </p:pic>
      <p:sp>
        <p:nvSpPr>
          <p:cNvPr id="6" name="Eckmarker 1"/>
          <p:cNvSpPr/>
          <p:nvPr/>
        </p:nvSpPr>
        <p:spPr>
          <a:xfrm>
            <a:off x="457200" y="2514600"/>
            <a:ext cx="73152" cy="73152"/>
          </a:xfrm>
          <a:prstGeom prst="ellipse">
            <a:avLst/>
          </a:prstGeom>
          <a:solidFill>
            <a:srgbClr val="111418"/>
          </a:solidFill>
          <a:ln w="12700">
            <a:solidFill>
              <a:srgbClr val="111418"/>
            </a:solidFill>
            <a:prstDash val="solid"/>
          </a:ln>
        </p:spPr>
      </p:sp>
      <p:sp>
        <p:nvSpPr>
          <p:cNvPr id="7" name="Eckmarker 2"/>
          <p:cNvSpPr/>
          <p:nvPr/>
        </p:nvSpPr>
        <p:spPr>
          <a:xfrm>
            <a:off x="3868826" y="251460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3813048"/>
            <a:ext cx="73152" cy="73152"/>
          </a:xfrm>
          <a:prstGeom prst="ellipse">
            <a:avLst/>
          </a:prstGeom>
          <a:solidFill>
            <a:srgbClr val="111418"/>
          </a:solidFill>
          <a:ln w="12700">
            <a:solidFill>
              <a:srgbClr val="111418"/>
            </a:solidFill>
            <a:prstDash val="solid"/>
          </a:ln>
        </p:spPr>
      </p:sp>
      <p:sp>
        <p:nvSpPr>
          <p:cNvPr id="9" name="Eckmarker 4"/>
          <p:cNvSpPr/>
          <p:nvPr/>
        </p:nvSpPr>
        <p:spPr>
          <a:xfrm>
            <a:off x="3868826" y="3813048"/>
            <a:ext cx="73152" cy="73152"/>
          </a:xfrm>
          <a:prstGeom prst="ellipse">
            <a:avLst/>
          </a:prstGeom>
          <a:solidFill>
            <a:srgbClr val="111418"/>
          </a:solidFill>
          <a:ln w="12700">
            <a:solidFill>
              <a:srgbClr val="111418"/>
            </a:solidFill>
            <a:prstDash val="solid"/>
          </a:ln>
        </p:spPr>
      </p:sp>
      <p:sp>
        <p:nvSpPr>
          <p:cNvPr id="10" name="Eyebrow 01 //  SHORE-HÄRTEMUSTER"/>
          <p:cNvSpPr txBox="1"/>
          <p:nvPr/>
        </p:nvSpPr>
        <p:spPr>
          <a:xfrm>
            <a:off x="548640" y="397764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SHORE-HÄRTEMUSTER</a:t>
            </a:r>
            <a:endParaRPr lang="en-US" sz="1000" dirty="0"/>
          </a:p>
        </p:txBody>
      </p:sp>
      <p:pic>
        <p:nvPicPr>
          <p:cNvPr id="11" name="Bild 02" descr="p03">    </p:cNvPr>
          <p:cNvPicPr>
            <a:picLocks noChangeAspect="1"/>
          </p:cNvPicPr>
          <p:nvPr/>
        </p:nvPicPr>
        <p:blipFill>
          <a:blip r:embed="rId2"/>
          <a:srcRect l="0" r="0" t="0" b="0"/>
          <a:stretch/>
        </p:blipFill>
        <p:spPr>
          <a:xfrm>
            <a:off x="4262018" y="2606040"/>
            <a:ext cx="3301898" cy="1188720"/>
          </a:xfrm>
          <a:prstGeom prst="rect">
            <a:avLst/>
          </a:prstGeom>
        </p:spPr>
      </p:pic>
      <p:sp>
        <p:nvSpPr>
          <p:cNvPr id="12" name="Eckmarker 1"/>
          <p:cNvSpPr/>
          <p:nvPr/>
        </p:nvSpPr>
        <p:spPr>
          <a:xfrm>
            <a:off x="4170578" y="2514600"/>
            <a:ext cx="73152" cy="73152"/>
          </a:xfrm>
          <a:prstGeom prst="ellipse">
            <a:avLst/>
          </a:prstGeom>
          <a:solidFill>
            <a:srgbClr val="111418"/>
          </a:solidFill>
          <a:ln w="12700">
            <a:solidFill>
              <a:srgbClr val="111418"/>
            </a:solidFill>
            <a:prstDash val="solid"/>
          </a:ln>
        </p:spPr>
      </p:sp>
      <p:sp>
        <p:nvSpPr>
          <p:cNvPr id="13" name="Eckmarker 2"/>
          <p:cNvSpPr/>
          <p:nvPr/>
        </p:nvSpPr>
        <p:spPr>
          <a:xfrm>
            <a:off x="7582205" y="2514600"/>
            <a:ext cx="73152" cy="73152"/>
          </a:xfrm>
          <a:prstGeom prst="ellipse">
            <a:avLst/>
          </a:prstGeom>
          <a:solidFill>
            <a:srgbClr val="111418"/>
          </a:solidFill>
          <a:ln w="12700">
            <a:solidFill>
              <a:srgbClr val="111418"/>
            </a:solidFill>
            <a:prstDash val="solid"/>
          </a:ln>
        </p:spPr>
      </p:sp>
      <p:sp>
        <p:nvSpPr>
          <p:cNvPr id="14" name="Eckmarker 3"/>
          <p:cNvSpPr/>
          <p:nvPr/>
        </p:nvSpPr>
        <p:spPr>
          <a:xfrm>
            <a:off x="4170578" y="3813048"/>
            <a:ext cx="73152" cy="73152"/>
          </a:xfrm>
          <a:prstGeom prst="ellipse">
            <a:avLst/>
          </a:prstGeom>
          <a:solidFill>
            <a:srgbClr val="111418"/>
          </a:solidFill>
          <a:ln w="12700">
            <a:solidFill>
              <a:srgbClr val="111418"/>
            </a:solidFill>
            <a:prstDash val="solid"/>
          </a:ln>
        </p:spPr>
      </p:sp>
      <p:sp>
        <p:nvSpPr>
          <p:cNvPr id="15" name="Eckmarker 4"/>
          <p:cNvSpPr/>
          <p:nvPr/>
        </p:nvSpPr>
        <p:spPr>
          <a:xfrm>
            <a:off x="7582205" y="3813048"/>
            <a:ext cx="73152" cy="73152"/>
          </a:xfrm>
          <a:prstGeom prst="ellipse">
            <a:avLst/>
          </a:prstGeom>
          <a:solidFill>
            <a:srgbClr val="111418"/>
          </a:solidFill>
          <a:ln w="12700">
            <a:solidFill>
              <a:srgbClr val="111418"/>
            </a:solidFill>
            <a:prstDash val="solid"/>
          </a:ln>
        </p:spPr>
      </p:sp>
      <p:sp>
        <p:nvSpPr>
          <p:cNvPr id="16" name="Eyebrow 02 //  DREHTEIL"/>
          <p:cNvSpPr txBox="1"/>
          <p:nvPr/>
        </p:nvSpPr>
        <p:spPr>
          <a:xfrm>
            <a:off x="4262018" y="397764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DREHTEIL</a:t>
            </a:r>
            <a:endParaRPr lang="en-US" sz="1000" dirty="0"/>
          </a:p>
        </p:txBody>
      </p:sp>
      <p:pic>
        <p:nvPicPr>
          <p:cNvPr id="17" name="Bild 03" descr="p09">    </p:cNvPr>
          <p:cNvPicPr>
            <a:picLocks noChangeAspect="1"/>
          </p:cNvPicPr>
          <p:nvPr/>
        </p:nvPicPr>
        <p:blipFill>
          <a:blip r:embed="rId3"/>
          <a:srcRect l="0" r="0" t="0" b="0"/>
          <a:stretch/>
        </p:blipFill>
        <p:spPr>
          <a:xfrm>
            <a:off x="7975397" y="2606040"/>
            <a:ext cx="3301898" cy="1188720"/>
          </a:xfrm>
          <a:prstGeom prst="rect">
            <a:avLst/>
          </a:prstGeom>
        </p:spPr>
      </p:pic>
      <p:sp>
        <p:nvSpPr>
          <p:cNvPr id="18" name="Eckmarker 1"/>
          <p:cNvSpPr/>
          <p:nvPr/>
        </p:nvSpPr>
        <p:spPr>
          <a:xfrm>
            <a:off x="7883957" y="2514600"/>
            <a:ext cx="73152" cy="73152"/>
          </a:xfrm>
          <a:prstGeom prst="ellipse">
            <a:avLst/>
          </a:prstGeom>
          <a:solidFill>
            <a:srgbClr val="111418"/>
          </a:solidFill>
          <a:ln w="12700">
            <a:solidFill>
              <a:srgbClr val="111418"/>
            </a:solidFill>
            <a:prstDash val="solid"/>
          </a:ln>
        </p:spPr>
      </p:sp>
      <p:sp>
        <p:nvSpPr>
          <p:cNvPr id="19"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20" name="Eckmarker 3"/>
          <p:cNvSpPr/>
          <p:nvPr/>
        </p:nvSpPr>
        <p:spPr>
          <a:xfrm>
            <a:off x="7883957" y="3813048"/>
            <a:ext cx="73152" cy="73152"/>
          </a:xfrm>
          <a:prstGeom prst="ellipse">
            <a:avLst/>
          </a:prstGeom>
          <a:solidFill>
            <a:srgbClr val="111418"/>
          </a:solidFill>
          <a:ln w="12700">
            <a:solidFill>
              <a:srgbClr val="111418"/>
            </a:solidFill>
            <a:prstDash val="solid"/>
          </a:ln>
        </p:spPr>
      </p:sp>
      <p:sp>
        <p:nvSpPr>
          <p:cNvPr id="21" name="Eckmarker 4"/>
          <p:cNvSpPr/>
          <p:nvPr/>
        </p:nvSpPr>
        <p:spPr>
          <a:xfrm>
            <a:off x="11295583" y="3813048"/>
            <a:ext cx="73152" cy="73152"/>
          </a:xfrm>
          <a:prstGeom prst="ellipse">
            <a:avLst/>
          </a:prstGeom>
          <a:solidFill>
            <a:srgbClr val="111418"/>
          </a:solidFill>
          <a:ln w="12700">
            <a:solidFill>
              <a:srgbClr val="111418"/>
            </a:solidFill>
            <a:prstDash val="solid"/>
          </a:ln>
        </p:spPr>
      </p:sp>
      <p:sp>
        <p:nvSpPr>
          <p:cNvPr id="22" name="Eyebrow 03 //  BAUGRUPPE"/>
          <p:cNvSpPr txBox="1"/>
          <p:nvPr/>
        </p:nvSpPr>
        <p:spPr>
          <a:xfrm>
            <a:off x="7975397" y="397764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BAUGRUPPE</a:t>
            </a:r>
            <a:endParaRPr lang="en-US" sz="1000" dirty="0"/>
          </a:p>
        </p:txBody>
      </p:sp>
      <p:pic>
        <p:nvPicPr>
          <p:cNvPr id="23" name="Bild 04" descr="p10">    </p:cNvPr>
          <p:cNvPicPr>
            <a:picLocks noChangeAspect="1"/>
          </p:cNvPicPr>
          <p:nvPr/>
        </p:nvPicPr>
        <p:blipFill>
          <a:blip r:embed="rId4"/>
          <a:srcRect l="0" r="0" t="0" b="0"/>
          <a:stretch/>
        </p:blipFill>
        <p:spPr>
          <a:xfrm>
            <a:off x="548640" y="4572000"/>
            <a:ext cx="3301898" cy="1188720"/>
          </a:xfrm>
          <a:prstGeom prst="rect">
            <a:avLst/>
          </a:prstGeom>
        </p:spPr>
      </p:pic>
      <p:sp>
        <p:nvSpPr>
          <p:cNvPr id="24" name="Eckmarker 1"/>
          <p:cNvSpPr/>
          <p:nvPr/>
        </p:nvSpPr>
        <p:spPr>
          <a:xfrm>
            <a:off x="457200" y="4480560"/>
            <a:ext cx="73152" cy="73152"/>
          </a:xfrm>
          <a:prstGeom prst="ellipse">
            <a:avLst/>
          </a:prstGeom>
          <a:solidFill>
            <a:srgbClr val="111418"/>
          </a:solidFill>
          <a:ln w="12700">
            <a:solidFill>
              <a:srgbClr val="111418"/>
            </a:solidFill>
            <a:prstDash val="solid"/>
          </a:ln>
        </p:spPr>
      </p:sp>
      <p:sp>
        <p:nvSpPr>
          <p:cNvPr id="25" name="Eckmarker 2"/>
          <p:cNvSpPr/>
          <p:nvPr/>
        </p:nvSpPr>
        <p:spPr>
          <a:xfrm>
            <a:off x="3868826" y="4480560"/>
            <a:ext cx="73152" cy="73152"/>
          </a:xfrm>
          <a:prstGeom prst="ellipse">
            <a:avLst/>
          </a:prstGeom>
          <a:solidFill>
            <a:srgbClr val="111418"/>
          </a:solidFill>
          <a:ln w="12700">
            <a:solidFill>
              <a:srgbClr val="111418"/>
            </a:solidFill>
            <a:prstDash val="solid"/>
          </a:ln>
        </p:spPr>
      </p:sp>
      <p:sp>
        <p:nvSpPr>
          <p:cNvPr id="26" name="Eckmarker 3"/>
          <p:cNvSpPr/>
          <p:nvPr/>
        </p:nvSpPr>
        <p:spPr>
          <a:xfrm>
            <a:off x="457200" y="5779008"/>
            <a:ext cx="73152" cy="73152"/>
          </a:xfrm>
          <a:prstGeom prst="ellipse">
            <a:avLst/>
          </a:prstGeom>
          <a:solidFill>
            <a:srgbClr val="111418"/>
          </a:solidFill>
          <a:ln w="12700">
            <a:solidFill>
              <a:srgbClr val="111418"/>
            </a:solidFill>
            <a:prstDash val="solid"/>
          </a:ln>
        </p:spPr>
      </p:sp>
      <p:sp>
        <p:nvSpPr>
          <p:cNvPr id="27" name="Eckmarker 4"/>
          <p:cNvSpPr/>
          <p:nvPr/>
        </p:nvSpPr>
        <p:spPr>
          <a:xfrm>
            <a:off x="3868826" y="5779008"/>
            <a:ext cx="73152" cy="73152"/>
          </a:xfrm>
          <a:prstGeom prst="ellipse">
            <a:avLst/>
          </a:prstGeom>
          <a:solidFill>
            <a:srgbClr val="111418"/>
          </a:solidFill>
          <a:ln w="12700">
            <a:solidFill>
              <a:srgbClr val="111418"/>
            </a:solidFill>
            <a:prstDash val="solid"/>
          </a:ln>
        </p:spPr>
      </p:sp>
      <p:sp>
        <p:nvSpPr>
          <p:cNvPr id="28" name="Eyebrow 04 //  MESSUNG"/>
          <p:cNvSpPr txBox="1"/>
          <p:nvPr/>
        </p:nvSpPr>
        <p:spPr>
          <a:xfrm>
            <a:off x="548640" y="594360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04 //  MESSUNG</a:t>
            </a:r>
            <a:endParaRPr lang="en-US" sz="1000" dirty="0"/>
          </a:p>
        </p:txBody>
      </p:sp>
      <p:pic>
        <p:nvPicPr>
          <p:cNvPr id="29" name="Bild 05" descr="p13">    </p:cNvPr>
          <p:cNvPicPr>
            <a:picLocks noChangeAspect="1"/>
          </p:cNvPicPr>
          <p:nvPr/>
        </p:nvPicPr>
        <p:blipFill>
          <a:blip r:embed="rId5"/>
          <a:srcRect l="0" r="0" t="0" b="0"/>
          <a:stretch/>
        </p:blipFill>
        <p:spPr>
          <a:xfrm>
            <a:off x="4262018" y="4572000"/>
            <a:ext cx="3301898" cy="1188720"/>
          </a:xfrm>
          <a:prstGeom prst="rect">
            <a:avLst/>
          </a:prstGeom>
        </p:spPr>
      </p:pic>
      <p:sp>
        <p:nvSpPr>
          <p:cNvPr id="30" name="Eckmarker 1"/>
          <p:cNvSpPr/>
          <p:nvPr/>
        </p:nvSpPr>
        <p:spPr>
          <a:xfrm>
            <a:off x="4170578" y="4480560"/>
            <a:ext cx="73152" cy="73152"/>
          </a:xfrm>
          <a:prstGeom prst="ellipse">
            <a:avLst/>
          </a:prstGeom>
          <a:solidFill>
            <a:srgbClr val="111418"/>
          </a:solidFill>
          <a:ln w="12700">
            <a:solidFill>
              <a:srgbClr val="111418"/>
            </a:solidFill>
            <a:prstDash val="solid"/>
          </a:ln>
        </p:spPr>
      </p:sp>
      <p:sp>
        <p:nvSpPr>
          <p:cNvPr id="31" name="Eckmarker 2"/>
          <p:cNvSpPr/>
          <p:nvPr/>
        </p:nvSpPr>
        <p:spPr>
          <a:xfrm>
            <a:off x="7582205" y="4480560"/>
            <a:ext cx="73152" cy="73152"/>
          </a:xfrm>
          <a:prstGeom prst="ellipse">
            <a:avLst/>
          </a:prstGeom>
          <a:solidFill>
            <a:srgbClr val="111418"/>
          </a:solidFill>
          <a:ln w="12700">
            <a:solidFill>
              <a:srgbClr val="111418"/>
            </a:solidFill>
            <a:prstDash val="solid"/>
          </a:ln>
        </p:spPr>
      </p:sp>
      <p:sp>
        <p:nvSpPr>
          <p:cNvPr id="32" name="Eckmarker 3"/>
          <p:cNvSpPr/>
          <p:nvPr/>
        </p:nvSpPr>
        <p:spPr>
          <a:xfrm>
            <a:off x="4170578" y="5779008"/>
            <a:ext cx="73152" cy="73152"/>
          </a:xfrm>
          <a:prstGeom prst="ellipse">
            <a:avLst/>
          </a:prstGeom>
          <a:solidFill>
            <a:srgbClr val="111418"/>
          </a:solidFill>
          <a:ln w="12700">
            <a:solidFill>
              <a:srgbClr val="111418"/>
            </a:solidFill>
            <a:prstDash val="solid"/>
          </a:ln>
        </p:spPr>
      </p:sp>
      <p:sp>
        <p:nvSpPr>
          <p:cNvPr id="33" name="Eckmarker 4"/>
          <p:cNvSpPr/>
          <p:nvPr/>
        </p:nvSpPr>
        <p:spPr>
          <a:xfrm>
            <a:off x="7582205" y="5779008"/>
            <a:ext cx="73152" cy="73152"/>
          </a:xfrm>
          <a:prstGeom prst="ellipse">
            <a:avLst/>
          </a:prstGeom>
          <a:solidFill>
            <a:srgbClr val="111418"/>
          </a:solidFill>
          <a:ln w="12700">
            <a:solidFill>
              <a:srgbClr val="111418"/>
            </a:solidFill>
            <a:prstDash val="solid"/>
          </a:ln>
        </p:spPr>
      </p:sp>
      <p:sp>
        <p:nvSpPr>
          <p:cNvPr id="34" name="Eyebrow 05 //  FUNKTIONSMUSTER"/>
          <p:cNvSpPr txBox="1"/>
          <p:nvPr/>
        </p:nvSpPr>
        <p:spPr>
          <a:xfrm>
            <a:off x="4262018" y="594360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05 //  FUNKTIONSMUSTER</a:t>
            </a:r>
            <a:endParaRPr lang="en-US" sz="1000" dirty="0"/>
          </a:p>
        </p:txBody>
      </p:sp>
      <p:pic>
        <p:nvPicPr>
          <p:cNvPr id="35" name="Bild 06" descr="p15">    </p:cNvPr>
          <p:cNvPicPr>
            <a:picLocks noChangeAspect="1"/>
          </p:cNvPicPr>
          <p:nvPr/>
        </p:nvPicPr>
        <p:blipFill>
          <a:blip r:embed="rId6"/>
          <a:srcRect l="0" r="0" t="0" b="0"/>
          <a:stretch/>
        </p:blipFill>
        <p:spPr>
          <a:xfrm>
            <a:off x="7975397" y="4572000"/>
            <a:ext cx="3301898" cy="1188720"/>
          </a:xfrm>
          <a:prstGeom prst="rect">
            <a:avLst/>
          </a:prstGeom>
        </p:spPr>
      </p:pic>
      <p:sp>
        <p:nvSpPr>
          <p:cNvPr id="36" name="Eckmarker 1"/>
          <p:cNvSpPr/>
          <p:nvPr/>
        </p:nvSpPr>
        <p:spPr>
          <a:xfrm>
            <a:off x="7883957" y="4480560"/>
            <a:ext cx="73152" cy="73152"/>
          </a:xfrm>
          <a:prstGeom prst="ellipse">
            <a:avLst/>
          </a:prstGeom>
          <a:solidFill>
            <a:srgbClr val="111418"/>
          </a:solidFill>
          <a:ln w="12700">
            <a:solidFill>
              <a:srgbClr val="111418"/>
            </a:solidFill>
            <a:prstDash val="solid"/>
          </a:ln>
        </p:spPr>
      </p:sp>
      <p:sp>
        <p:nvSpPr>
          <p:cNvPr id="37" name="Eckmarker 2"/>
          <p:cNvSpPr/>
          <p:nvPr/>
        </p:nvSpPr>
        <p:spPr>
          <a:xfrm>
            <a:off x="11295583" y="4480560"/>
            <a:ext cx="73152" cy="73152"/>
          </a:xfrm>
          <a:prstGeom prst="ellipse">
            <a:avLst/>
          </a:prstGeom>
          <a:solidFill>
            <a:srgbClr val="111418"/>
          </a:solidFill>
          <a:ln w="12700">
            <a:solidFill>
              <a:srgbClr val="111418"/>
            </a:solidFill>
            <a:prstDash val="solid"/>
          </a:ln>
        </p:spPr>
      </p:sp>
      <p:sp>
        <p:nvSpPr>
          <p:cNvPr id="38" name="Eckmarker 3"/>
          <p:cNvSpPr/>
          <p:nvPr/>
        </p:nvSpPr>
        <p:spPr>
          <a:xfrm>
            <a:off x="7883957" y="5779008"/>
            <a:ext cx="73152" cy="73152"/>
          </a:xfrm>
          <a:prstGeom prst="ellipse">
            <a:avLst/>
          </a:prstGeom>
          <a:solidFill>
            <a:srgbClr val="111418"/>
          </a:solidFill>
          <a:ln w="12700">
            <a:solidFill>
              <a:srgbClr val="111418"/>
            </a:solidFill>
            <a:prstDash val="solid"/>
          </a:ln>
        </p:spPr>
      </p:sp>
      <p:sp>
        <p:nvSpPr>
          <p:cNvPr id="39" name="Eckmarker 4"/>
          <p:cNvSpPr/>
          <p:nvPr/>
        </p:nvSpPr>
        <p:spPr>
          <a:xfrm>
            <a:off x="11295583" y="5779008"/>
            <a:ext cx="73152" cy="73152"/>
          </a:xfrm>
          <a:prstGeom prst="ellipse">
            <a:avLst/>
          </a:prstGeom>
          <a:solidFill>
            <a:srgbClr val="111418"/>
          </a:solidFill>
          <a:ln w="12700">
            <a:solidFill>
              <a:srgbClr val="111418"/>
            </a:solidFill>
            <a:prstDash val="solid"/>
          </a:ln>
        </p:spPr>
      </p:sp>
      <p:sp>
        <p:nvSpPr>
          <p:cNvPr id="40" name="Eyebrow 06 //  MONTAGE"/>
          <p:cNvSpPr txBox="1"/>
          <p:nvPr/>
        </p:nvSpPr>
        <p:spPr>
          <a:xfrm>
            <a:off x="7975397" y="594360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06 //  MONTAGE</a:t>
            </a:r>
            <a:endParaRPr lang="en-US" sz="1000" dirty="0"/>
          </a:p>
        </p:txBody>
      </p:sp>
      <p:sp>
        <p:nvSpPr>
          <p:cNvPr id="41"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19</a:t>
            </a:fld>
            <a:endParaRPr lang="en-US"/>
          </a:p>
        </p:txBody>
      </p:sp>
      <p:sp>
        <p:nvSpPr>
          <p:cNvPr id="42"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06 //  KONTAKT</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Ihre Ansprechpersonen</a:t>
            </a:r>
            <a:endParaRPr lang="en-US" sz="3400" dirty="0"/>
          </a:p>
        </p:txBody>
      </p:sp>
      <p:pic>
        <p:nvPicPr>
          <p:cNvPr id="5" name="Porträt Alain Roth" descr="p15">    </p:cNvPr>
          <p:cNvPicPr>
            <a:picLocks noChangeAspect="1"/>
          </p:cNvPicPr>
          <p:nvPr/>
        </p:nvPicPr>
        <p:blipFill>
          <a:blip r:embed="rId1"/>
          <a:srcRect l="0" r="0" t="0" b="0"/>
          <a:stretch/>
        </p:blipFill>
        <p:spPr>
          <a:xfrm>
            <a:off x="548640" y="2606040"/>
            <a:ext cx="2194560" cy="2651760"/>
          </a:xfrm>
          <a:prstGeom prst="rect">
            <a:avLst/>
          </a:prstGeom>
        </p:spPr>
      </p:pic>
      <p:sp>
        <p:nvSpPr>
          <p:cNvPr id="6" name="Eckmarker 1"/>
          <p:cNvSpPr/>
          <p:nvPr/>
        </p:nvSpPr>
        <p:spPr>
          <a:xfrm>
            <a:off x="457200" y="2514600"/>
            <a:ext cx="73152" cy="73152"/>
          </a:xfrm>
          <a:prstGeom prst="ellipse">
            <a:avLst/>
          </a:prstGeom>
          <a:solidFill>
            <a:srgbClr val="111418"/>
          </a:solidFill>
          <a:ln w="12700">
            <a:solidFill>
              <a:srgbClr val="111418"/>
            </a:solidFill>
            <a:prstDash val="solid"/>
          </a:ln>
        </p:spPr>
      </p:sp>
      <p:sp>
        <p:nvSpPr>
          <p:cNvPr id="7" name="Eckmarker 2"/>
          <p:cNvSpPr/>
          <p:nvPr/>
        </p:nvSpPr>
        <p:spPr>
          <a:xfrm>
            <a:off x="2761488" y="251460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5276088"/>
            <a:ext cx="73152" cy="73152"/>
          </a:xfrm>
          <a:prstGeom prst="ellipse">
            <a:avLst/>
          </a:prstGeom>
          <a:solidFill>
            <a:srgbClr val="111418"/>
          </a:solidFill>
          <a:ln w="12700">
            <a:solidFill>
              <a:srgbClr val="111418"/>
            </a:solidFill>
            <a:prstDash val="solid"/>
          </a:ln>
        </p:spPr>
      </p:sp>
      <p:sp>
        <p:nvSpPr>
          <p:cNvPr id="9" name="Eckmarker 4"/>
          <p:cNvSpPr/>
          <p:nvPr/>
        </p:nvSpPr>
        <p:spPr>
          <a:xfrm>
            <a:off x="2761488" y="5276088"/>
            <a:ext cx="73152" cy="73152"/>
          </a:xfrm>
          <a:prstGeom prst="ellipse">
            <a:avLst/>
          </a:prstGeom>
          <a:solidFill>
            <a:srgbClr val="111418"/>
          </a:solidFill>
          <a:ln w="12700">
            <a:solidFill>
              <a:srgbClr val="111418"/>
            </a:solidFill>
            <a:prstDash val="solid"/>
          </a:ln>
        </p:spPr>
      </p:sp>
      <p:sp>
        <p:nvSpPr>
          <p:cNvPr id="10" name="Name Alain Roth"/>
          <p:cNvSpPr txBox="1"/>
          <p:nvPr/>
        </p:nvSpPr>
        <p:spPr>
          <a:xfrm>
            <a:off x="3063240" y="2606040"/>
            <a:ext cx="2651760" cy="411480"/>
          </a:xfrm>
          <a:prstGeom prst="rect">
            <a:avLst/>
          </a:prstGeom>
          <a:noFill/>
          <a:ln/>
        </p:spPr>
        <p:txBody>
          <a:bodyPr wrap="square" lIns="0" tIns="0" rIns="0" bIns="0" rtlCol="0" anchor="ctr"/>
          <a:lstStyle/>
          <a:p>
            <a:pPr indent="0" marL="0">
              <a:buNone/>
            </a:pPr>
            <a:r>
              <a:rPr lang="en-US" sz="2200" spc="-40" kern="0" dirty="0">
                <a:solidFill>
                  <a:srgbClr val="111418"/>
                </a:solidFill>
              </a:rPr>
              <a:t>Alain Roth</a:t>
            </a:r>
            <a:endParaRPr lang="en-US" sz="2200" dirty="0"/>
          </a:p>
        </p:txBody>
      </p:sp>
      <p:sp>
        <p:nvSpPr>
          <p:cNvPr id="11" name="Eyebrow GESCHÄFTSFÜHRER  ·  ENTWICKLUNG"/>
          <p:cNvSpPr txBox="1"/>
          <p:nvPr/>
        </p:nvSpPr>
        <p:spPr>
          <a:xfrm>
            <a:off x="3063240" y="3063240"/>
            <a:ext cx="2651760" cy="256032"/>
          </a:xfrm>
          <a:prstGeom prst="rect">
            <a:avLst/>
          </a:prstGeom>
          <a:noFill/>
          <a:ln/>
        </p:spPr>
        <p:txBody>
          <a:bodyPr wrap="square" lIns="0" tIns="0" rIns="0" bIns="0" rtlCol="0" anchor="ctr"/>
          <a:lstStyle/>
          <a:p>
            <a:pPr indent="0" marL="0">
              <a:buNone/>
            </a:pPr>
            <a:r>
              <a:rPr lang="en-US" sz="1000" spc="-30" kern="0" dirty="0">
                <a:solidFill>
                  <a:srgbClr val="707981"/>
                </a:solidFill>
              </a:rPr>
              <a:t>GESCHÄFTSFÜHRER  ·  ENTWICKLUNG</a:t>
            </a:r>
            <a:endParaRPr lang="en-US" sz="1000" dirty="0"/>
          </a:p>
        </p:txBody>
      </p:sp>
      <p:sp>
        <p:nvSpPr>
          <p:cNvPr id="12" name="Linie Alain Roth"/>
          <p:cNvSpPr/>
          <p:nvPr/>
        </p:nvSpPr>
        <p:spPr>
          <a:xfrm>
            <a:off x="3063240" y="3429000"/>
            <a:ext cx="2651760" cy="0"/>
          </a:xfrm>
          <a:prstGeom prst="line">
            <a:avLst/>
          </a:prstGeom>
          <a:noFill/>
          <a:ln w="6350">
            <a:solidFill>
              <a:srgbClr val="91A19B"/>
            </a:solidFill>
            <a:prstDash val="solid"/>
          </a:ln>
        </p:spPr>
      </p:sp>
      <p:sp>
        <p:nvSpPr>
          <p:cNvPr id="13" name="Kontakt Alain Roth"/>
          <p:cNvSpPr txBox="1"/>
          <p:nvPr/>
        </p:nvSpPr>
        <p:spPr>
          <a:xfrm>
            <a:off x="3063240" y="3566160"/>
            <a:ext cx="2651760" cy="640080"/>
          </a:xfrm>
          <a:prstGeom prst="rect">
            <a:avLst/>
          </a:prstGeom>
          <a:noFill/>
          <a:ln/>
        </p:spPr>
        <p:txBody>
          <a:bodyPr wrap="square" lIns="0" tIns="0" rIns="0" bIns="0" rtlCol="0" anchor="t"/>
          <a:lstStyle/>
          <a:p>
            <a:pPr indent="0" marL="0">
              <a:lnSpc>
                <a:spcPct val="130000"/>
              </a:lnSpc>
              <a:buNone/>
            </a:pPr>
            <a:r>
              <a:rPr lang="en-US" sz="1200" dirty="0">
                <a:solidFill>
                  <a:srgbClr val="111418"/>
                </a:solidFill>
              </a:rPr>
              <a:t>+41 71 855 88 55</a:t>
            </a:r>
            <a:endParaRPr lang="en-US" sz="1200" dirty="0"/>
          </a:p>
          <a:p>
            <a:pPr indent="0" marL="0">
              <a:lnSpc>
                <a:spcPct val="130000"/>
              </a:lnSpc>
              <a:buNone/>
            </a:pPr>
            <a:r>
              <a:rPr lang="en-US" sz="1200" dirty="0">
                <a:solidFill>
                  <a:srgbClr val="25C77A"/>
                </a:solidFill>
              </a:rPr>
              <a:t>alain.roth@iro.swiss</a:t>
            </a:r>
            <a:endParaRPr lang="en-US" sz="1200" dirty="0"/>
          </a:p>
        </p:txBody>
      </p:sp>
      <p:sp>
        <p:nvSpPr>
          <p:cNvPr id="14" name="Adresse Alain Roth"/>
          <p:cNvSpPr txBox="1"/>
          <p:nvPr/>
        </p:nvSpPr>
        <p:spPr>
          <a:xfrm>
            <a:off x="3063240" y="4297680"/>
            <a:ext cx="2651760" cy="274320"/>
          </a:xfrm>
          <a:prstGeom prst="rect">
            <a:avLst/>
          </a:prstGeom>
          <a:noFill/>
          <a:ln/>
        </p:spPr>
        <p:txBody>
          <a:bodyPr wrap="square" lIns="0" tIns="0" rIns="0" bIns="0" rtlCol="0" anchor="t"/>
          <a:lstStyle/>
          <a:p>
            <a:pPr indent="0" marL="0">
              <a:buNone/>
            </a:pPr>
            <a:r>
              <a:rPr lang="en-US" sz="1000" dirty="0">
                <a:solidFill>
                  <a:srgbClr val="707981"/>
                </a:solidFill>
              </a:rPr>
              <a:t>Hafenstrasse 62  ·  CH-8590 Romanshorn</a:t>
            </a:r>
            <a:endParaRPr lang="en-US" sz="1000" dirty="0"/>
          </a:p>
        </p:txBody>
      </p:sp>
      <p:pic>
        <p:nvPicPr>
          <p:cNvPr id="15" name="Porträt Vorname Name" descr="p10">    </p:cNvPr>
          <p:cNvPicPr>
            <a:picLocks noChangeAspect="1"/>
          </p:cNvPicPr>
          <p:nvPr/>
        </p:nvPicPr>
        <p:blipFill>
          <a:blip r:embed="rId2"/>
          <a:srcRect l="0" r="0" t="0" b="0"/>
          <a:stretch/>
        </p:blipFill>
        <p:spPr>
          <a:xfrm>
            <a:off x="6108192" y="2606040"/>
            <a:ext cx="2194560" cy="2651760"/>
          </a:xfrm>
          <a:prstGeom prst="rect">
            <a:avLst/>
          </a:prstGeom>
        </p:spPr>
      </p:pic>
      <p:sp>
        <p:nvSpPr>
          <p:cNvPr id="16" name="Eckmarker 1"/>
          <p:cNvSpPr/>
          <p:nvPr/>
        </p:nvSpPr>
        <p:spPr>
          <a:xfrm>
            <a:off x="6016752" y="2514600"/>
            <a:ext cx="73152" cy="73152"/>
          </a:xfrm>
          <a:prstGeom prst="ellipse">
            <a:avLst/>
          </a:prstGeom>
          <a:solidFill>
            <a:srgbClr val="111418"/>
          </a:solidFill>
          <a:ln w="12700">
            <a:solidFill>
              <a:srgbClr val="111418"/>
            </a:solidFill>
            <a:prstDash val="solid"/>
          </a:ln>
        </p:spPr>
      </p:sp>
      <p:sp>
        <p:nvSpPr>
          <p:cNvPr id="17" name="Eckmarker 2"/>
          <p:cNvSpPr/>
          <p:nvPr/>
        </p:nvSpPr>
        <p:spPr>
          <a:xfrm>
            <a:off x="8321040" y="2514600"/>
            <a:ext cx="73152" cy="73152"/>
          </a:xfrm>
          <a:prstGeom prst="ellipse">
            <a:avLst/>
          </a:prstGeom>
          <a:solidFill>
            <a:srgbClr val="111418"/>
          </a:solidFill>
          <a:ln w="12700">
            <a:solidFill>
              <a:srgbClr val="111418"/>
            </a:solidFill>
            <a:prstDash val="solid"/>
          </a:ln>
        </p:spPr>
      </p:sp>
      <p:sp>
        <p:nvSpPr>
          <p:cNvPr id="18" name="Eckmarker 3"/>
          <p:cNvSpPr/>
          <p:nvPr/>
        </p:nvSpPr>
        <p:spPr>
          <a:xfrm>
            <a:off x="6016752" y="5276088"/>
            <a:ext cx="73152" cy="73152"/>
          </a:xfrm>
          <a:prstGeom prst="ellipse">
            <a:avLst/>
          </a:prstGeom>
          <a:solidFill>
            <a:srgbClr val="111418"/>
          </a:solidFill>
          <a:ln w="12700">
            <a:solidFill>
              <a:srgbClr val="111418"/>
            </a:solidFill>
            <a:prstDash val="solid"/>
          </a:ln>
        </p:spPr>
      </p:sp>
      <p:sp>
        <p:nvSpPr>
          <p:cNvPr id="19" name="Eckmarker 4"/>
          <p:cNvSpPr/>
          <p:nvPr/>
        </p:nvSpPr>
        <p:spPr>
          <a:xfrm>
            <a:off x="8321040" y="5276088"/>
            <a:ext cx="73152" cy="73152"/>
          </a:xfrm>
          <a:prstGeom prst="ellipse">
            <a:avLst/>
          </a:prstGeom>
          <a:solidFill>
            <a:srgbClr val="111418"/>
          </a:solidFill>
          <a:ln w="12700">
            <a:solidFill>
              <a:srgbClr val="111418"/>
            </a:solidFill>
            <a:prstDash val="solid"/>
          </a:ln>
        </p:spPr>
      </p:sp>
      <p:sp>
        <p:nvSpPr>
          <p:cNvPr id="20" name="Name Vorname Name"/>
          <p:cNvSpPr txBox="1"/>
          <p:nvPr/>
        </p:nvSpPr>
        <p:spPr>
          <a:xfrm>
            <a:off x="8622792" y="2606040"/>
            <a:ext cx="2651760" cy="411480"/>
          </a:xfrm>
          <a:prstGeom prst="rect">
            <a:avLst/>
          </a:prstGeom>
          <a:noFill/>
          <a:ln/>
        </p:spPr>
        <p:txBody>
          <a:bodyPr wrap="square" lIns="0" tIns="0" rIns="0" bIns="0" rtlCol="0" anchor="ctr"/>
          <a:lstStyle/>
          <a:p>
            <a:pPr indent="0" marL="0">
              <a:buNone/>
            </a:pPr>
            <a:r>
              <a:rPr lang="en-US" sz="2200" spc="-40" kern="0" dirty="0">
                <a:solidFill>
                  <a:srgbClr val="111418"/>
                </a:solidFill>
              </a:rPr>
              <a:t>Vorname Name</a:t>
            </a:r>
            <a:endParaRPr lang="en-US" sz="2200" dirty="0"/>
          </a:p>
        </p:txBody>
      </p:sp>
      <p:sp>
        <p:nvSpPr>
          <p:cNvPr id="21" name="Eyebrow PROJEKTLEITUNG  ·  KONSTRUKTION"/>
          <p:cNvSpPr txBox="1"/>
          <p:nvPr/>
        </p:nvSpPr>
        <p:spPr>
          <a:xfrm>
            <a:off x="8622792" y="3063240"/>
            <a:ext cx="2651760" cy="256032"/>
          </a:xfrm>
          <a:prstGeom prst="rect">
            <a:avLst/>
          </a:prstGeom>
          <a:noFill/>
          <a:ln/>
        </p:spPr>
        <p:txBody>
          <a:bodyPr wrap="square" lIns="0" tIns="0" rIns="0" bIns="0" rtlCol="0" anchor="ctr"/>
          <a:lstStyle/>
          <a:p>
            <a:pPr indent="0" marL="0">
              <a:buNone/>
            </a:pPr>
            <a:r>
              <a:rPr lang="en-US" sz="1000" spc="-30" kern="0" dirty="0">
                <a:solidFill>
                  <a:srgbClr val="707981"/>
                </a:solidFill>
              </a:rPr>
              <a:t>PROJEKTLEITUNG  ·  KONSTRUKTION</a:t>
            </a:r>
            <a:endParaRPr lang="en-US" sz="1000" dirty="0"/>
          </a:p>
        </p:txBody>
      </p:sp>
      <p:sp>
        <p:nvSpPr>
          <p:cNvPr id="22" name="Linie Vorname Name"/>
          <p:cNvSpPr/>
          <p:nvPr/>
        </p:nvSpPr>
        <p:spPr>
          <a:xfrm>
            <a:off x="8622792" y="3429000"/>
            <a:ext cx="2651760" cy="0"/>
          </a:xfrm>
          <a:prstGeom prst="line">
            <a:avLst/>
          </a:prstGeom>
          <a:noFill/>
          <a:ln w="6350">
            <a:solidFill>
              <a:srgbClr val="91A19B"/>
            </a:solidFill>
            <a:prstDash val="solid"/>
          </a:ln>
        </p:spPr>
      </p:sp>
      <p:sp>
        <p:nvSpPr>
          <p:cNvPr id="23" name="Kontakt Vorname Name"/>
          <p:cNvSpPr txBox="1"/>
          <p:nvPr/>
        </p:nvSpPr>
        <p:spPr>
          <a:xfrm>
            <a:off x="8622792" y="3566160"/>
            <a:ext cx="2651760" cy="640080"/>
          </a:xfrm>
          <a:prstGeom prst="rect">
            <a:avLst/>
          </a:prstGeom>
          <a:noFill/>
          <a:ln/>
        </p:spPr>
        <p:txBody>
          <a:bodyPr wrap="square" lIns="0" tIns="0" rIns="0" bIns="0" rtlCol="0" anchor="t"/>
          <a:lstStyle/>
          <a:p>
            <a:pPr indent="0" marL="0">
              <a:lnSpc>
                <a:spcPct val="130000"/>
              </a:lnSpc>
              <a:buNone/>
            </a:pPr>
            <a:r>
              <a:rPr lang="en-US" sz="1200" dirty="0">
                <a:solidFill>
                  <a:srgbClr val="111418"/>
                </a:solidFill>
              </a:rPr>
              <a:t>+41 71 855 88 55</a:t>
            </a:r>
            <a:endParaRPr lang="en-US" sz="1200" dirty="0"/>
          </a:p>
          <a:p>
            <a:pPr indent="0" marL="0">
              <a:lnSpc>
                <a:spcPct val="130000"/>
              </a:lnSpc>
              <a:buNone/>
            </a:pPr>
            <a:r>
              <a:rPr lang="en-US" sz="1200" dirty="0">
                <a:solidFill>
                  <a:srgbClr val="25C77A"/>
                </a:solidFill>
              </a:rPr>
              <a:t>vorname.name@iro.swiss</a:t>
            </a:r>
            <a:endParaRPr lang="en-US" sz="1200" dirty="0"/>
          </a:p>
        </p:txBody>
      </p:sp>
      <p:sp>
        <p:nvSpPr>
          <p:cNvPr id="24" name="Adresse Vorname Name"/>
          <p:cNvSpPr txBox="1"/>
          <p:nvPr/>
        </p:nvSpPr>
        <p:spPr>
          <a:xfrm>
            <a:off x="8622792" y="4297680"/>
            <a:ext cx="2651760" cy="274320"/>
          </a:xfrm>
          <a:prstGeom prst="rect">
            <a:avLst/>
          </a:prstGeom>
          <a:noFill/>
          <a:ln/>
        </p:spPr>
        <p:txBody>
          <a:bodyPr wrap="square" lIns="0" tIns="0" rIns="0" bIns="0" rtlCol="0" anchor="t"/>
          <a:lstStyle/>
          <a:p>
            <a:pPr indent="0" marL="0">
              <a:buNone/>
            </a:pPr>
            <a:r>
              <a:rPr lang="en-US" sz="1000" dirty="0">
                <a:solidFill>
                  <a:srgbClr val="707981"/>
                </a:solidFill>
              </a:rPr>
              <a:t>Hafenstrasse 62  ·  CH-8590 Romanshorn</a:t>
            </a:r>
            <a:endParaRPr lang="en-US" sz="1000" dirty="0"/>
          </a:p>
        </p:txBody>
      </p:sp>
      <p:sp>
        <p:nvSpPr>
          <p:cNvPr id="25"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20</a:t>
            </a:fld>
            <a:endParaRPr lang="en-US"/>
          </a:p>
        </p:txBody>
      </p:sp>
      <p:sp>
        <p:nvSpPr>
          <p:cNvPr id="26"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04 //  PROTOTYP UND TESTS  ·  FREIGABESTAND</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Drei Bauteile, drei Freigabestände</a:t>
            </a:r>
            <a:endParaRPr lang="en-US" sz="3400" dirty="0"/>
          </a:p>
        </p:txBody>
      </p:sp>
      <p:pic>
        <p:nvPicPr>
          <p:cNvPr id="5" name="Bild 1" descr="p22">    </p:cNvPr>
          <p:cNvPicPr>
            <a:picLocks noChangeAspect="1"/>
          </p:cNvPicPr>
          <p:nvPr/>
        </p:nvPicPr>
        <p:blipFill>
          <a:blip r:embed="rId1"/>
          <a:srcRect l="0" r="0" t="0" b="0"/>
          <a:stretch/>
        </p:blipFill>
        <p:spPr>
          <a:xfrm>
            <a:off x="548640" y="2606040"/>
            <a:ext cx="3301898" cy="1828800"/>
          </a:xfrm>
          <a:prstGeom prst="rect">
            <a:avLst/>
          </a:prstGeom>
        </p:spPr>
      </p:pic>
      <p:sp>
        <p:nvSpPr>
          <p:cNvPr id="6" name="Eckmarker 1"/>
          <p:cNvSpPr/>
          <p:nvPr/>
        </p:nvSpPr>
        <p:spPr>
          <a:xfrm>
            <a:off x="457200" y="2514600"/>
            <a:ext cx="73152" cy="73152"/>
          </a:xfrm>
          <a:prstGeom prst="ellipse">
            <a:avLst/>
          </a:prstGeom>
          <a:solidFill>
            <a:srgbClr val="111418"/>
          </a:solidFill>
          <a:ln w="12700">
            <a:solidFill>
              <a:srgbClr val="111418"/>
            </a:solidFill>
            <a:prstDash val="solid"/>
          </a:ln>
        </p:spPr>
      </p:sp>
      <p:sp>
        <p:nvSpPr>
          <p:cNvPr id="7" name="Eckmarker 2"/>
          <p:cNvSpPr/>
          <p:nvPr/>
        </p:nvSpPr>
        <p:spPr>
          <a:xfrm>
            <a:off x="3868826" y="2514600"/>
            <a:ext cx="73152" cy="73152"/>
          </a:xfrm>
          <a:prstGeom prst="ellipse">
            <a:avLst/>
          </a:prstGeom>
          <a:solidFill>
            <a:srgbClr val="111418"/>
          </a:solidFill>
          <a:ln w="12700">
            <a:solidFill>
              <a:srgbClr val="111418"/>
            </a:solidFill>
            <a:prstDash val="solid"/>
          </a:ln>
        </p:spPr>
      </p:sp>
      <p:sp>
        <p:nvSpPr>
          <p:cNvPr id="8" name="Eckmarker 3"/>
          <p:cNvSpPr/>
          <p:nvPr/>
        </p:nvSpPr>
        <p:spPr>
          <a:xfrm>
            <a:off x="457200" y="4453128"/>
            <a:ext cx="73152" cy="73152"/>
          </a:xfrm>
          <a:prstGeom prst="ellipse">
            <a:avLst/>
          </a:prstGeom>
          <a:solidFill>
            <a:srgbClr val="111418"/>
          </a:solidFill>
          <a:ln w="12700">
            <a:solidFill>
              <a:srgbClr val="111418"/>
            </a:solidFill>
            <a:prstDash val="solid"/>
          </a:ln>
        </p:spPr>
      </p:sp>
      <p:sp>
        <p:nvSpPr>
          <p:cNvPr id="9" name="Eckmarker 4"/>
          <p:cNvSpPr/>
          <p:nvPr/>
        </p:nvSpPr>
        <p:spPr>
          <a:xfrm>
            <a:off x="3868826" y="4453128"/>
            <a:ext cx="73152" cy="73152"/>
          </a:xfrm>
          <a:prstGeom prst="ellipse">
            <a:avLst/>
          </a:prstGeom>
          <a:solidFill>
            <a:srgbClr val="111418"/>
          </a:solidFill>
          <a:ln w="12700">
            <a:solidFill>
              <a:srgbClr val="111418"/>
            </a:solidFill>
            <a:prstDash val="solid"/>
          </a:ln>
        </p:spPr>
      </p:sp>
      <p:sp>
        <p:nvSpPr>
          <p:cNvPr id="10" name="Label VERTRAULICH"/>
          <p:cNvSpPr/>
          <p:nvPr/>
        </p:nvSpPr>
        <p:spPr>
          <a:xfrm>
            <a:off x="685800" y="2743200"/>
            <a:ext cx="960120" cy="237744"/>
          </a:xfrm>
          <a:prstGeom prst="rect">
            <a:avLst/>
          </a:prstGeom>
          <a:solidFill>
            <a:srgbClr val="B8463A"/>
          </a:solidFill>
          <a:ln w="6350">
            <a:solidFill>
              <a:srgbClr val="B8463A"/>
            </a:solidFill>
            <a:prstDash val="solid"/>
          </a:ln>
        </p:spPr>
      </p:sp>
      <p:sp>
        <p:nvSpPr>
          <p:cNvPr id="11" name="Label VERTRAULICH Text"/>
          <p:cNvSpPr txBox="1"/>
          <p:nvPr/>
        </p:nvSpPr>
        <p:spPr>
          <a:xfrm>
            <a:off x="685800" y="2743200"/>
            <a:ext cx="960120" cy="237744"/>
          </a:xfrm>
          <a:prstGeom prst="rect">
            <a:avLst/>
          </a:prstGeom>
          <a:noFill/>
          <a:ln/>
        </p:spPr>
        <p:txBody>
          <a:bodyPr wrap="square" lIns="0" tIns="0" rIns="0" bIns="0" rtlCol="0" anchor="ctr"/>
          <a:lstStyle/>
          <a:p>
            <a:pPr algn="ctr" indent="0" marL="0">
              <a:buNone/>
            </a:pPr>
            <a:r>
              <a:rPr lang="en-US" sz="750" spc="-20" kern="0" dirty="0">
                <a:solidFill>
                  <a:srgbClr val="FFFFFF"/>
                </a:solidFill>
              </a:rPr>
              <a:t>VERTRAULICH</a:t>
            </a:r>
            <a:endParaRPr lang="en-US" sz="750" dirty="0"/>
          </a:p>
        </p:txBody>
      </p:sp>
      <p:sp>
        <p:nvSpPr>
          <p:cNvPr id="12" name="Eyebrow 01 //  SHORE-HÄRTEMUSTER  ·  NICHT WEITERGEBEN"/>
          <p:cNvSpPr txBox="1"/>
          <p:nvPr/>
        </p:nvSpPr>
        <p:spPr>
          <a:xfrm>
            <a:off x="548640" y="470916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SHORE-HÄRTEMUSTER  ·  NICHT WEITERGEBEN</a:t>
            </a:r>
            <a:endParaRPr lang="en-US" sz="1000" dirty="0"/>
          </a:p>
        </p:txBody>
      </p:sp>
      <p:pic>
        <p:nvPicPr>
          <p:cNvPr id="13" name="Bild 2" descr="p03">    </p:cNvPr>
          <p:cNvPicPr>
            <a:picLocks noChangeAspect="1"/>
          </p:cNvPicPr>
          <p:nvPr/>
        </p:nvPicPr>
        <p:blipFill>
          <a:blip r:embed="rId2"/>
          <a:srcRect l="0" r="0" t="0" b="0"/>
          <a:stretch/>
        </p:blipFill>
        <p:spPr>
          <a:xfrm>
            <a:off x="4262018" y="2606040"/>
            <a:ext cx="3301898" cy="1828800"/>
          </a:xfrm>
          <a:prstGeom prst="rect">
            <a:avLst/>
          </a:prstGeom>
        </p:spPr>
      </p:pic>
      <p:sp>
        <p:nvSpPr>
          <p:cNvPr id="14" name="Eckmarker 1"/>
          <p:cNvSpPr/>
          <p:nvPr/>
        </p:nvSpPr>
        <p:spPr>
          <a:xfrm>
            <a:off x="4170578" y="2514600"/>
            <a:ext cx="73152" cy="73152"/>
          </a:xfrm>
          <a:prstGeom prst="ellipse">
            <a:avLst/>
          </a:prstGeom>
          <a:solidFill>
            <a:srgbClr val="111418"/>
          </a:solidFill>
          <a:ln w="12700">
            <a:solidFill>
              <a:srgbClr val="111418"/>
            </a:solidFill>
            <a:prstDash val="solid"/>
          </a:ln>
        </p:spPr>
      </p:sp>
      <p:sp>
        <p:nvSpPr>
          <p:cNvPr id="15" name="Eckmarker 2"/>
          <p:cNvSpPr/>
          <p:nvPr/>
        </p:nvSpPr>
        <p:spPr>
          <a:xfrm>
            <a:off x="7582205" y="2514600"/>
            <a:ext cx="73152" cy="73152"/>
          </a:xfrm>
          <a:prstGeom prst="ellipse">
            <a:avLst/>
          </a:prstGeom>
          <a:solidFill>
            <a:srgbClr val="111418"/>
          </a:solidFill>
          <a:ln w="12700">
            <a:solidFill>
              <a:srgbClr val="111418"/>
            </a:solidFill>
            <a:prstDash val="solid"/>
          </a:ln>
        </p:spPr>
      </p:sp>
      <p:sp>
        <p:nvSpPr>
          <p:cNvPr id="16" name="Eckmarker 3"/>
          <p:cNvSpPr/>
          <p:nvPr/>
        </p:nvSpPr>
        <p:spPr>
          <a:xfrm>
            <a:off x="4170578" y="4453128"/>
            <a:ext cx="73152" cy="73152"/>
          </a:xfrm>
          <a:prstGeom prst="ellipse">
            <a:avLst/>
          </a:prstGeom>
          <a:solidFill>
            <a:srgbClr val="111418"/>
          </a:solidFill>
          <a:ln w="12700">
            <a:solidFill>
              <a:srgbClr val="111418"/>
            </a:solidFill>
            <a:prstDash val="solid"/>
          </a:ln>
        </p:spPr>
      </p:sp>
      <p:sp>
        <p:nvSpPr>
          <p:cNvPr id="17" name="Eckmarker 4"/>
          <p:cNvSpPr/>
          <p:nvPr/>
        </p:nvSpPr>
        <p:spPr>
          <a:xfrm>
            <a:off x="7582205" y="4453128"/>
            <a:ext cx="73152" cy="73152"/>
          </a:xfrm>
          <a:prstGeom prst="ellipse">
            <a:avLst/>
          </a:prstGeom>
          <a:solidFill>
            <a:srgbClr val="111418"/>
          </a:solidFill>
          <a:ln w="12700">
            <a:solidFill>
              <a:srgbClr val="111418"/>
            </a:solidFill>
            <a:prstDash val="solid"/>
          </a:ln>
        </p:spPr>
      </p:sp>
      <p:sp>
        <p:nvSpPr>
          <p:cNvPr id="18" name="Label IN PRÜFUNG"/>
          <p:cNvSpPr/>
          <p:nvPr/>
        </p:nvSpPr>
        <p:spPr>
          <a:xfrm>
            <a:off x="4399178" y="2743200"/>
            <a:ext cx="960120" cy="237744"/>
          </a:xfrm>
          <a:prstGeom prst="rect">
            <a:avLst/>
          </a:prstGeom>
          <a:solidFill>
            <a:srgbClr val="E2A33D"/>
          </a:solidFill>
          <a:ln w="6350">
            <a:solidFill>
              <a:srgbClr val="E2A33D"/>
            </a:solidFill>
            <a:prstDash val="solid"/>
          </a:ln>
        </p:spPr>
      </p:sp>
      <p:sp>
        <p:nvSpPr>
          <p:cNvPr id="19" name="Label IN PRÜFUNG Text"/>
          <p:cNvSpPr txBox="1"/>
          <p:nvPr/>
        </p:nvSpPr>
        <p:spPr>
          <a:xfrm>
            <a:off x="4399178" y="2743200"/>
            <a:ext cx="96012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IN PRÜFUNG</a:t>
            </a:r>
            <a:endParaRPr lang="en-US" sz="750" dirty="0"/>
          </a:p>
        </p:txBody>
      </p:sp>
      <p:sp>
        <p:nvSpPr>
          <p:cNvPr id="20" name="Eyebrow 02 //  DREHTEIL  ·  MASSE IN PRÜFUNG"/>
          <p:cNvSpPr txBox="1"/>
          <p:nvPr/>
        </p:nvSpPr>
        <p:spPr>
          <a:xfrm>
            <a:off x="4262018" y="470916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DREHTEIL  ·  MASSE IN PRÜFUNG</a:t>
            </a:r>
            <a:endParaRPr lang="en-US" sz="1000" dirty="0"/>
          </a:p>
        </p:txBody>
      </p:sp>
      <p:pic>
        <p:nvPicPr>
          <p:cNvPr id="21" name="Bild 3" descr="p13">    </p:cNvPr>
          <p:cNvPicPr>
            <a:picLocks noChangeAspect="1"/>
          </p:cNvPicPr>
          <p:nvPr/>
        </p:nvPicPr>
        <p:blipFill>
          <a:blip r:embed="rId3"/>
          <a:srcRect l="0" r="0" t="0" b="0"/>
          <a:stretch/>
        </p:blipFill>
        <p:spPr>
          <a:xfrm>
            <a:off x="7975397" y="2606040"/>
            <a:ext cx="3301898" cy="1828800"/>
          </a:xfrm>
          <a:prstGeom prst="rect">
            <a:avLst/>
          </a:prstGeom>
        </p:spPr>
      </p:pic>
      <p:sp>
        <p:nvSpPr>
          <p:cNvPr id="22" name="Eckmarker 1"/>
          <p:cNvSpPr/>
          <p:nvPr/>
        </p:nvSpPr>
        <p:spPr>
          <a:xfrm>
            <a:off x="7883957" y="2514600"/>
            <a:ext cx="73152" cy="73152"/>
          </a:xfrm>
          <a:prstGeom prst="ellipse">
            <a:avLst/>
          </a:prstGeom>
          <a:solidFill>
            <a:srgbClr val="111418"/>
          </a:solidFill>
          <a:ln w="12700">
            <a:solidFill>
              <a:srgbClr val="111418"/>
            </a:solidFill>
            <a:prstDash val="solid"/>
          </a:ln>
        </p:spPr>
      </p:sp>
      <p:sp>
        <p:nvSpPr>
          <p:cNvPr id="23" name="Eckmarker 2"/>
          <p:cNvSpPr/>
          <p:nvPr/>
        </p:nvSpPr>
        <p:spPr>
          <a:xfrm>
            <a:off x="11295583" y="2514600"/>
            <a:ext cx="73152" cy="73152"/>
          </a:xfrm>
          <a:prstGeom prst="ellipse">
            <a:avLst/>
          </a:prstGeom>
          <a:solidFill>
            <a:srgbClr val="111418"/>
          </a:solidFill>
          <a:ln w="12700">
            <a:solidFill>
              <a:srgbClr val="111418"/>
            </a:solidFill>
            <a:prstDash val="solid"/>
          </a:ln>
        </p:spPr>
      </p:sp>
      <p:sp>
        <p:nvSpPr>
          <p:cNvPr id="24" name="Eckmarker 3"/>
          <p:cNvSpPr/>
          <p:nvPr/>
        </p:nvSpPr>
        <p:spPr>
          <a:xfrm>
            <a:off x="7883957" y="4453128"/>
            <a:ext cx="73152" cy="73152"/>
          </a:xfrm>
          <a:prstGeom prst="ellipse">
            <a:avLst/>
          </a:prstGeom>
          <a:solidFill>
            <a:srgbClr val="111418"/>
          </a:solidFill>
          <a:ln w="12700">
            <a:solidFill>
              <a:srgbClr val="111418"/>
            </a:solidFill>
            <a:prstDash val="solid"/>
          </a:ln>
        </p:spPr>
      </p:sp>
      <p:sp>
        <p:nvSpPr>
          <p:cNvPr id="25" name="Eckmarker 4"/>
          <p:cNvSpPr/>
          <p:nvPr/>
        </p:nvSpPr>
        <p:spPr>
          <a:xfrm>
            <a:off x="11295583" y="4453128"/>
            <a:ext cx="73152" cy="73152"/>
          </a:xfrm>
          <a:prstGeom prst="ellipse">
            <a:avLst/>
          </a:prstGeom>
          <a:solidFill>
            <a:srgbClr val="111418"/>
          </a:solidFill>
          <a:ln w="12700">
            <a:solidFill>
              <a:srgbClr val="111418"/>
            </a:solidFill>
            <a:prstDash val="solid"/>
          </a:ln>
        </p:spPr>
      </p:sp>
      <p:sp>
        <p:nvSpPr>
          <p:cNvPr id="26" name="Label FREIGEGEBEN"/>
          <p:cNvSpPr/>
          <p:nvPr/>
        </p:nvSpPr>
        <p:spPr>
          <a:xfrm>
            <a:off x="8112557" y="2743200"/>
            <a:ext cx="960120" cy="237744"/>
          </a:xfrm>
          <a:prstGeom prst="rect">
            <a:avLst/>
          </a:prstGeom>
          <a:solidFill>
            <a:srgbClr val="B7F3D0"/>
          </a:solidFill>
          <a:ln w="6350">
            <a:solidFill>
              <a:srgbClr val="B7F3D0"/>
            </a:solidFill>
            <a:prstDash val="solid"/>
          </a:ln>
        </p:spPr>
      </p:sp>
      <p:sp>
        <p:nvSpPr>
          <p:cNvPr id="27" name="Label FREIGEGEBEN Text"/>
          <p:cNvSpPr txBox="1"/>
          <p:nvPr/>
        </p:nvSpPr>
        <p:spPr>
          <a:xfrm>
            <a:off x="8112557" y="2743200"/>
            <a:ext cx="96012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FREIGEGEBEN</a:t>
            </a:r>
            <a:endParaRPr lang="en-US" sz="750" dirty="0"/>
          </a:p>
        </p:txBody>
      </p:sp>
      <p:sp>
        <p:nvSpPr>
          <p:cNvPr id="28" name="Eyebrow 03 //  FUNKTIONSMUSTER  ·  FREIGEGEBEN 12.10."/>
          <p:cNvSpPr txBox="1"/>
          <p:nvPr/>
        </p:nvSpPr>
        <p:spPr>
          <a:xfrm>
            <a:off x="7975397" y="4709160"/>
            <a:ext cx="330189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FUNKTIONSMUSTER  ·  FREIGEGEBEN 12.10.</a:t>
            </a:r>
            <a:endParaRPr lang="en-US" sz="1000" dirty="0"/>
          </a:p>
        </p:txBody>
      </p:sp>
      <p:sp>
        <p:nvSpPr>
          <p:cNvPr id="29" name="Linie Erklärung"/>
          <p:cNvSpPr/>
          <p:nvPr/>
        </p:nvSpPr>
        <p:spPr>
          <a:xfrm>
            <a:off x="548640" y="5029200"/>
            <a:ext cx="10728655" cy="0"/>
          </a:xfrm>
          <a:prstGeom prst="line">
            <a:avLst/>
          </a:prstGeom>
          <a:noFill/>
          <a:ln w="6350">
            <a:solidFill>
              <a:srgbClr val="91A19B"/>
            </a:solidFill>
            <a:prstDash val="solid"/>
          </a:ln>
        </p:spPr>
      </p:sp>
      <p:sp>
        <p:nvSpPr>
          <p:cNvPr id="30" name="Erklärung Kennzeichnung"/>
          <p:cNvSpPr txBox="1"/>
          <p:nvPr/>
        </p:nvSpPr>
        <p:spPr>
          <a:xfrm>
            <a:off x="548640" y="5120640"/>
            <a:ext cx="10728655" cy="731520"/>
          </a:xfrm>
          <a:prstGeom prst="rect">
            <a:avLst/>
          </a:prstGeom>
          <a:noFill/>
          <a:ln/>
        </p:spPr>
        <p:txBody>
          <a:bodyPr wrap="square" lIns="0" tIns="0" rIns="0" bIns="0" rtlCol="0" anchor="t"/>
          <a:lstStyle/>
          <a:p>
            <a:pPr indent="0" marL="0">
              <a:lnSpc>
                <a:spcPct val="120000"/>
              </a:lnSpc>
              <a:buNone/>
            </a:pPr>
            <a:r>
              <a:rPr lang="en-US" sz="950" dirty="0">
                <a:solidFill>
                  <a:srgbClr val="111418"/>
                </a:solidFill>
              </a:rPr>
              <a:t>Rot heisst Achtung und Verbot, Orange heisst in Prüfung, Grün heisst freigegeben. </a:t>
            </a:r>
            <a:pPr indent="0" marL="0">
              <a:lnSpc>
                <a:spcPct val="120000"/>
              </a:lnSpc>
              <a:buNone/>
            </a:pPr>
            <a:r>
              <a:rPr lang="en-US" sz="950" dirty="0">
                <a:solidFill>
                  <a:srgbClr val="707981"/>
                </a:solidFill>
              </a:rPr>
              <a:t>Das Label oben rechts gilt für die ganze Folie, die Labels an den Bildern für das einzelne Element. Die Kurzform des Schutzvermerks steht unter dem Label.</a:t>
            </a:r>
            <a:endParaRPr lang="en-US" sz="950" dirty="0"/>
          </a:p>
        </p:txBody>
      </p:sp>
      <p:sp>
        <p:nvSpPr>
          <p:cNvPr id="31"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21</a:t>
            </a:fld>
            <a:endParaRPr lang="en-US"/>
          </a:p>
        </p:txBody>
      </p:sp>
      <p:sp>
        <p:nvSpPr>
          <p:cNvPr id="32"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2" name=""/>
        <p:cNvGrpSpPr/>
        <p:nvPr/>
      </p:nvGrpSpPr>
      <p:grpSpPr>
        <a:xfrm>
          <a:off x="0" y="0"/>
          <a:ext cx="0" cy="0"/>
          <a:chOff x="0" y="0"/>
          <a:chExt cx="0" cy="0"/>
        </a:xfrm>
      </p:grpSpPr>
      <p:sp>
        <p:nvSpPr>
          <p:cNvPr id="3" name="Text 0"/>
          <p:cNvSpPr/>
          <p:nvPr>
            <p:ph idx="101" type="title" hasCustomPrompt="1"/>
          </p:nvPr>
        </p:nvSpPr>
        <p:spPr>
          <a:xfrm>
            <a:off x="548640" y="1481328"/>
            <a:ext cx="10332720" cy="1097280"/>
          </a:xfrm>
          <a:prstGeom prst="rect">
            <a:avLst/>
          </a:prstGeom>
          <a:noFill/>
          <a:ln/>
        </p:spPr>
        <p:txBody>
          <a:bodyPr wrap="square" lIns="0" tIns="0" rIns="0" bIns="0" rtlCol="0" anchor="t"/>
          <a:lstStyle/>
          <a:p>
            <a:pPr algn="l" indent="0" marL="0">
              <a:lnSpc>
                <a:spcPct val="95000"/>
              </a:lnSpc>
              <a:buNone/>
            </a:pPr>
            <a:r>
              <a:rPr lang="en-US" sz="4400" spc="-88" kern="0" dirty="0">
                <a:solidFill>
                  <a:srgbClr val="E7FFF2"/>
                </a:solidFill>
              </a:rPr>
              <a:t>Sprechen wir über Ihr Projekt.</a:t>
            </a:r>
            <a:endParaRPr lang="en-US" sz="4400" dirty="0"/>
          </a:p>
        </p:txBody>
      </p:sp>
      <p:pic>
        <p:nvPicPr>
          <p:cNvPr id="4" name="Logo-Kachel" descr="tile-mint">    </p:cNvPr>
          <p:cNvPicPr>
            <a:picLocks noChangeAspect="1"/>
          </p:cNvPicPr>
          <p:nvPr/>
        </p:nvPicPr>
        <p:blipFill>
          <a:blip r:embed="rId1"/>
          <a:stretch>
            <a:fillRect/>
          </a:stretch>
        </p:blipFill>
        <p:spPr>
          <a:xfrm>
            <a:off x="548640" y="2834640"/>
            <a:ext cx="1234440" cy="1234440"/>
          </a:xfrm>
          <a:prstGeom prst="rect">
            <a:avLst/>
          </a:prstGeom>
        </p:spPr>
      </p:pic>
      <p:pic>
        <p:nvPicPr>
          <p:cNvPr id="5" name="Badge NAFEMS" descr="badge-nafems-grey">    </p:cNvPr>
          <p:cNvPicPr>
            <a:picLocks noChangeAspect="1"/>
          </p:cNvPicPr>
          <p:nvPr/>
        </p:nvPicPr>
        <p:blipFill>
          <a:blip r:embed="rId2"/>
          <a:stretch>
            <a:fillRect/>
          </a:stretch>
        </p:blipFill>
        <p:spPr>
          <a:xfrm>
            <a:off x="548640" y="4434840"/>
            <a:ext cx="804672" cy="731520"/>
          </a:xfrm>
          <a:prstGeom prst="rect">
            <a:avLst/>
          </a:prstGeom>
        </p:spPr>
      </p:pic>
      <p:pic>
        <p:nvPicPr>
          <p:cNvPr id="6" name="Badge Lehrbetrieb" descr="badge-lehrbetrieb-grey">    </p:cNvPr>
          <p:cNvPicPr>
            <a:picLocks noChangeAspect="1"/>
          </p:cNvPicPr>
          <p:nvPr/>
        </p:nvPicPr>
        <p:blipFill>
          <a:blip r:embed="rId3"/>
          <a:stretch>
            <a:fillRect/>
          </a:stretch>
        </p:blipFill>
        <p:spPr>
          <a:xfrm>
            <a:off x="1508760" y="4434840"/>
            <a:ext cx="731520" cy="731520"/>
          </a:xfrm>
          <a:prstGeom prst="rect">
            <a:avLst/>
          </a:prstGeom>
        </p:spPr>
      </p:pic>
      <p:sp>
        <p:nvSpPr>
          <p:cNvPr id="7" name="Link KOMPETENZEN"/>
          <p:cNvSpPr txBox="1"/>
          <p:nvPr/>
        </p:nvSpPr>
        <p:spPr>
          <a:xfrm>
            <a:off x="3017520" y="2834640"/>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KOMPETENZEN</a:t>
            </a:r>
            <a:endParaRPr lang="en-US" sz="1100" dirty="0"/>
          </a:p>
        </p:txBody>
      </p:sp>
      <p:sp>
        <p:nvSpPr>
          <p:cNvPr id="8" name="Link UNTERNEHMEN"/>
          <p:cNvSpPr txBox="1"/>
          <p:nvPr/>
        </p:nvSpPr>
        <p:spPr>
          <a:xfrm>
            <a:off x="3017520" y="3218688"/>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UNTERNEHMEN</a:t>
            </a:r>
            <a:endParaRPr lang="en-US" sz="1100" dirty="0"/>
          </a:p>
        </p:txBody>
      </p:sp>
      <p:sp>
        <p:nvSpPr>
          <p:cNvPr id="9" name="Link LEISTUNGEN"/>
          <p:cNvSpPr txBox="1"/>
          <p:nvPr/>
        </p:nvSpPr>
        <p:spPr>
          <a:xfrm>
            <a:off x="3017520" y="3602736"/>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LEISTUNGEN</a:t>
            </a:r>
            <a:endParaRPr lang="en-US" sz="1100" dirty="0"/>
          </a:p>
        </p:txBody>
      </p:sp>
      <p:sp>
        <p:nvSpPr>
          <p:cNvPr id="10" name="Link TEAM"/>
          <p:cNvSpPr txBox="1"/>
          <p:nvPr/>
        </p:nvSpPr>
        <p:spPr>
          <a:xfrm>
            <a:off x="5120640" y="2834640"/>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TEAM</a:t>
            </a:r>
            <a:endParaRPr lang="en-US" sz="1100" dirty="0"/>
          </a:p>
        </p:txBody>
      </p:sp>
      <p:sp>
        <p:nvSpPr>
          <p:cNvPr id="11" name="Link KARRIERE"/>
          <p:cNvSpPr txBox="1"/>
          <p:nvPr/>
        </p:nvSpPr>
        <p:spPr>
          <a:xfrm>
            <a:off x="5120640" y="3218688"/>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KARRIERE</a:t>
            </a:r>
            <a:endParaRPr lang="en-US" sz="1100" dirty="0"/>
          </a:p>
        </p:txBody>
      </p:sp>
      <p:sp>
        <p:nvSpPr>
          <p:cNvPr id="12" name="Link KONTAKT"/>
          <p:cNvSpPr txBox="1"/>
          <p:nvPr/>
        </p:nvSpPr>
        <p:spPr>
          <a:xfrm>
            <a:off x="5120640" y="3602736"/>
            <a:ext cx="2011680" cy="274320"/>
          </a:xfrm>
          <a:prstGeom prst="rect">
            <a:avLst/>
          </a:prstGeom>
          <a:noFill/>
          <a:ln/>
        </p:spPr>
        <p:txBody>
          <a:bodyPr wrap="square" lIns="0" tIns="0" rIns="0" bIns="0" rtlCol="0" anchor="ctr"/>
          <a:lstStyle/>
          <a:p>
            <a:pPr indent="0" marL="0">
              <a:buNone/>
            </a:pPr>
            <a:r>
              <a:rPr lang="en-US" sz="1100" spc="-30" kern="0" dirty="0">
                <a:solidFill>
                  <a:srgbClr val="E7FFF2"/>
                </a:solidFill>
              </a:rPr>
              <a:t>KONTAKT</a:t>
            </a:r>
            <a:endParaRPr lang="en-US" sz="1100" dirty="0"/>
          </a:p>
        </p:txBody>
      </p:sp>
      <p:sp>
        <p:nvSpPr>
          <p:cNvPr id="13" name="Adresse"/>
          <p:cNvSpPr txBox="1"/>
          <p:nvPr/>
        </p:nvSpPr>
        <p:spPr>
          <a:xfrm>
            <a:off x="7589520" y="2834640"/>
            <a:ext cx="3687775" cy="1645920"/>
          </a:xfrm>
          <a:prstGeom prst="rect">
            <a:avLst/>
          </a:prstGeom>
          <a:noFill/>
          <a:ln/>
        </p:spPr>
        <p:txBody>
          <a:bodyPr wrap="square" lIns="0" tIns="0" rIns="0" bIns="0" rtlCol="0" anchor="t"/>
          <a:lstStyle/>
          <a:p>
            <a:pPr indent="0" marL="0">
              <a:lnSpc>
                <a:spcPct val="125000"/>
              </a:lnSpc>
              <a:buNone/>
            </a:pPr>
            <a:r>
              <a:rPr lang="en-US" sz="1200" dirty="0">
                <a:solidFill>
                  <a:srgbClr val="E7FFF2"/>
                </a:solidFill>
              </a:rPr>
              <a:t>IdeeRoth AG</a:t>
            </a:r>
            <a:endParaRPr lang="en-US" sz="1200" dirty="0"/>
          </a:p>
          <a:p>
            <a:pPr indent="0" marL="0">
              <a:lnSpc>
                <a:spcPct val="125000"/>
              </a:lnSpc>
              <a:buNone/>
            </a:pPr>
            <a:r>
              <a:rPr lang="en-US" sz="1200" dirty="0">
                <a:solidFill>
                  <a:srgbClr val="E7FFF2"/>
                </a:solidFill>
              </a:rPr>
              <a:t>Hafenstrasse 62</a:t>
            </a:r>
            <a:endParaRPr lang="en-US" sz="1200" dirty="0"/>
          </a:p>
          <a:p>
            <a:pPr indent="0" marL="0">
              <a:lnSpc>
                <a:spcPct val="125000"/>
              </a:lnSpc>
              <a:spcAft>
                <a:spcPts val="800"/>
              </a:spcAft>
              <a:buNone/>
            </a:pPr>
            <a:r>
              <a:rPr lang="en-US" sz="1200" dirty="0">
                <a:solidFill>
                  <a:srgbClr val="E7FFF2"/>
                </a:solidFill>
              </a:rPr>
              <a:t>CH-8590 Romanshorn</a:t>
            </a:r>
            <a:endParaRPr lang="en-US" sz="1200" dirty="0"/>
          </a:p>
          <a:p>
            <a:pPr indent="0" marL="0">
              <a:lnSpc>
                <a:spcPct val="125000"/>
              </a:lnSpc>
              <a:buNone/>
            </a:pPr>
            <a:r>
              <a:rPr lang="en-US" sz="1200" dirty="0">
                <a:solidFill>
                  <a:srgbClr val="E7FFF2"/>
                </a:solidFill>
              </a:rPr>
              <a:t>+41 71 855 88 55</a:t>
            </a:r>
            <a:endParaRPr lang="en-US" sz="1200" dirty="0"/>
          </a:p>
          <a:p>
            <a:pPr indent="0" marL="0">
              <a:lnSpc>
                <a:spcPct val="125000"/>
              </a:lnSpc>
              <a:buNone/>
            </a:pPr>
            <a:r>
              <a:rPr lang="en-US" sz="1200" dirty="0">
                <a:solidFill>
                  <a:srgbClr val="B7F3D0"/>
                </a:solidFill>
              </a:rPr>
              <a:t>info@iro.swiss</a:t>
            </a:r>
            <a:endParaRPr lang="en-US" sz="1200" dirty="0"/>
          </a:p>
        </p:txBody>
      </p:sp>
      <p:sp>
        <p:nvSpPr>
          <p:cNvPr id="14"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A0A1A3"/>
                </a:solidFill>
              </a:defRPr>
            </a:lvl1pPr>
          </a:lstStyle>
          <a:p>
            <a:pPr algn="ctr"/>
            <a:fld id="{F7021451-1387-4CA6-816F-3879F97B5CBC}" type="slidenum">
              <a:rPr b="0" lang="en-US"/>
              <a:t>22</a:t>
            </a:fld>
            <a:endParaRPr lang="en-US"/>
          </a:p>
        </p:txBody>
      </p:sp>
      <p:sp>
        <p:nvSpPr>
          <p:cNvPr id="15"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VORLAGE  ·  GRAFISCHE ELEMENTE</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Bausteine für eigene Folien</a:t>
            </a:r>
            <a:endParaRPr lang="en-US" sz="3400" dirty="0"/>
          </a:p>
        </p:txBody>
      </p:sp>
      <p:sp>
        <p:nvSpPr>
          <p:cNvPr id="5" name="Eyebrow 01 //  TEXTFELDER"/>
          <p:cNvSpPr txBox="1"/>
          <p:nvPr/>
        </p:nvSpPr>
        <p:spPr>
          <a:xfrm>
            <a:off x="548640" y="2651760"/>
            <a:ext cx="3332378" cy="256032"/>
          </a:xfrm>
          <a:prstGeom prst="rect">
            <a:avLst/>
          </a:prstGeom>
          <a:noFill/>
          <a:ln/>
        </p:spPr>
        <p:txBody>
          <a:bodyPr wrap="square" lIns="0" tIns="0" rIns="0" bIns="0" rtlCol="0" anchor="ctr"/>
          <a:lstStyle/>
          <a:p>
            <a:pPr indent="0" marL="0">
              <a:buNone/>
            </a:pPr>
            <a:r>
              <a:rPr lang="en-US" sz="1000" spc="-30" kern="0" dirty="0">
                <a:solidFill>
                  <a:srgbClr val="707981"/>
                </a:solidFill>
              </a:rPr>
              <a:t>01 //  TEXTFELDER</a:t>
            </a:r>
            <a:endParaRPr lang="en-US" sz="1000" dirty="0"/>
          </a:p>
        </p:txBody>
      </p:sp>
      <p:sp>
        <p:nvSpPr>
          <p:cNvPr id="6" name="Textfeld mit Rahmen"/>
          <p:cNvSpPr/>
          <p:nvPr/>
        </p:nvSpPr>
        <p:spPr>
          <a:xfrm>
            <a:off x="548640" y="3017520"/>
            <a:ext cx="3332378" cy="822960"/>
          </a:xfrm>
          <a:prstGeom prst="rect">
            <a:avLst/>
          </a:prstGeom>
          <a:solidFill>
            <a:srgbClr val="FFFFFF">
              <a:alpha val="35000"/>
            </a:srgbClr>
          </a:solidFill>
          <a:ln w="6350">
            <a:solidFill>
              <a:srgbClr val="91A19B"/>
            </a:solidFill>
            <a:prstDash val="solid"/>
          </a:ln>
        </p:spPr>
      </p:sp>
      <p:sp>
        <p:nvSpPr>
          <p:cNvPr id="7" name="Textfeld Text"/>
          <p:cNvSpPr txBox="1"/>
          <p:nvPr/>
        </p:nvSpPr>
        <p:spPr>
          <a:xfrm>
            <a:off x="731520" y="3108960"/>
            <a:ext cx="2966618" cy="640080"/>
          </a:xfrm>
          <a:prstGeom prst="rect">
            <a:avLst/>
          </a:prstGeom>
          <a:noFill/>
          <a:ln/>
        </p:spPr>
        <p:txBody>
          <a:bodyPr wrap="square" lIns="0" tIns="0" rIns="0" bIns="0" rtlCol="0" anchor="ctr"/>
          <a:lstStyle/>
          <a:p>
            <a:pPr indent="0" marL="0">
              <a:lnSpc>
                <a:spcPct val="120000"/>
              </a:lnSpc>
              <a:buNone/>
            </a:pPr>
            <a:r>
              <a:rPr lang="en-US" sz="1100" dirty="0">
                <a:solidFill>
                  <a:srgbClr val="111418"/>
                </a:solidFill>
              </a:rPr>
              <a:t>Textfeld mit dünnem Rahmen für Hinweise, Annahmen oder Zitate aus Unterlagen.</a:t>
            </a:r>
            <a:endParaRPr lang="en-US" sz="1100" dirty="0"/>
          </a:p>
        </p:txBody>
      </p:sp>
      <p:sp>
        <p:nvSpPr>
          <p:cNvPr id="8" name="Hervorhebung"/>
          <p:cNvSpPr/>
          <p:nvPr/>
        </p:nvSpPr>
        <p:spPr>
          <a:xfrm>
            <a:off x="548640" y="4023360"/>
            <a:ext cx="3332378" cy="822960"/>
          </a:xfrm>
          <a:prstGeom prst="rect">
            <a:avLst/>
          </a:prstGeom>
          <a:solidFill>
            <a:srgbClr val="B7F3D0"/>
          </a:solidFill>
          <a:ln w="12700">
            <a:solidFill>
              <a:srgbClr val="B7F3D0"/>
            </a:solidFill>
            <a:prstDash val="solid"/>
          </a:ln>
        </p:spPr>
      </p:sp>
      <p:sp>
        <p:nvSpPr>
          <p:cNvPr id="9" name="Hervorhebung Text"/>
          <p:cNvSpPr txBox="1"/>
          <p:nvPr/>
        </p:nvSpPr>
        <p:spPr>
          <a:xfrm>
            <a:off x="731520" y="4114800"/>
            <a:ext cx="2966618" cy="640080"/>
          </a:xfrm>
          <a:prstGeom prst="rect">
            <a:avLst/>
          </a:prstGeom>
          <a:noFill/>
          <a:ln/>
        </p:spPr>
        <p:txBody>
          <a:bodyPr wrap="square" lIns="0" tIns="0" rIns="0" bIns="0" rtlCol="0" anchor="ctr"/>
          <a:lstStyle/>
          <a:p>
            <a:pPr indent="0" marL="0">
              <a:lnSpc>
                <a:spcPct val="120000"/>
              </a:lnSpc>
              <a:buNone/>
            </a:pPr>
            <a:r>
              <a:rPr lang="en-US" sz="1100" dirty="0">
                <a:solidFill>
                  <a:srgbClr val="111418"/>
                </a:solidFill>
              </a:rPr>
              <a:t>Hervorhebung auf Fresh Mint für das Wichtigste einer Folie, eine pro Folie.</a:t>
            </a:r>
            <a:endParaRPr lang="en-US" sz="1100" dirty="0"/>
          </a:p>
        </p:txBody>
      </p:sp>
      <p:sp>
        <p:nvSpPr>
          <p:cNvPr id="10" name="Kernaussage"/>
          <p:cNvSpPr/>
          <p:nvPr/>
        </p:nvSpPr>
        <p:spPr>
          <a:xfrm>
            <a:off x="548640" y="5029200"/>
            <a:ext cx="3332378" cy="822960"/>
          </a:xfrm>
          <a:prstGeom prst="rect">
            <a:avLst/>
          </a:prstGeom>
          <a:solidFill>
            <a:srgbClr val="111418"/>
          </a:solidFill>
          <a:ln w="12700">
            <a:solidFill>
              <a:srgbClr val="111418"/>
            </a:solidFill>
            <a:prstDash val="solid"/>
          </a:ln>
        </p:spPr>
      </p:sp>
      <p:sp>
        <p:nvSpPr>
          <p:cNvPr id="11" name="Kernaussage Text"/>
          <p:cNvSpPr txBox="1"/>
          <p:nvPr/>
        </p:nvSpPr>
        <p:spPr>
          <a:xfrm>
            <a:off x="731520" y="5120640"/>
            <a:ext cx="2966618" cy="640080"/>
          </a:xfrm>
          <a:prstGeom prst="rect">
            <a:avLst/>
          </a:prstGeom>
          <a:noFill/>
          <a:ln/>
        </p:spPr>
        <p:txBody>
          <a:bodyPr wrap="square" lIns="0" tIns="0" rIns="0" bIns="0" rtlCol="0" anchor="ctr"/>
          <a:lstStyle/>
          <a:p>
            <a:pPr indent="0" marL="0">
              <a:lnSpc>
                <a:spcPct val="120000"/>
              </a:lnSpc>
              <a:buNone/>
            </a:pPr>
            <a:r>
              <a:rPr lang="en-US" sz="1100" dirty="0">
                <a:solidFill>
                  <a:srgbClr val="E7FFF2"/>
                </a:solidFill>
              </a:rPr>
              <a:t>Kernaussage auf Carbon Black, Text in Ice Mint, Zahl oder Stichwort in Signal Green.</a:t>
            </a:r>
            <a:endParaRPr lang="en-US" sz="1100" dirty="0"/>
          </a:p>
        </p:txBody>
      </p:sp>
      <p:sp>
        <p:nvSpPr>
          <p:cNvPr id="12" name="Eyebrow 02 //  LINIEN, PFEILE, MARKER"/>
          <p:cNvSpPr txBox="1"/>
          <p:nvPr/>
        </p:nvSpPr>
        <p:spPr>
          <a:xfrm>
            <a:off x="4246778" y="2651760"/>
            <a:ext cx="3332378" cy="256032"/>
          </a:xfrm>
          <a:prstGeom prst="rect">
            <a:avLst/>
          </a:prstGeom>
          <a:noFill/>
          <a:ln/>
        </p:spPr>
        <p:txBody>
          <a:bodyPr wrap="square" lIns="0" tIns="0" rIns="0" bIns="0" rtlCol="0" anchor="ctr"/>
          <a:lstStyle/>
          <a:p>
            <a:pPr indent="0" marL="0">
              <a:buNone/>
            </a:pPr>
            <a:r>
              <a:rPr lang="en-US" sz="1000" spc="-30" kern="0" dirty="0">
                <a:solidFill>
                  <a:srgbClr val="707981"/>
                </a:solidFill>
              </a:rPr>
              <a:t>02 //  LINIEN, PFEILE, MARKER</a:t>
            </a:r>
            <a:endParaRPr lang="en-US" sz="1000" dirty="0"/>
          </a:p>
        </p:txBody>
      </p:sp>
      <p:sp>
        <p:nvSpPr>
          <p:cNvPr id="13" name="Pfeil 1"/>
          <p:cNvSpPr/>
          <p:nvPr/>
        </p:nvSpPr>
        <p:spPr>
          <a:xfrm>
            <a:off x="4246778" y="3200400"/>
            <a:ext cx="1869338" cy="0"/>
          </a:xfrm>
          <a:prstGeom prst="line">
            <a:avLst/>
          </a:prstGeom>
          <a:noFill/>
          <a:ln w="12700">
            <a:solidFill>
              <a:srgbClr val="111418"/>
            </a:solidFill>
            <a:prstDash val="solid"/>
            <a:tailEnd type="triangle"/>
          </a:ln>
        </p:spPr>
      </p:sp>
      <p:sp>
        <p:nvSpPr>
          <p:cNvPr id="14" name="Pfeil Text 1"/>
          <p:cNvSpPr txBox="1"/>
          <p:nvPr/>
        </p:nvSpPr>
        <p:spPr>
          <a:xfrm>
            <a:off x="6207557" y="3081528"/>
            <a:ext cx="1371600" cy="237744"/>
          </a:xfrm>
          <a:prstGeom prst="rect">
            <a:avLst/>
          </a:prstGeom>
          <a:noFill/>
          <a:ln/>
        </p:spPr>
        <p:txBody>
          <a:bodyPr wrap="square" lIns="0" tIns="0" rIns="0" bIns="0" rtlCol="0" anchor="ctr"/>
          <a:lstStyle/>
          <a:p>
            <a:pPr indent="0" marL="0">
              <a:buNone/>
            </a:pPr>
            <a:r>
              <a:rPr lang="en-US" sz="900" dirty="0">
                <a:solidFill>
                  <a:srgbClr val="707981"/>
                </a:solidFill>
              </a:rPr>
              <a:t>Pfeil, Ablauf</a:t>
            </a:r>
            <a:endParaRPr lang="en-US" sz="900" dirty="0"/>
          </a:p>
        </p:txBody>
      </p:sp>
      <p:sp>
        <p:nvSpPr>
          <p:cNvPr id="15" name="Pfeil 2"/>
          <p:cNvSpPr/>
          <p:nvPr/>
        </p:nvSpPr>
        <p:spPr>
          <a:xfrm>
            <a:off x="4246778" y="3566160"/>
            <a:ext cx="1869338" cy="0"/>
          </a:xfrm>
          <a:prstGeom prst="line">
            <a:avLst/>
          </a:prstGeom>
          <a:noFill/>
          <a:ln w="15875">
            <a:solidFill>
              <a:srgbClr val="25C77A"/>
            </a:solidFill>
            <a:prstDash val="solid"/>
            <a:tailEnd type="triangle"/>
          </a:ln>
        </p:spPr>
      </p:sp>
      <p:sp>
        <p:nvSpPr>
          <p:cNvPr id="16" name="Pfeil Text 2"/>
          <p:cNvSpPr txBox="1"/>
          <p:nvPr/>
        </p:nvSpPr>
        <p:spPr>
          <a:xfrm>
            <a:off x="6207557" y="3447288"/>
            <a:ext cx="1371600" cy="237744"/>
          </a:xfrm>
          <a:prstGeom prst="rect">
            <a:avLst/>
          </a:prstGeom>
          <a:noFill/>
          <a:ln/>
        </p:spPr>
        <p:txBody>
          <a:bodyPr wrap="square" lIns="0" tIns="0" rIns="0" bIns="0" rtlCol="0" anchor="ctr"/>
          <a:lstStyle/>
          <a:p>
            <a:pPr indent="0" marL="0">
              <a:buNone/>
            </a:pPr>
            <a:r>
              <a:rPr lang="en-US" sz="900" dirty="0">
                <a:solidFill>
                  <a:srgbClr val="707981"/>
                </a:solidFill>
              </a:rPr>
              <a:t>Pfeil, Betonung</a:t>
            </a:r>
            <a:endParaRPr lang="en-US" sz="900" dirty="0"/>
          </a:p>
        </p:txBody>
      </p:sp>
      <p:sp>
        <p:nvSpPr>
          <p:cNvPr id="17" name="Pfeil 3"/>
          <p:cNvSpPr/>
          <p:nvPr/>
        </p:nvSpPr>
        <p:spPr>
          <a:xfrm>
            <a:off x="4246778" y="3931920"/>
            <a:ext cx="1869338" cy="0"/>
          </a:xfrm>
          <a:prstGeom prst="line">
            <a:avLst/>
          </a:prstGeom>
          <a:noFill/>
          <a:ln w="12700">
            <a:solidFill>
              <a:srgbClr val="707981"/>
            </a:solidFill>
            <a:prstDash val="solid"/>
            <a:tailEnd type="triangle"/>
          </a:ln>
        </p:spPr>
      </p:sp>
      <p:sp>
        <p:nvSpPr>
          <p:cNvPr id="18" name="Pfeil Text 3"/>
          <p:cNvSpPr txBox="1"/>
          <p:nvPr/>
        </p:nvSpPr>
        <p:spPr>
          <a:xfrm>
            <a:off x="6207557" y="3813048"/>
            <a:ext cx="1371600" cy="237744"/>
          </a:xfrm>
          <a:prstGeom prst="rect">
            <a:avLst/>
          </a:prstGeom>
          <a:noFill/>
          <a:ln/>
        </p:spPr>
        <p:txBody>
          <a:bodyPr wrap="square" lIns="0" tIns="0" rIns="0" bIns="0" rtlCol="0" anchor="ctr"/>
          <a:lstStyle/>
          <a:p>
            <a:pPr indent="0" marL="0">
              <a:buNone/>
            </a:pPr>
            <a:r>
              <a:rPr lang="en-US" sz="900" dirty="0">
                <a:solidFill>
                  <a:srgbClr val="707981"/>
                </a:solidFill>
              </a:rPr>
              <a:t>Pfeil, Option</a:t>
            </a:r>
            <a:endParaRPr lang="en-US" sz="900" dirty="0"/>
          </a:p>
        </p:txBody>
      </p:sp>
      <p:sp>
        <p:nvSpPr>
          <p:cNvPr id="19" name="Linie Beispiel"/>
          <p:cNvSpPr/>
          <p:nvPr/>
        </p:nvSpPr>
        <p:spPr>
          <a:xfrm>
            <a:off x="4246778" y="4343400"/>
            <a:ext cx="1869338" cy="0"/>
          </a:xfrm>
          <a:prstGeom prst="line">
            <a:avLst/>
          </a:prstGeom>
          <a:noFill/>
          <a:ln w="6350">
            <a:solidFill>
              <a:srgbClr val="91A19B"/>
            </a:solidFill>
            <a:prstDash val="solid"/>
          </a:ln>
        </p:spPr>
      </p:sp>
      <p:sp>
        <p:nvSpPr>
          <p:cNvPr id="20" name="Linie Text"/>
          <p:cNvSpPr txBox="1"/>
          <p:nvPr/>
        </p:nvSpPr>
        <p:spPr>
          <a:xfrm>
            <a:off x="6207557" y="4224528"/>
            <a:ext cx="1371600" cy="237744"/>
          </a:xfrm>
          <a:prstGeom prst="rect">
            <a:avLst/>
          </a:prstGeom>
          <a:noFill/>
          <a:ln/>
        </p:spPr>
        <p:txBody>
          <a:bodyPr wrap="square" lIns="0" tIns="0" rIns="0" bIns="0" rtlCol="0" anchor="ctr"/>
          <a:lstStyle/>
          <a:p>
            <a:pPr indent="0" marL="0">
              <a:buNone/>
            </a:pPr>
            <a:r>
              <a:rPr lang="en-US" sz="900" dirty="0">
                <a:solidFill>
                  <a:srgbClr val="707981"/>
                </a:solidFill>
              </a:rPr>
              <a:t>Linie, Trenner</a:t>
            </a:r>
            <a:endParaRPr lang="en-US" sz="900" dirty="0"/>
          </a:p>
        </p:txBody>
      </p:sp>
      <p:sp>
        <p:nvSpPr>
          <p:cNvPr id="21" name="Bildplatz"/>
          <p:cNvSpPr/>
          <p:nvPr/>
        </p:nvSpPr>
        <p:spPr>
          <a:xfrm>
            <a:off x="4246778" y="4709160"/>
            <a:ext cx="1188720" cy="777240"/>
          </a:xfrm>
          <a:prstGeom prst="rect">
            <a:avLst/>
          </a:prstGeom>
          <a:solidFill>
            <a:srgbClr val="C4C8CC"/>
          </a:solidFill>
          <a:ln w="12700">
            <a:solidFill>
              <a:srgbClr val="C4C8CC"/>
            </a:solidFill>
            <a:prstDash val="solid"/>
          </a:ln>
        </p:spPr>
      </p:sp>
      <p:sp>
        <p:nvSpPr>
          <p:cNvPr id="22" name="Eckmarker 1"/>
          <p:cNvSpPr/>
          <p:nvPr/>
        </p:nvSpPr>
        <p:spPr>
          <a:xfrm>
            <a:off x="4155338" y="4617720"/>
            <a:ext cx="73152" cy="73152"/>
          </a:xfrm>
          <a:prstGeom prst="ellipse">
            <a:avLst/>
          </a:prstGeom>
          <a:solidFill>
            <a:srgbClr val="111418"/>
          </a:solidFill>
          <a:ln w="12700">
            <a:solidFill>
              <a:srgbClr val="111418"/>
            </a:solidFill>
            <a:prstDash val="solid"/>
          </a:ln>
        </p:spPr>
      </p:sp>
      <p:sp>
        <p:nvSpPr>
          <p:cNvPr id="23" name="Eckmarker 2"/>
          <p:cNvSpPr/>
          <p:nvPr/>
        </p:nvSpPr>
        <p:spPr>
          <a:xfrm>
            <a:off x="5453786" y="4617720"/>
            <a:ext cx="73152" cy="73152"/>
          </a:xfrm>
          <a:prstGeom prst="ellipse">
            <a:avLst/>
          </a:prstGeom>
          <a:solidFill>
            <a:srgbClr val="111418"/>
          </a:solidFill>
          <a:ln w="12700">
            <a:solidFill>
              <a:srgbClr val="111418"/>
            </a:solidFill>
            <a:prstDash val="solid"/>
          </a:ln>
        </p:spPr>
      </p:sp>
      <p:sp>
        <p:nvSpPr>
          <p:cNvPr id="24" name="Eckmarker 3"/>
          <p:cNvSpPr/>
          <p:nvPr/>
        </p:nvSpPr>
        <p:spPr>
          <a:xfrm>
            <a:off x="4155338" y="5504688"/>
            <a:ext cx="73152" cy="73152"/>
          </a:xfrm>
          <a:prstGeom prst="ellipse">
            <a:avLst/>
          </a:prstGeom>
          <a:solidFill>
            <a:srgbClr val="111418"/>
          </a:solidFill>
          <a:ln w="12700">
            <a:solidFill>
              <a:srgbClr val="111418"/>
            </a:solidFill>
            <a:prstDash val="solid"/>
          </a:ln>
        </p:spPr>
      </p:sp>
      <p:sp>
        <p:nvSpPr>
          <p:cNvPr id="25" name="Eckmarker 4"/>
          <p:cNvSpPr/>
          <p:nvPr/>
        </p:nvSpPr>
        <p:spPr>
          <a:xfrm>
            <a:off x="5453786" y="5504688"/>
            <a:ext cx="73152" cy="73152"/>
          </a:xfrm>
          <a:prstGeom prst="ellipse">
            <a:avLst/>
          </a:prstGeom>
          <a:solidFill>
            <a:srgbClr val="111418"/>
          </a:solidFill>
          <a:ln w="12700">
            <a:solidFill>
              <a:srgbClr val="111418"/>
            </a:solidFill>
            <a:prstDash val="solid"/>
          </a:ln>
        </p:spPr>
      </p:sp>
      <p:sp>
        <p:nvSpPr>
          <p:cNvPr id="26" name="Eckmarker Text"/>
          <p:cNvSpPr txBox="1"/>
          <p:nvPr/>
        </p:nvSpPr>
        <p:spPr>
          <a:xfrm>
            <a:off x="5709818" y="4754880"/>
            <a:ext cx="1869338" cy="731520"/>
          </a:xfrm>
          <a:prstGeom prst="rect">
            <a:avLst/>
          </a:prstGeom>
          <a:noFill/>
          <a:ln/>
        </p:spPr>
        <p:txBody>
          <a:bodyPr wrap="square" lIns="0" tIns="0" rIns="0" bIns="0" rtlCol="0" anchor="t"/>
          <a:lstStyle/>
          <a:p>
            <a:pPr indent="0" marL="0">
              <a:lnSpc>
                <a:spcPct val="120000"/>
              </a:lnSpc>
              <a:buNone/>
            </a:pPr>
            <a:r>
              <a:rPr lang="en-US" sz="900" dirty="0">
                <a:solidFill>
                  <a:srgbClr val="707981"/>
                </a:solidFill>
              </a:rPr>
              <a:t>Runde Eckmarker um Fotos, Skizzen und Screenshots</a:t>
            </a:r>
            <a:endParaRPr lang="en-US" sz="900" dirty="0"/>
          </a:p>
        </p:txBody>
      </p:sp>
      <p:sp>
        <p:nvSpPr>
          <p:cNvPr id="27" name="Aufzählung Beispiel"/>
          <p:cNvSpPr txBox="1"/>
          <p:nvPr/>
        </p:nvSpPr>
        <p:spPr>
          <a:xfrm>
            <a:off x="4246778" y="5669280"/>
            <a:ext cx="3332378" cy="502920"/>
          </a:xfrm>
          <a:prstGeom prst="rect">
            <a:avLst/>
          </a:prstGeom>
          <a:noFill/>
          <a:ln/>
        </p:spPr>
        <p:txBody>
          <a:bodyPr wrap="square" lIns="0" tIns="0" rIns="0" bIns="0" rtlCol="0" anchor="t"/>
          <a:lstStyle/>
          <a:p>
            <a:pPr marL="342900" indent="-342900">
              <a:lnSpc>
                <a:spcPct val="115000"/>
              </a:lnSpc>
              <a:buSzPct val="100000"/>
              <a:buFont typeface="Inter" pitchFamily="34" charset="0"/>
              <a:buChar char="•"/>
            </a:pPr>
            <a:r>
              <a:rPr lang="en-US" sz="1000" dirty="0">
                <a:solidFill>
                  <a:srgbClr val="111418"/>
                </a:solidFill>
              </a:rPr>
              <a:t>Punkt statt Rechteck als Aufzählungszeichen</a:t>
            </a:r>
            <a:endParaRPr lang="en-US" sz="1000" dirty="0"/>
          </a:p>
          <a:p>
            <a:pPr marL="342900" indent="-342900">
              <a:lnSpc>
                <a:spcPct val="115000"/>
              </a:lnSpc>
              <a:spcAft>
                <a:spcPts val="400"/>
              </a:spcAft>
              <a:buSzPct val="100000"/>
              <a:buFont typeface="Inter" pitchFamily="34" charset="0"/>
              <a:buChar char="•"/>
            </a:pPr>
            <a:r>
              <a:rPr lang="en-US" sz="1000" dirty="0">
                <a:solidFill>
                  <a:srgbClr val="111418"/>
                </a:solidFill>
              </a:rPr>
              <a:t>Gleicher Punkt in allen Listen</a:t>
            </a:r>
            <a:endParaRPr lang="en-US" sz="1000" dirty="0"/>
          </a:p>
        </p:txBody>
      </p:sp>
      <p:sp>
        <p:nvSpPr>
          <p:cNvPr id="28" name="Eyebrow 03 //  STATUS UND FREIGABE (AMPEL)"/>
          <p:cNvSpPr txBox="1"/>
          <p:nvPr/>
        </p:nvSpPr>
        <p:spPr>
          <a:xfrm>
            <a:off x="7944917" y="2651760"/>
            <a:ext cx="3332378" cy="256032"/>
          </a:xfrm>
          <a:prstGeom prst="rect">
            <a:avLst/>
          </a:prstGeom>
          <a:noFill/>
          <a:ln/>
        </p:spPr>
        <p:txBody>
          <a:bodyPr wrap="square" lIns="0" tIns="0" rIns="0" bIns="0" rtlCol="0" anchor="ctr"/>
          <a:lstStyle/>
          <a:p>
            <a:pPr indent="0" marL="0">
              <a:buNone/>
            </a:pPr>
            <a:r>
              <a:rPr lang="en-US" sz="1000" spc="-30" kern="0" dirty="0">
                <a:solidFill>
                  <a:srgbClr val="707981"/>
                </a:solidFill>
              </a:rPr>
              <a:t>03 //  STATUS UND FREIGABE (AMPEL)</a:t>
            </a:r>
            <a:endParaRPr lang="en-US" sz="1000" dirty="0"/>
          </a:p>
        </p:txBody>
      </p:sp>
      <p:sp>
        <p:nvSpPr>
          <p:cNvPr id="29" name="Label ERLEDIGT"/>
          <p:cNvSpPr/>
          <p:nvPr/>
        </p:nvSpPr>
        <p:spPr>
          <a:xfrm>
            <a:off x="7944917" y="3063240"/>
            <a:ext cx="1051560" cy="237744"/>
          </a:xfrm>
          <a:prstGeom prst="rect">
            <a:avLst/>
          </a:prstGeom>
          <a:solidFill>
            <a:srgbClr val="111418"/>
          </a:solidFill>
          <a:ln w="6350">
            <a:solidFill>
              <a:srgbClr val="111418"/>
            </a:solidFill>
            <a:prstDash val="solid"/>
          </a:ln>
        </p:spPr>
      </p:sp>
      <p:sp>
        <p:nvSpPr>
          <p:cNvPr id="30" name="Label ERLEDIGT Text"/>
          <p:cNvSpPr txBox="1"/>
          <p:nvPr/>
        </p:nvSpPr>
        <p:spPr>
          <a:xfrm>
            <a:off x="7944917" y="3063240"/>
            <a:ext cx="1051560" cy="237744"/>
          </a:xfrm>
          <a:prstGeom prst="rect">
            <a:avLst/>
          </a:prstGeom>
          <a:noFill/>
          <a:ln/>
        </p:spPr>
        <p:txBody>
          <a:bodyPr wrap="square" lIns="0" tIns="0" rIns="0" bIns="0" rtlCol="0" anchor="ctr"/>
          <a:lstStyle/>
          <a:p>
            <a:pPr algn="ctr" indent="0" marL="0">
              <a:buNone/>
            </a:pPr>
            <a:r>
              <a:rPr lang="en-US" sz="750" spc="-20" kern="0" dirty="0">
                <a:solidFill>
                  <a:srgbClr val="E7FFF2"/>
                </a:solidFill>
              </a:rPr>
              <a:t>ERLEDIGT</a:t>
            </a:r>
            <a:endParaRPr lang="en-US" sz="750" dirty="0"/>
          </a:p>
        </p:txBody>
      </p:sp>
      <p:sp>
        <p:nvSpPr>
          <p:cNvPr id="31" name="Label AKTIV"/>
          <p:cNvSpPr/>
          <p:nvPr/>
        </p:nvSpPr>
        <p:spPr>
          <a:xfrm>
            <a:off x="9087917" y="3063240"/>
            <a:ext cx="1051560" cy="237744"/>
          </a:xfrm>
          <a:prstGeom prst="rect">
            <a:avLst/>
          </a:prstGeom>
          <a:solidFill>
            <a:srgbClr val="25C77A"/>
          </a:solidFill>
          <a:ln w="6350">
            <a:solidFill>
              <a:srgbClr val="25C77A"/>
            </a:solidFill>
            <a:prstDash val="solid"/>
          </a:ln>
        </p:spPr>
      </p:sp>
      <p:sp>
        <p:nvSpPr>
          <p:cNvPr id="32" name="Label AKTIV Text"/>
          <p:cNvSpPr txBox="1"/>
          <p:nvPr/>
        </p:nvSpPr>
        <p:spPr>
          <a:xfrm>
            <a:off x="9087917" y="306324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AKTIV</a:t>
            </a:r>
            <a:endParaRPr lang="en-US" sz="750" dirty="0"/>
          </a:p>
        </p:txBody>
      </p:sp>
      <p:sp>
        <p:nvSpPr>
          <p:cNvPr id="33" name="Label OFFEN"/>
          <p:cNvSpPr/>
          <p:nvPr/>
        </p:nvSpPr>
        <p:spPr>
          <a:xfrm>
            <a:off x="10230917" y="3063240"/>
            <a:ext cx="1051560" cy="237744"/>
          </a:xfrm>
          <a:prstGeom prst="rect">
            <a:avLst/>
          </a:prstGeom>
          <a:solidFill>
            <a:srgbClr val="E7FFF2"/>
          </a:solidFill>
          <a:ln w="6350">
            <a:solidFill>
              <a:srgbClr val="91A19B"/>
            </a:solidFill>
            <a:prstDash val="solid"/>
          </a:ln>
        </p:spPr>
      </p:sp>
      <p:sp>
        <p:nvSpPr>
          <p:cNvPr id="34" name="Label OFFEN Text"/>
          <p:cNvSpPr txBox="1"/>
          <p:nvPr/>
        </p:nvSpPr>
        <p:spPr>
          <a:xfrm>
            <a:off x="10230917" y="3063240"/>
            <a:ext cx="1051560" cy="237744"/>
          </a:xfrm>
          <a:prstGeom prst="rect">
            <a:avLst/>
          </a:prstGeom>
          <a:noFill/>
          <a:ln/>
        </p:spPr>
        <p:txBody>
          <a:bodyPr wrap="square" lIns="0" tIns="0" rIns="0" bIns="0" rtlCol="0" anchor="ctr"/>
          <a:lstStyle/>
          <a:p>
            <a:pPr algn="ctr" indent="0" marL="0">
              <a:buNone/>
            </a:pPr>
            <a:r>
              <a:rPr lang="en-US" sz="750" spc="-20" kern="0" dirty="0">
                <a:solidFill>
                  <a:srgbClr val="707981"/>
                </a:solidFill>
              </a:rPr>
              <a:t>OFFEN</a:t>
            </a:r>
            <a:endParaRPr lang="en-US" sz="750" dirty="0"/>
          </a:p>
        </p:txBody>
      </p:sp>
      <p:sp>
        <p:nvSpPr>
          <p:cNvPr id="35" name="Status Erklärung"/>
          <p:cNvSpPr txBox="1"/>
          <p:nvPr/>
        </p:nvSpPr>
        <p:spPr>
          <a:xfrm>
            <a:off x="7944917" y="3383280"/>
            <a:ext cx="3332378" cy="237744"/>
          </a:xfrm>
          <a:prstGeom prst="rect">
            <a:avLst/>
          </a:prstGeom>
          <a:noFill/>
          <a:ln/>
        </p:spPr>
        <p:txBody>
          <a:bodyPr wrap="square" lIns="0" tIns="0" rIns="0" bIns="0" rtlCol="0" anchor="ctr"/>
          <a:lstStyle/>
          <a:p>
            <a:pPr indent="0" marL="0">
              <a:buNone/>
            </a:pPr>
            <a:r>
              <a:rPr lang="en-US" sz="900" dirty="0">
                <a:solidFill>
                  <a:srgbClr val="707981"/>
                </a:solidFill>
              </a:rPr>
              <a:t>Aufgabenstatus: erledigt, aktiv, offen (Markenfarben)</a:t>
            </a:r>
            <a:endParaRPr lang="en-US" sz="900" dirty="0"/>
          </a:p>
        </p:txBody>
      </p:sp>
      <p:sp>
        <p:nvSpPr>
          <p:cNvPr id="36" name="Label VERTRAULICH"/>
          <p:cNvSpPr/>
          <p:nvPr/>
        </p:nvSpPr>
        <p:spPr>
          <a:xfrm>
            <a:off x="7944917" y="3794760"/>
            <a:ext cx="1051560" cy="237744"/>
          </a:xfrm>
          <a:prstGeom prst="rect">
            <a:avLst/>
          </a:prstGeom>
          <a:solidFill>
            <a:srgbClr val="B8463A"/>
          </a:solidFill>
          <a:ln w="6350">
            <a:solidFill>
              <a:srgbClr val="B8463A"/>
            </a:solidFill>
            <a:prstDash val="solid"/>
          </a:ln>
        </p:spPr>
      </p:sp>
      <p:sp>
        <p:nvSpPr>
          <p:cNvPr id="37" name="Label VERTRAULICH Text"/>
          <p:cNvSpPr txBox="1"/>
          <p:nvPr/>
        </p:nvSpPr>
        <p:spPr>
          <a:xfrm>
            <a:off x="7944917" y="3794760"/>
            <a:ext cx="1051560" cy="237744"/>
          </a:xfrm>
          <a:prstGeom prst="rect">
            <a:avLst/>
          </a:prstGeom>
          <a:noFill/>
          <a:ln/>
        </p:spPr>
        <p:txBody>
          <a:bodyPr wrap="square" lIns="0" tIns="0" rIns="0" bIns="0" rtlCol="0" anchor="ctr"/>
          <a:lstStyle/>
          <a:p>
            <a:pPr algn="ctr" indent="0" marL="0">
              <a:buNone/>
            </a:pPr>
            <a:r>
              <a:rPr lang="en-US" sz="750" spc="-20" kern="0" dirty="0">
                <a:solidFill>
                  <a:srgbClr val="FFFFFF"/>
                </a:solidFill>
              </a:rPr>
              <a:t>VERTRAULICH</a:t>
            </a:r>
            <a:endParaRPr lang="en-US" sz="750" dirty="0"/>
          </a:p>
        </p:txBody>
      </p:sp>
      <p:sp>
        <p:nvSpPr>
          <p:cNvPr id="38" name="Label IN PRÜFUNG"/>
          <p:cNvSpPr/>
          <p:nvPr/>
        </p:nvSpPr>
        <p:spPr>
          <a:xfrm>
            <a:off x="9087917" y="3794760"/>
            <a:ext cx="1051560" cy="237744"/>
          </a:xfrm>
          <a:prstGeom prst="rect">
            <a:avLst/>
          </a:prstGeom>
          <a:solidFill>
            <a:srgbClr val="E2A33D"/>
          </a:solidFill>
          <a:ln w="6350">
            <a:solidFill>
              <a:srgbClr val="E2A33D"/>
            </a:solidFill>
            <a:prstDash val="solid"/>
          </a:ln>
        </p:spPr>
      </p:sp>
      <p:sp>
        <p:nvSpPr>
          <p:cNvPr id="39" name="Label IN PRÜFUNG Text"/>
          <p:cNvSpPr txBox="1"/>
          <p:nvPr/>
        </p:nvSpPr>
        <p:spPr>
          <a:xfrm>
            <a:off x="9087917" y="379476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IN PRÜFUNG</a:t>
            </a:r>
            <a:endParaRPr lang="en-US" sz="750" dirty="0"/>
          </a:p>
        </p:txBody>
      </p:sp>
      <p:sp>
        <p:nvSpPr>
          <p:cNvPr id="40" name="Label FREIGEGEBEN"/>
          <p:cNvSpPr/>
          <p:nvPr/>
        </p:nvSpPr>
        <p:spPr>
          <a:xfrm>
            <a:off x="10230917" y="3794760"/>
            <a:ext cx="1051560" cy="237744"/>
          </a:xfrm>
          <a:prstGeom prst="rect">
            <a:avLst/>
          </a:prstGeom>
          <a:solidFill>
            <a:srgbClr val="B7F3D0"/>
          </a:solidFill>
          <a:ln w="6350">
            <a:solidFill>
              <a:srgbClr val="B7F3D0"/>
            </a:solidFill>
            <a:prstDash val="solid"/>
          </a:ln>
        </p:spPr>
      </p:sp>
      <p:sp>
        <p:nvSpPr>
          <p:cNvPr id="41" name="Label FREIGEGEBEN Text"/>
          <p:cNvSpPr txBox="1"/>
          <p:nvPr/>
        </p:nvSpPr>
        <p:spPr>
          <a:xfrm>
            <a:off x="10230917" y="379476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FREIGEGEBEN</a:t>
            </a:r>
            <a:endParaRPr lang="en-US" sz="750" dirty="0"/>
          </a:p>
        </p:txBody>
      </p:sp>
      <p:sp>
        <p:nvSpPr>
          <p:cNvPr id="42" name="Ampel Erklärung"/>
          <p:cNvSpPr txBox="1"/>
          <p:nvPr/>
        </p:nvSpPr>
        <p:spPr>
          <a:xfrm>
            <a:off x="7944917" y="4114800"/>
            <a:ext cx="3332378" cy="548640"/>
          </a:xfrm>
          <a:prstGeom prst="rect">
            <a:avLst/>
          </a:prstGeom>
          <a:noFill/>
          <a:ln/>
        </p:spPr>
        <p:txBody>
          <a:bodyPr wrap="square" lIns="0" tIns="0" rIns="0" bIns="0" rtlCol="0" anchor="t"/>
          <a:lstStyle/>
          <a:p>
            <a:pPr indent="0" marL="0">
              <a:lnSpc>
                <a:spcPct val="120000"/>
              </a:lnSpc>
              <a:buNone/>
            </a:pPr>
            <a:r>
              <a:rPr lang="en-US" sz="900" dirty="0">
                <a:solidFill>
                  <a:srgbClr val="707981"/>
                </a:solidFill>
              </a:rPr>
              <a:t>Freigabestatus als Ampel: Rot = Achtung, Verbot, vertraulich; Orange = in Prüfung, vorläufig; Grün = freigegeben. Nur für Labels, nie für Inhalte.</a:t>
            </a:r>
            <a:endParaRPr lang="en-US" sz="900" dirty="0"/>
          </a:p>
        </p:txBody>
      </p:sp>
      <p:sp>
        <p:nvSpPr>
          <p:cNvPr id="43" name="Label INTERN"/>
          <p:cNvSpPr/>
          <p:nvPr/>
        </p:nvSpPr>
        <p:spPr>
          <a:xfrm>
            <a:off x="7944917" y="4892040"/>
            <a:ext cx="1051560" cy="237744"/>
          </a:xfrm>
          <a:prstGeom prst="rect">
            <a:avLst/>
          </a:prstGeom>
          <a:solidFill>
            <a:srgbClr val="E7FFF2"/>
          </a:solidFill>
          <a:ln w="6350">
            <a:solidFill>
              <a:srgbClr val="111418"/>
            </a:solidFill>
            <a:prstDash val="solid"/>
          </a:ln>
        </p:spPr>
      </p:sp>
      <p:sp>
        <p:nvSpPr>
          <p:cNvPr id="44" name="Label INTERN Text"/>
          <p:cNvSpPr txBox="1"/>
          <p:nvPr/>
        </p:nvSpPr>
        <p:spPr>
          <a:xfrm>
            <a:off x="7944917" y="489204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INTERN</a:t>
            </a:r>
            <a:endParaRPr lang="en-US" sz="750" dirty="0"/>
          </a:p>
        </p:txBody>
      </p:sp>
      <p:sp>
        <p:nvSpPr>
          <p:cNvPr id="45" name="Label ENTWURF"/>
          <p:cNvSpPr/>
          <p:nvPr/>
        </p:nvSpPr>
        <p:spPr>
          <a:xfrm>
            <a:off x="9087917" y="4892040"/>
            <a:ext cx="1051560" cy="237744"/>
          </a:xfrm>
          <a:prstGeom prst="rect">
            <a:avLst/>
          </a:prstGeom>
          <a:solidFill>
            <a:srgbClr val="E7FFF2"/>
          </a:solidFill>
          <a:ln w="6350">
            <a:solidFill>
              <a:srgbClr val="111418"/>
            </a:solidFill>
            <a:prstDash val="solid"/>
          </a:ln>
        </p:spPr>
      </p:sp>
      <p:sp>
        <p:nvSpPr>
          <p:cNvPr id="46" name="Label ENTWURF Text"/>
          <p:cNvSpPr txBox="1"/>
          <p:nvPr/>
        </p:nvSpPr>
        <p:spPr>
          <a:xfrm>
            <a:off x="9087917" y="4892040"/>
            <a:ext cx="1051560" cy="237744"/>
          </a:xfrm>
          <a:prstGeom prst="rect">
            <a:avLst/>
          </a:prstGeom>
          <a:noFill/>
          <a:ln/>
        </p:spPr>
        <p:txBody>
          <a:bodyPr wrap="square" lIns="0" tIns="0" rIns="0" bIns="0" rtlCol="0" anchor="ctr"/>
          <a:lstStyle/>
          <a:p>
            <a:pPr algn="ctr" indent="0" marL="0">
              <a:buNone/>
            </a:pPr>
            <a:r>
              <a:rPr lang="en-US" sz="750" spc="-20" kern="0" dirty="0">
                <a:solidFill>
                  <a:srgbClr val="111418"/>
                </a:solidFill>
              </a:rPr>
              <a:t>ENTWURF</a:t>
            </a:r>
            <a:endParaRPr lang="en-US" sz="750" dirty="0"/>
          </a:p>
        </p:txBody>
      </p:sp>
      <p:sp>
        <p:nvSpPr>
          <p:cNvPr id="47" name="Neutral Erklärung"/>
          <p:cNvSpPr txBox="1"/>
          <p:nvPr/>
        </p:nvSpPr>
        <p:spPr>
          <a:xfrm>
            <a:off x="7944917" y="5212080"/>
            <a:ext cx="3332378" cy="237744"/>
          </a:xfrm>
          <a:prstGeom prst="rect">
            <a:avLst/>
          </a:prstGeom>
          <a:noFill/>
          <a:ln/>
        </p:spPr>
        <p:txBody>
          <a:bodyPr wrap="square" lIns="0" tIns="0" rIns="0" bIns="0" rtlCol="0" anchor="ctr"/>
          <a:lstStyle/>
          <a:p>
            <a:pPr indent="0" marL="0">
              <a:buNone/>
            </a:pPr>
            <a:r>
              <a:rPr lang="en-US" sz="900" dirty="0">
                <a:solidFill>
                  <a:srgbClr val="707981"/>
                </a:solidFill>
              </a:rPr>
              <a:t>Neutrale Labels ohne Ampelbedeutung</a:t>
            </a:r>
            <a:endParaRPr lang="en-US" sz="900" dirty="0"/>
          </a:p>
        </p:txBody>
      </p:sp>
      <p:sp>
        <p:nvSpPr>
          <p:cNvPr id="48" name="Pfeil-Link"/>
          <p:cNvSpPr txBox="1"/>
          <p:nvPr/>
        </p:nvSpPr>
        <p:spPr>
          <a:xfrm>
            <a:off x="7944917" y="5623560"/>
            <a:ext cx="3332378" cy="274320"/>
          </a:xfrm>
          <a:prstGeom prst="rect">
            <a:avLst/>
          </a:prstGeom>
          <a:noFill/>
          <a:ln/>
        </p:spPr>
        <p:txBody>
          <a:bodyPr wrap="square" lIns="0" tIns="0" rIns="0" bIns="0" rtlCol="0" anchor="ctr"/>
          <a:lstStyle/>
          <a:p>
            <a:pPr indent="0" marL="0">
              <a:buNone/>
            </a:pPr>
            <a:r>
              <a:rPr lang="en-US" sz="1000" spc="-30" kern="0" dirty="0">
                <a:solidFill>
                  <a:srgbClr val="111418"/>
                </a:solidFill>
              </a:rPr>
              <a:t>ZUR SIMULATION  →</a:t>
            </a:r>
            <a:endParaRPr lang="en-US" sz="1000" dirty="0"/>
          </a:p>
        </p:txBody>
      </p:sp>
      <p:sp>
        <p:nvSpPr>
          <p:cNvPr id="49" name="Pfeil-Link Text"/>
          <p:cNvSpPr txBox="1"/>
          <p:nvPr/>
        </p:nvSpPr>
        <p:spPr>
          <a:xfrm>
            <a:off x="7944917" y="5897880"/>
            <a:ext cx="3332378" cy="237744"/>
          </a:xfrm>
          <a:prstGeom prst="rect">
            <a:avLst/>
          </a:prstGeom>
          <a:noFill/>
          <a:ln/>
        </p:spPr>
        <p:txBody>
          <a:bodyPr wrap="square" lIns="0" tIns="0" rIns="0" bIns="0" rtlCol="0" anchor="ctr"/>
          <a:lstStyle/>
          <a:p>
            <a:pPr indent="0" marL="0">
              <a:buNone/>
            </a:pPr>
            <a:r>
              <a:rPr lang="en-US" sz="900" dirty="0">
                <a:solidFill>
                  <a:srgbClr val="707981"/>
                </a:solidFill>
              </a:rPr>
              <a:t>Pfeil-Link als Verweis auf eine andere Folie</a:t>
            </a:r>
            <a:endParaRPr lang="en-US" sz="900" dirty="0"/>
          </a:p>
        </p:txBody>
      </p:sp>
      <p:sp>
        <p:nvSpPr>
          <p:cNvPr id="50"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23</a:t>
            </a:fld>
            <a:endParaRPr lang="en-US"/>
          </a:p>
        </p:txBody>
      </p:sp>
      <p:sp>
        <p:nvSpPr>
          <p:cNvPr id="51"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VORLAGE  ·  FARBEN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Farbkonzept: Marke, Grund, Status</a:t>
            </a:r>
            <a:endParaRPr lang="en-US" sz="3400" dirty="0"/>
          </a:p>
        </p:txBody>
      </p:sp>
      <p:sp>
        <p:nvSpPr>
          <p:cNvPr id="5" name="Muster Carbon Black"/>
          <p:cNvSpPr/>
          <p:nvPr/>
        </p:nvSpPr>
        <p:spPr>
          <a:xfrm>
            <a:off x="548640" y="2514600"/>
            <a:ext cx="1635709" cy="685800"/>
          </a:xfrm>
          <a:prstGeom prst="rect">
            <a:avLst/>
          </a:prstGeom>
          <a:solidFill>
            <a:srgbClr val="111418"/>
          </a:solidFill>
          <a:ln w="6350">
            <a:solidFill>
              <a:srgbClr val="91A19B"/>
            </a:solidFill>
            <a:prstDash val="solid"/>
          </a:ln>
        </p:spPr>
      </p:sp>
      <p:sp>
        <p:nvSpPr>
          <p:cNvPr id="6" name="Farbname Carbon Black"/>
          <p:cNvSpPr txBox="1"/>
          <p:nvPr/>
        </p:nvSpPr>
        <p:spPr>
          <a:xfrm>
            <a:off x="548640"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Carbon Black</a:t>
            </a:r>
            <a:endParaRPr lang="en-US" sz="1200" dirty="0"/>
          </a:p>
        </p:txBody>
      </p:sp>
      <p:sp>
        <p:nvSpPr>
          <p:cNvPr id="7" name="Rolle Carbon Black"/>
          <p:cNvSpPr txBox="1"/>
          <p:nvPr/>
        </p:nvSpPr>
        <p:spPr>
          <a:xfrm>
            <a:off x="548640"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GRUND DARK  ·  TEXT AUF HELL</a:t>
            </a:r>
            <a:endParaRPr lang="en-US" sz="750" dirty="0"/>
          </a:p>
        </p:txBody>
      </p:sp>
      <p:sp>
        <p:nvSpPr>
          <p:cNvPr id="8" name="Farbwerte Carbon Black"/>
          <p:cNvSpPr txBox="1"/>
          <p:nvPr/>
        </p:nvSpPr>
        <p:spPr>
          <a:xfrm>
            <a:off x="548640"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#111418</a:t>
            </a:r>
            <a:endParaRPr lang="en-US" sz="800" dirty="0"/>
          </a:p>
          <a:p>
            <a:pPr indent="0" marL="0">
              <a:lnSpc>
                <a:spcPct val="125000"/>
              </a:lnSpc>
              <a:buNone/>
            </a:pPr>
            <a:r>
              <a:rPr lang="en-US" sz="800" dirty="0">
                <a:solidFill>
                  <a:srgbClr val="111418"/>
                </a:solidFill>
              </a:rPr>
              <a:t>RGB  17 · 20 · 24</a:t>
            </a:r>
            <a:endParaRPr lang="en-US" sz="800" dirty="0"/>
          </a:p>
          <a:p>
            <a:pPr indent="0" marL="0">
              <a:lnSpc>
                <a:spcPct val="125000"/>
              </a:lnSpc>
              <a:buNone/>
            </a:pPr>
            <a:r>
              <a:rPr lang="en-US" sz="800" dirty="0">
                <a:solidFill>
                  <a:srgbClr val="111418"/>
                </a:solidFill>
              </a:rPr>
              <a:t>CMYK  29 · 17 · 0 · 91</a:t>
            </a:r>
            <a:endParaRPr lang="en-US" sz="800" dirty="0"/>
          </a:p>
          <a:p>
            <a:pPr indent="0" marL="0">
              <a:lnSpc>
                <a:spcPct val="125000"/>
              </a:lnSpc>
              <a:buNone/>
            </a:pPr>
            <a:r>
              <a:rPr lang="en-US" sz="800" dirty="0">
                <a:solidFill>
                  <a:srgbClr val="111418"/>
                </a:solidFill>
              </a:rPr>
              <a:t>HSL  214° · 17 % · 8 %</a:t>
            </a:r>
            <a:endParaRPr lang="en-US" sz="800" dirty="0"/>
          </a:p>
        </p:txBody>
      </p:sp>
      <p:sp>
        <p:nvSpPr>
          <p:cNvPr id="9" name="Muster Ice Mint"/>
          <p:cNvSpPr/>
          <p:nvPr/>
        </p:nvSpPr>
        <p:spPr>
          <a:xfrm>
            <a:off x="2367229" y="2514600"/>
            <a:ext cx="1635709" cy="685800"/>
          </a:xfrm>
          <a:prstGeom prst="rect">
            <a:avLst/>
          </a:prstGeom>
          <a:solidFill>
            <a:srgbClr val="E7FFF2"/>
          </a:solidFill>
          <a:ln w="6350">
            <a:solidFill>
              <a:srgbClr val="91A19B"/>
            </a:solidFill>
            <a:prstDash val="solid"/>
          </a:ln>
        </p:spPr>
      </p:sp>
      <p:sp>
        <p:nvSpPr>
          <p:cNvPr id="10" name="Farbname Ice Mint"/>
          <p:cNvSpPr txBox="1"/>
          <p:nvPr/>
        </p:nvSpPr>
        <p:spPr>
          <a:xfrm>
            <a:off x="2367229"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Ice Mint</a:t>
            </a:r>
            <a:endParaRPr lang="en-US" sz="1200" dirty="0"/>
          </a:p>
        </p:txBody>
      </p:sp>
      <p:sp>
        <p:nvSpPr>
          <p:cNvPr id="11" name="Rolle Ice Mint"/>
          <p:cNvSpPr txBox="1"/>
          <p:nvPr/>
        </p:nvSpPr>
        <p:spPr>
          <a:xfrm>
            <a:off x="2367229"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GRUND MINT  ·  TEXT AUF DARK</a:t>
            </a:r>
            <a:endParaRPr lang="en-US" sz="750" dirty="0"/>
          </a:p>
        </p:txBody>
      </p:sp>
      <p:sp>
        <p:nvSpPr>
          <p:cNvPr id="12" name="Farbwerte Ice Mint"/>
          <p:cNvSpPr txBox="1"/>
          <p:nvPr/>
        </p:nvSpPr>
        <p:spPr>
          <a:xfrm>
            <a:off x="2367229"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#E7FFF2</a:t>
            </a:r>
            <a:endParaRPr lang="en-US" sz="800" dirty="0"/>
          </a:p>
          <a:p>
            <a:pPr indent="0" marL="0">
              <a:lnSpc>
                <a:spcPct val="125000"/>
              </a:lnSpc>
              <a:buNone/>
            </a:pPr>
            <a:r>
              <a:rPr lang="en-US" sz="800" dirty="0">
                <a:solidFill>
                  <a:srgbClr val="111418"/>
                </a:solidFill>
              </a:rPr>
              <a:t>RGB  231 · 255 · 242</a:t>
            </a:r>
            <a:endParaRPr lang="en-US" sz="800" dirty="0"/>
          </a:p>
          <a:p>
            <a:pPr indent="0" marL="0">
              <a:lnSpc>
                <a:spcPct val="125000"/>
              </a:lnSpc>
              <a:buNone/>
            </a:pPr>
            <a:r>
              <a:rPr lang="en-US" sz="800" dirty="0">
                <a:solidFill>
                  <a:srgbClr val="111418"/>
                </a:solidFill>
              </a:rPr>
              <a:t>CMYK  9 · 0 · 5 · 0</a:t>
            </a:r>
            <a:endParaRPr lang="en-US" sz="800" dirty="0"/>
          </a:p>
          <a:p>
            <a:pPr indent="0" marL="0">
              <a:lnSpc>
                <a:spcPct val="125000"/>
              </a:lnSpc>
              <a:buNone/>
            </a:pPr>
            <a:r>
              <a:rPr lang="en-US" sz="800" dirty="0">
                <a:solidFill>
                  <a:srgbClr val="111418"/>
                </a:solidFill>
              </a:rPr>
              <a:t>HSL  148° · 100 % · 95 %</a:t>
            </a:r>
            <a:endParaRPr lang="en-US" sz="800" dirty="0"/>
          </a:p>
        </p:txBody>
      </p:sp>
      <p:sp>
        <p:nvSpPr>
          <p:cNvPr id="13" name="Muster Signal Green"/>
          <p:cNvSpPr/>
          <p:nvPr/>
        </p:nvSpPr>
        <p:spPr>
          <a:xfrm>
            <a:off x="4185818" y="2514600"/>
            <a:ext cx="1635709" cy="685800"/>
          </a:xfrm>
          <a:prstGeom prst="rect">
            <a:avLst/>
          </a:prstGeom>
          <a:solidFill>
            <a:srgbClr val="25C77A"/>
          </a:solidFill>
          <a:ln w="6350">
            <a:solidFill>
              <a:srgbClr val="91A19B"/>
            </a:solidFill>
            <a:prstDash val="solid"/>
          </a:ln>
        </p:spPr>
      </p:sp>
      <p:sp>
        <p:nvSpPr>
          <p:cNvPr id="14" name="Farbname Signal Green"/>
          <p:cNvSpPr txBox="1"/>
          <p:nvPr/>
        </p:nvSpPr>
        <p:spPr>
          <a:xfrm>
            <a:off x="4185818"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Signal Green</a:t>
            </a:r>
            <a:endParaRPr lang="en-US" sz="1200" dirty="0"/>
          </a:p>
        </p:txBody>
      </p:sp>
      <p:sp>
        <p:nvSpPr>
          <p:cNvPr id="15" name="Rolle Signal Green"/>
          <p:cNvSpPr txBox="1"/>
          <p:nvPr/>
        </p:nvSpPr>
        <p:spPr>
          <a:xfrm>
            <a:off x="4185818"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EIN AKZENT PRO FOLIE</a:t>
            </a:r>
            <a:endParaRPr lang="en-US" sz="750" dirty="0"/>
          </a:p>
        </p:txBody>
      </p:sp>
      <p:sp>
        <p:nvSpPr>
          <p:cNvPr id="16" name="Farbwerte Signal Green"/>
          <p:cNvSpPr txBox="1"/>
          <p:nvPr/>
        </p:nvSpPr>
        <p:spPr>
          <a:xfrm>
            <a:off x="4185818"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#25C77A</a:t>
            </a:r>
            <a:endParaRPr lang="en-US" sz="800" dirty="0"/>
          </a:p>
          <a:p>
            <a:pPr indent="0" marL="0">
              <a:lnSpc>
                <a:spcPct val="125000"/>
              </a:lnSpc>
              <a:buNone/>
            </a:pPr>
            <a:r>
              <a:rPr lang="en-US" sz="800" dirty="0">
                <a:solidFill>
                  <a:srgbClr val="111418"/>
                </a:solidFill>
              </a:rPr>
              <a:t>RGB  37 · 199 · 122</a:t>
            </a:r>
            <a:endParaRPr lang="en-US" sz="800" dirty="0"/>
          </a:p>
          <a:p>
            <a:pPr indent="0" marL="0">
              <a:lnSpc>
                <a:spcPct val="125000"/>
              </a:lnSpc>
              <a:buNone/>
            </a:pPr>
            <a:r>
              <a:rPr lang="en-US" sz="800" dirty="0">
                <a:solidFill>
                  <a:srgbClr val="111418"/>
                </a:solidFill>
              </a:rPr>
              <a:t>CMYK  81 · 0 · 39 · 22</a:t>
            </a:r>
            <a:endParaRPr lang="en-US" sz="800" dirty="0"/>
          </a:p>
          <a:p>
            <a:pPr indent="0" marL="0">
              <a:lnSpc>
                <a:spcPct val="125000"/>
              </a:lnSpc>
              <a:buNone/>
            </a:pPr>
            <a:r>
              <a:rPr lang="en-US" sz="800" dirty="0">
                <a:solidFill>
                  <a:srgbClr val="111418"/>
                </a:solidFill>
              </a:rPr>
              <a:t>HSL  151° · 69 % · 46 %</a:t>
            </a:r>
            <a:endParaRPr lang="en-US" sz="800" dirty="0"/>
          </a:p>
        </p:txBody>
      </p:sp>
      <p:sp>
        <p:nvSpPr>
          <p:cNvPr id="17" name="Muster Fresh Mint"/>
          <p:cNvSpPr/>
          <p:nvPr/>
        </p:nvSpPr>
        <p:spPr>
          <a:xfrm>
            <a:off x="6004408" y="2514600"/>
            <a:ext cx="1635709" cy="685800"/>
          </a:xfrm>
          <a:prstGeom prst="rect">
            <a:avLst/>
          </a:prstGeom>
          <a:solidFill>
            <a:srgbClr val="B7F3D0"/>
          </a:solidFill>
          <a:ln w="6350">
            <a:solidFill>
              <a:srgbClr val="91A19B"/>
            </a:solidFill>
            <a:prstDash val="solid"/>
          </a:ln>
        </p:spPr>
      </p:sp>
      <p:sp>
        <p:nvSpPr>
          <p:cNvPr id="18" name="Farbname Fresh Mint"/>
          <p:cNvSpPr txBox="1"/>
          <p:nvPr/>
        </p:nvSpPr>
        <p:spPr>
          <a:xfrm>
            <a:off x="6004408"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Fresh Mint</a:t>
            </a:r>
            <a:endParaRPr lang="en-US" sz="1200" dirty="0"/>
          </a:p>
        </p:txBody>
      </p:sp>
      <p:sp>
        <p:nvSpPr>
          <p:cNvPr id="19" name="Rolle Fresh Mint"/>
          <p:cNvSpPr txBox="1"/>
          <p:nvPr/>
        </p:nvSpPr>
        <p:spPr>
          <a:xfrm>
            <a:off x="6004408"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ZWEITE HERVORHEBUNG  ·  LINKS</a:t>
            </a:r>
            <a:endParaRPr lang="en-US" sz="750" dirty="0"/>
          </a:p>
        </p:txBody>
      </p:sp>
      <p:sp>
        <p:nvSpPr>
          <p:cNvPr id="20" name="Farbwerte Fresh Mint"/>
          <p:cNvSpPr txBox="1"/>
          <p:nvPr/>
        </p:nvSpPr>
        <p:spPr>
          <a:xfrm>
            <a:off x="6004408"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#B7F3D0</a:t>
            </a:r>
            <a:endParaRPr lang="en-US" sz="800" dirty="0"/>
          </a:p>
          <a:p>
            <a:pPr indent="0" marL="0">
              <a:lnSpc>
                <a:spcPct val="125000"/>
              </a:lnSpc>
              <a:buNone/>
            </a:pPr>
            <a:r>
              <a:rPr lang="en-US" sz="800" dirty="0">
                <a:solidFill>
                  <a:srgbClr val="111418"/>
                </a:solidFill>
              </a:rPr>
              <a:t>RGB  183 · 243 · 208</a:t>
            </a:r>
            <a:endParaRPr lang="en-US" sz="800" dirty="0"/>
          </a:p>
          <a:p>
            <a:pPr indent="0" marL="0">
              <a:lnSpc>
                <a:spcPct val="125000"/>
              </a:lnSpc>
              <a:buNone/>
            </a:pPr>
            <a:r>
              <a:rPr lang="en-US" sz="800" dirty="0">
                <a:solidFill>
                  <a:srgbClr val="111418"/>
                </a:solidFill>
              </a:rPr>
              <a:t>CMYK  25 · 0 · 14 · 5</a:t>
            </a:r>
            <a:endParaRPr lang="en-US" sz="800" dirty="0"/>
          </a:p>
          <a:p>
            <a:pPr indent="0" marL="0">
              <a:lnSpc>
                <a:spcPct val="125000"/>
              </a:lnSpc>
              <a:buNone/>
            </a:pPr>
            <a:r>
              <a:rPr lang="en-US" sz="800" dirty="0">
                <a:solidFill>
                  <a:srgbClr val="111418"/>
                </a:solidFill>
              </a:rPr>
              <a:t>HSL  145° · 71 % · 84 %</a:t>
            </a:r>
            <a:endParaRPr lang="en-US" sz="800" dirty="0"/>
          </a:p>
        </p:txBody>
      </p:sp>
      <p:sp>
        <p:nvSpPr>
          <p:cNvPr id="21" name="Muster Steel Gray"/>
          <p:cNvSpPr/>
          <p:nvPr/>
        </p:nvSpPr>
        <p:spPr>
          <a:xfrm>
            <a:off x="7822997" y="2514600"/>
            <a:ext cx="1635709" cy="685800"/>
          </a:xfrm>
          <a:prstGeom prst="rect">
            <a:avLst/>
          </a:prstGeom>
          <a:solidFill>
            <a:srgbClr val="707981"/>
          </a:solidFill>
          <a:ln w="6350">
            <a:solidFill>
              <a:srgbClr val="91A19B"/>
            </a:solidFill>
            <a:prstDash val="solid"/>
          </a:ln>
        </p:spPr>
      </p:sp>
      <p:sp>
        <p:nvSpPr>
          <p:cNvPr id="22" name="Farbname Steel Gray"/>
          <p:cNvSpPr txBox="1"/>
          <p:nvPr/>
        </p:nvSpPr>
        <p:spPr>
          <a:xfrm>
            <a:off x="7822997"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Steel Gray</a:t>
            </a:r>
            <a:endParaRPr lang="en-US" sz="1200" dirty="0"/>
          </a:p>
        </p:txBody>
      </p:sp>
      <p:sp>
        <p:nvSpPr>
          <p:cNvPr id="23" name="Rolle Steel Gray"/>
          <p:cNvSpPr txBox="1"/>
          <p:nvPr/>
        </p:nvSpPr>
        <p:spPr>
          <a:xfrm>
            <a:off x="7822997"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ZWEITTEXT  ·  LABELS  ·  INAKTIV</a:t>
            </a:r>
            <a:endParaRPr lang="en-US" sz="750" dirty="0"/>
          </a:p>
        </p:txBody>
      </p:sp>
      <p:sp>
        <p:nvSpPr>
          <p:cNvPr id="24" name="Farbwerte Steel Gray"/>
          <p:cNvSpPr txBox="1"/>
          <p:nvPr/>
        </p:nvSpPr>
        <p:spPr>
          <a:xfrm>
            <a:off x="7822997"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#707981</a:t>
            </a:r>
            <a:endParaRPr lang="en-US" sz="800" dirty="0"/>
          </a:p>
          <a:p>
            <a:pPr indent="0" marL="0">
              <a:lnSpc>
                <a:spcPct val="125000"/>
              </a:lnSpc>
              <a:buNone/>
            </a:pPr>
            <a:r>
              <a:rPr lang="en-US" sz="800" dirty="0">
                <a:solidFill>
                  <a:srgbClr val="111418"/>
                </a:solidFill>
              </a:rPr>
              <a:t>RGB  112 · 121 · 129</a:t>
            </a:r>
            <a:endParaRPr lang="en-US" sz="800" dirty="0"/>
          </a:p>
          <a:p>
            <a:pPr indent="0" marL="0">
              <a:lnSpc>
                <a:spcPct val="125000"/>
              </a:lnSpc>
              <a:buNone/>
            </a:pPr>
            <a:r>
              <a:rPr lang="en-US" sz="800" dirty="0">
                <a:solidFill>
                  <a:srgbClr val="111418"/>
                </a:solidFill>
              </a:rPr>
              <a:t>CMYK  13 · 6 · 0 · 49</a:t>
            </a:r>
            <a:endParaRPr lang="en-US" sz="800" dirty="0"/>
          </a:p>
          <a:p>
            <a:pPr indent="0" marL="0">
              <a:lnSpc>
                <a:spcPct val="125000"/>
              </a:lnSpc>
              <a:buNone/>
            </a:pPr>
            <a:r>
              <a:rPr lang="en-US" sz="800" dirty="0">
                <a:solidFill>
                  <a:srgbClr val="111418"/>
                </a:solidFill>
              </a:rPr>
              <a:t>HSL  208° · 7 % · 47 %</a:t>
            </a:r>
            <a:endParaRPr lang="en-US" sz="800" dirty="0"/>
          </a:p>
        </p:txBody>
      </p:sp>
      <p:sp>
        <p:nvSpPr>
          <p:cNvPr id="25" name="Muster Light Gray"/>
          <p:cNvSpPr/>
          <p:nvPr/>
        </p:nvSpPr>
        <p:spPr>
          <a:xfrm>
            <a:off x="9641586" y="2514600"/>
            <a:ext cx="1635709" cy="685800"/>
          </a:xfrm>
          <a:prstGeom prst="rect">
            <a:avLst/>
          </a:prstGeom>
          <a:solidFill>
            <a:srgbClr val="C4C8CC"/>
          </a:solidFill>
          <a:ln w="6350">
            <a:solidFill>
              <a:srgbClr val="91A19B"/>
            </a:solidFill>
            <a:prstDash val="solid"/>
          </a:ln>
        </p:spPr>
      </p:sp>
      <p:sp>
        <p:nvSpPr>
          <p:cNvPr id="26" name="Farbname Light Gray"/>
          <p:cNvSpPr txBox="1"/>
          <p:nvPr/>
        </p:nvSpPr>
        <p:spPr>
          <a:xfrm>
            <a:off x="9641586" y="3273552"/>
            <a:ext cx="1635709" cy="274320"/>
          </a:xfrm>
          <a:prstGeom prst="rect">
            <a:avLst/>
          </a:prstGeom>
          <a:noFill/>
          <a:ln/>
        </p:spPr>
        <p:txBody>
          <a:bodyPr wrap="square" lIns="0" tIns="0" rIns="0" bIns="0" rtlCol="0" anchor="ctr"/>
          <a:lstStyle/>
          <a:p>
            <a:pPr indent="0" marL="0">
              <a:buNone/>
            </a:pPr>
            <a:r>
              <a:rPr lang="en-US" sz="1200" spc="-20" kern="0" dirty="0">
                <a:solidFill>
                  <a:srgbClr val="111418"/>
                </a:solidFill>
              </a:rPr>
              <a:t>Light Gray</a:t>
            </a:r>
            <a:endParaRPr lang="en-US" sz="1200" dirty="0"/>
          </a:p>
        </p:txBody>
      </p:sp>
      <p:sp>
        <p:nvSpPr>
          <p:cNvPr id="27" name="Rolle Light Gray"/>
          <p:cNvSpPr txBox="1"/>
          <p:nvPr/>
        </p:nvSpPr>
        <p:spPr>
          <a:xfrm>
            <a:off x="9641586" y="3538728"/>
            <a:ext cx="1635709" cy="365760"/>
          </a:xfrm>
          <a:prstGeom prst="rect">
            <a:avLst/>
          </a:prstGeom>
          <a:noFill/>
          <a:ln/>
        </p:spPr>
        <p:txBody>
          <a:bodyPr wrap="square" lIns="0" tIns="0" rIns="0" bIns="0" rtlCol="0" anchor="t"/>
          <a:lstStyle/>
          <a:p>
            <a:pPr indent="0" marL="0">
              <a:lnSpc>
                <a:spcPct val="115000"/>
              </a:lnSpc>
              <a:buNone/>
            </a:pPr>
            <a:r>
              <a:rPr lang="en-US" sz="750" spc="-20" kern="0" dirty="0">
                <a:solidFill>
                  <a:srgbClr val="707981"/>
                </a:solidFill>
              </a:rPr>
              <a:t>PLATZHALTER  ·  IST-WERTE</a:t>
            </a:r>
            <a:endParaRPr lang="en-US" sz="750" dirty="0"/>
          </a:p>
        </p:txBody>
      </p:sp>
      <p:sp>
        <p:nvSpPr>
          <p:cNvPr id="28" name="Farbwerte Light Gray"/>
          <p:cNvSpPr txBox="1"/>
          <p:nvPr/>
        </p:nvSpPr>
        <p:spPr>
          <a:xfrm>
            <a:off x="9641586" y="3931920"/>
            <a:ext cx="1635709" cy="640080"/>
          </a:xfrm>
          <a:prstGeom prst="rect">
            <a:avLst/>
          </a:prstGeom>
          <a:noFill/>
          <a:ln/>
        </p:spPr>
        <p:txBody>
          <a:bodyPr wrap="square" lIns="0" tIns="0" rIns="0" bIns="0" rtlCol="0" anchor="t"/>
          <a:lstStyle/>
          <a:p>
            <a:pPr indent="0" marL="0">
              <a:lnSpc>
                <a:spcPct val="125000"/>
              </a:lnSpc>
              <a:buNone/>
            </a:pPr>
            <a:r>
              <a:rPr lang="en-US" sz="800" dirty="0">
                <a:solidFill>
                  <a:srgbClr val="111418"/>
                </a:solidFill>
              </a:rPr>
              <a:t>HEX  #C4C8CC</a:t>
            </a:r>
            <a:endParaRPr lang="en-US" sz="800" dirty="0"/>
          </a:p>
          <a:p>
            <a:pPr indent="0" marL="0">
              <a:lnSpc>
                <a:spcPct val="125000"/>
              </a:lnSpc>
              <a:buNone/>
            </a:pPr>
            <a:r>
              <a:rPr lang="en-US" sz="800" dirty="0">
                <a:solidFill>
                  <a:srgbClr val="111418"/>
                </a:solidFill>
              </a:rPr>
              <a:t>RGB  196 · 200 · 204</a:t>
            </a:r>
            <a:endParaRPr lang="en-US" sz="800" dirty="0"/>
          </a:p>
          <a:p>
            <a:pPr indent="0" marL="0">
              <a:lnSpc>
                <a:spcPct val="125000"/>
              </a:lnSpc>
              <a:buNone/>
            </a:pPr>
            <a:r>
              <a:rPr lang="en-US" sz="800" dirty="0">
                <a:solidFill>
                  <a:srgbClr val="111418"/>
                </a:solidFill>
              </a:rPr>
              <a:t>CMYK  4 · 2 · 0 · 20</a:t>
            </a:r>
            <a:endParaRPr lang="en-US" sz="800" dirty="0"/>
          </a:p>
          <a:p>
            <a:pPr indent="0" marL="0">
              <a:lnSpc>
                <a:spcPct val="125000"/>
              </a:lnSpc>
              <a:buNone/>
            </a:pPr>
            <a:r>
              <a:rPr lang="en-US" sz="800" dirty="0">
                <a:solidFill>
                  <a:srgbClr val="111418"/>
                </a:solidFill>
              </a:rPr>
              <a:t>HSL  210° · 7 % · 78 %</a:t>
            </a:r>
            <a:endParaRPr lang="en-US" sz="800" dirty="0"/>
          </a:p>
        </p:txBody>
      </p:sp>
      <p:sp>
        <p:nvSpPr>
          <p:cNvPr id="29" name="Linie Status"/>
          <p:cNvSpPr/>
          <p:nvPr/>
        </p:nvSpPr>
        <p:spPr>
          <a:xfrm>
            <a:off x="548640" y="4754880"/>
            <a:ext cx="10728655" cy="0"/>
          </a:xfrm>
          <a:prstGeom prst="line">
            <a:avLst/>
          </a:prstGeom>
          <a:noFill/>
          <a:ln w="6350">
            <a:solidFill>
              <a:srgbClr val="91A19B"/>
            </a:solidFill>
            <a:prstDash val="solid"/>
          </a:ln>
        </p:spPr>
      </p:sp>
      <p:sp>
        <p:nvSpPr>
          <p:cNvPr id="30" name="Eyebrow GRUNDFARBEN"/>
          <p:cNvSpPr txBox="1"/>
          <p:nvPr/>
        </p:nvSpPr>
        <p:spPr>
          <a:xfrm>
            <a:off x="548640" y="4846320"/>
            <a:ext cx="4572000" cy="256032"/>
          </a:xfrm>
          <a:prstGeom prst="rect">
            <a:avLst/>
          </a:prstGeom>
          <a:noFill/>
          <a:ln/>
        </p:spPr>
        <p:txBody>
          <a:bodyPr wrap="square" lIns="0" tIns="0" rIns="0" bIns="0" rtlCol="0" anchor="ctr"/>
          <a:lstStyle/>
          <a:p>
            <a:pPr indent="0" marL="0">
              <a:buNone/>
            </a:pPr>
            <a:r>
              <a:rPr lang="en-US" sz="1000" spc="-30" kern="0" dirty="0">
                <a:solidFill>
                  <a:srgbClr val="707981"/>
                </a:solidFill>
              </a:rPr>
              <a:t>GRUNDFARBEN</a:t>
            </a:r>
            <a:endParaRPr lang="en-US" sz="1000" dirty="0"/>
          </a:p>
        </p:txBody>
      </p:sp>
      <p:sp>
        <p:nvSpPr>
          <p:cNvPr id="31" name="Grund Weiss"/>
          <p:cNvSpPr/>
          <p:nvPr/>
        </p:nvSpPr>
        <p:spPr>
          <a:xfrm>
            <a:off x="548640" y="5166360"/>
            <a:ext cx="502920" cy="502920"/>
          </a:xfrm>
          <a:prstGeom prst="rect">
            <a:avLst/>
          </a:prstGeom>
          <a:solidFill>
            <a:srgbClr val="FFFFFF"/>
          </a:solidFill>
          <a:ln w="6350">
            <a:solidFill>
              <a:srgbClr val="91A19B"/>
            </a:solidFill>
            <a:prstDash val="solid"/>
          </a:ln>
        </p:spPr>
      </p:sp>
      <p:sp>
        <p:nvSpPr>
          <p:cNvPr id="32" name="Grund Text Weiss"/>
          <p:cNvSpPr txBox="1"/>
          <p:nvPr/>
        </p:nvSpPr>
        <p:spPr>
          <a:xfrm>
            <a:off x="1143000" y="5148072"/>
            <a:ext cx="1097280" cy="54864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Weiss</a:t>
            </a:r>
            <a:endParaRPr lang="en-US" sz="1000" dirty="0"/>
          </a:p>
          <a:p>
            <a:pPr indent="0" marL="0">
              <a:lnSpc>
                <a:spcPct val="115000"/>
              </a:lnSpc>
              <a:buNone/>
            </a:pPr>
            <a:r>
              <a:rPr lang="en-US" sz="750" dirty="0">
                <a:solidFill>
                  <a:srgbClr val="707981"/>
                </a:solidFill>
              </a:rPr>
              <a:t>Unterlagen, Druck, dichte Inhalte</a:t>
            </a:r>
            <a:endParaRPr lang="en-US" sz="1000" dirty="0"/>
          </a:p>
        </p:txBody>
      </p:sp>
      <p:sp>
        <p:nvSpPr>
          <p:cNvPr id="33" name="Grund Mint"/>
          <p:cNvSpPr/>
          <p:nvPr/>
        </p:nvSpPr>
        <p:spPr>
          <a:xfrm>
            <a:off x="2377440" y="5166360"/>
            <a:ext cx="502920" cy="502920"/>
          </a:xfrm>
          <a:prstGeom prst="rect">
            <a:avLst/>
          </a:prstGeom>
          <a:solidFill>
            <a:srgbClr val="E7FFF2"/>
          </a:solidFill>
          <a:ln w="6350">
            <a:solidFill>
              <a:srgbClr val="91A19B"/>
            </a:solidFill>
            <a:prstDash val="solid"/>
          </a:ln>
        </p:spPr>
      </p:sp>
      <p:sp>
        <p:nvSpPr>
          <p:cNvPr id="34" name="Grund Text Mint"/>
          <p:cNvSpPr txBox="1"/>
          <p:nvPr/>
        </p:nvSpPr>
        <p:spPr>
          <a:xfrm>
            <a:off x="2971800" y="5148072"/>
            <a:ext cx="1097280" cy="54864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Mint</a:t>
            </a:r>
            <a:endParaRPr lang="en-US" sz="1000" dirty="0"/>
          </a:p>
          <a:p>
            <a:pPr indent="0" marL="0">
              <a:lnSpc>
                <a:spcPct val="115000"/>
              </a:lnSpc>
              <a:buNone/>
            </a:pPr>
            <a:r>
              <a:rPr lang="en-US" sz="750" dirty="0">
                <a:solidFill>
                  <a:srgbClr val="707981"/>
                </a:solidFill>
              </a:rPr>
              <a:t>Präsentation am Bildschirm</a:t>
            </a:r>
            <a:endParaRPr lang="en-US" sz="1000" dirty="0"/>
          </a:p>
        </p:txBody>
      </p:sp>
      <p:sp>
        <p:nvSpPr>
          <p:cNvPr id="35" name="Grund Dark"/>
          <p:cNvSpPr/>
          <p:nvPr/>
        </p:nvSpPr>
        <p:spPr>
          <a:xfrm>
            <a:off x="4206240" y="5166360"/>
            <a:ext cx="502920" cy="502920"/>
          </a:xfrm>
          <a:prstGeom prst="rect">
            <a:avLst/>
          </a:prstGeom>
          <a:solidFill>
            <a:srgbClr val="111418"/>
          </a:solidFill>
          <a:ln w="6350">
            <a:solidFill>
              <a:srgbClr val="91A19B"/>
            </a:solidFill>
            <a:prstDash val="solid"/>
          </a:ln>
        </p:spPr>
      </p:sp>
      <p:sp>
        <p:nvSpPr>
          <p:cNvPr id="36" name="Grund Text Dark"/>
          <p:cNvSpPr txBox="1"/>
          <p:nvPr/>
        </p:nvSpPr>
        <p:spPr>
          <a:xfrm>
            <a:off x="4800600" y="5148072"/>
            <a:ext cx="1097280" cy="54864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Dark</a:t>
            </a:r>
            <a:endParaRPr lang="en-US" sz="1000" dirty="0"/>
          </a:p>
          <a:p>
            <a:pPr indent="0" marL="0">
              <a:lnSpc>
                <a:spcPct val="115000"/>
              </a:lnSpc>
              <a:buNone/>
            </a:pPr>
            <a:r>
              <a:rPr lang="en-US" sz="750" dirty="0">
                <a:solidFill>
                  <a:srgbClr val="707981"/>
                </a:solidFill>
              </a:rPr>
              <a:t>Titel, Kapitel, Zitat, Schluss</a:t>
            </a:r>
            <a:endParaRPr lang="en-US" sz="1000" dirty="0"/>
          </a:p>
        </p:txBody>
      </p:sp>
      <p:sp>
        <p:nvSpPr>
          <p:cNvPr id="37" name="Eyebrow STATUSFARBEN (NUR FÜR LABELS)"/>
          <p:cNvSpPr txBox="1"/>
          <p:nvPr/>
        </p:nvSpPr>
        <p:spPr>
          <a:xfrm>
            <a:off x="6126480" y="4846320"/>
            <a:ext cx="4572000" cy="256032"/>
          </a:xfrm>
          <a:prstGeom prst="rect">
            <a:avLst/>
          </a:prstGeom>
          <a:noFill/>
          <a:ln/>
        </p:spPr>
        <p:txBody>
          <a:bodyPr wrap="square" lIns="0" tIns="0" rIns="0" bIns="0" rtlCol="0" anchor="ctr"/>
          <a:lstStyle/>
          <a:p>
            <a:pPr indent="0" marL="0">
              <a:buNone/>
            </a:pPr>
            <a:r>
              <a:rPr lang="en-US" sz="1000" spc="-30" kern="0" dirty="0">
                <a:solidFill>
                  <a:srgbClr val="707981"/>
                </a:solidFill>
              </a:rPr>
              <a:t>STATUSFARBEN (NUR FÜR LABELS)</a:t>
            </a:r>
            <a:endParaRPr lang="en-US" sz="1000" dirty="0"/>
          </a:p>
        </p:txBody>
      </p:sp>
      <p:sp>
        <p:nvSpPr>
          <p:cNvPr id="38" name="Status Rot"/>
          <p:cNvSpPr/>
          <p:nvPr/>
        </p:nvSpPr>
        <p:spPr>
          <a:xfrm>
            <a:off x="6126480" y="5166360"/>
            <a:ext cx="502920" cy="502920"/>
          </a:xfrm>
          <a:prstGeom prst="rect">
            <a:avLst/>
          </a:prstGeom>
          <a:solidFill>
            <a:srgbClr val="B8463A"/>
          </a:solidFill>
          <a:ln w="6350">
            <a:solidFill>
              <a:srgbClr val="91A19B"/>
            </a:solidFill>
            <a:prstDash val="solid"/>
          </a:ln>
        </p:spPr>
      </p:sp>
      <p:sp>
        <p:nvSpPr>
          <p:cNvPr id="39" name="Status Text Rot"/>
          <p:cNvSpPr txBox="1"/>
          <p:nvPr/>
        </p:nvSpPr>
        <p:spPr>
          <a:xfrm>
            <a:off x="6720840" y="5148072"/>
            <a:ext cx="1097280" cy="73152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Rot</a:t>
            </a:r>
            <a:endParaRPr lang="en-US" sz="1000" dirty="0"/>
          </a:p>
          <a:p>
            <a:pPr indent="0" marL="0">
              <a:lnSpc>
                <a:spcPct val="115000"/>
              </a:lnSpc>
              <a:buNone/>
            </a:pPr>
            <a:r>
              <a:rPr lang="en-US" sz="750" dirty="0">
                <a:solidFill>
                  <a:srgbClr val="707981"/>
                </a:solidFill>
              </a:rPr>
              <a:t>Achtung, Verbot, vertraulich</a:t>
            </a:r>
            <a:endParaRPr lang="en-US" sz="1000" dirty="0"/>
          </a:p>
          <a:p>
            <a:pPr indent="0" marL="0">
              <a:lnSpc>
                <a:spcPct val="115000"/>
              </a:lnSpc>
              <a:buNone/>
            </a:pPr>
            <a:r>
              <a:rPr lang="en-US" sz="700" dirty="0">
                <a:solidFill>
                  <a:srgbClr val="707981"/>
                </a:solidFill>
              </a:rPr>
              <a:t>#B8463A · 184 · 70 · 58</a:t>
            </a:r>
            <a:endParaRPr lang="en-US" sz="1000" dirty="0"/>
          </a:p>
        </p:txBody>
      </p:sp>
      <p:sp>
        <p:nvSpPr>
          <p:cNvPr id="40" name="Status Orange"/>
          <p:cNvSpPr/>
          <p:nvPr/>
        </p:nvSpPr>
        <p:spPr>
          <a:xfrm>
            <a:off x="7845552" y="5166360"/>
            <a:ext cx="502920" cy="502920"/>
          </a:xfrm>
          <a:prstGeom prst="rect">
            <a:avLst/>
          </a:prstGeom>
          <a:solidFill>
            <a:srgbClr val="E2A33D"/>
          </a:solidFill>
          <a:ln w="6350">
            <a:solidFill>
              <a:srgbClr val="91A19B"/>
            </a:solidFill>
            <a:prstDash val="solid"/>
          </a:ln>
        </p:spPr>
      </p:sp>
      <p:sp>
        <p:nvSpPr>
          <p:cNvPr id="41" name="Status Text Orange"/>
          <p:cNvSpPr txBox="1"/>
          <p:nvPr/>
        </p:nvSpPr>
        <p:spPr>
          <a:xfrm>
            <a:off x="8439912" y="5148072"/>
            <a:ext cx="1097280" cy="73152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Orange</a:t>
            </a:r>
            <a:endParaRPr lang="en-US" sz="1000" dirty="0"/>
          </a:p>
          <a:p>
            <a:pPr indent="0" marL="0">
              <a:lnSpc>
                <a:spcPct val="115000"/>
              </a:lnSpc>
              <a:buNone/>
            </a:pPr>
            <a:r>
              <a:rPr lang="en-US" sz="750" dirty="0">
                <a:solidFill>
                  <a:srgbClr val="707981"/>
                </a:solidFill>
              </a:rPr>
              <a:t>In Prüfung, vorläufig</a:t>
            </a:r>
            <a:endParaRPr lang="en-US" sz="1000" dirty="0"/>
          </a:p>
          <a:p>
            <a:pPr indent="0" marL="0">
              <a:lnSpc>
                <a:spcPct val="115000"/>
              </a:lnSpc>
              <a:buNone/>
            </a:pPr>
            <a:r>
              <a:rPr lang="en-US" sz="700" dirty="0">
                <a:solidFill>
                  <a:srgbClr val="707981"/>
                </a:solidFill>
              </a:rPr>
              <a:t>#E2A33D · 226 · 163 · 61</a:t>
            </a:r>
            <a:endParaRPr lang="en-US" sz="1000" dirty="0"/>
          </a:p>
        </p:txBody>
      </p:sp>
      <p:sp>
        <p:nvSpPr>
          <p:cNvPr id="42" name="Status Grün"/>
          <p:cNvSpPr/>
          <p:nvPr/>
        </p:nvSpPr>
        <p:spPr>
          <a:xfrm>
            <a:off x="9564624" y="5166360"/>
            <a:ext cx="502920" cy="502920"/>
          </a:xfrm>
          <a:prstGeom prst="rect">
            <a:avLst/>
          </a:prstGeom>
          <a:solidFill>
            <a:srgbClr val="B7F3D0"/>
          </a:solidFill>
          <a:ln w="6350">
            <a:solidFill>
              <a:srgbClr val="91A19B"/>
            </a:solidFill>
            <a:prstDash val="solid"/>
          </a:ln>
        </p:spPr>
      </p:sp>
      <p:sp>
        <p:nvSpPr>
          <p:cNvPr id="43" name="Status Text Grün"/>
          <p:cNvSpPr txBox="1"/>
          <p:nvPr/>
        </p:nvSpPr>
        <p:spPr>
          <a:xfrm>
            <a:off x="10158984" y="5148072"/>
            <a:ext cx="1097280" cy="731520"/>
          </a:xfrm>
          <a:prstGeom prst="rect">
            <a:avLst/>
          </a:prstGeom>
          <a:noFill/>
          <a:ln/>
        </p:spPr>
        <p:txBody>
          <a:bodyPr wrap="square" lIns="0" tIns="0" rIns="0" bIns="0" rtlCol="0" anchor="t"/>
          <a:lstStyle/>
          <a:p>
            <a:pPr indent="0" marL="0">
              <a:lnSpc>
                <a:spcPct val="115000"/>
              </a:lnSpc>
              <a:buNone/>
            </a:pPr>
            <a:r>
              <a:rPr lang="en-US" sz="1000" dirty="0">
                <a:solidFill>
                  <a:srgbClr val="111418"/>
                </a:solidFill>
              </a:rPr>
              <a:t>Grün</a:t>
            </a:r>
            <a:endParaRPr lang="en-US" sz="1000" dirty="0"/>
          </a:p>
          <a:p>
            <a:pPr indent="0" marL="0">
              <a:lnSpc>
                <a:spcPct val="115000"/>
              </a:lnSpc>
              <a:buNone/>
            </a:pPr>
            <a:r>
              <a:rPr lang="en-US" sz="750" dirty="0">
                <a:solidFill>
                  <a:srgbClr val="707981"/>
                </a:solidFill>
              </a:rPr>
              <a:t>Freigegeben (Fresh Mint)</a:t>
            </a:r>
            <a:endParaRPr lang="en-US" sz="1000" dirty="0"/>
          </a:p>
          <a:p>
            <a:pPr indent="0" marL="0">
              <a:lnSpc>
                <a:spcPct val="115000"/>
              </a:lnSpc>
              <a:buNone/>
            </a:pPr>
            <a:r>
              <a:rPr lang="en-US" sz="700" dirty="0">
                <a:solidFill>
                  <a:srgbClr val="707981"/>
                </a:solidFill>
              </a:rPr>
              <a:t>#B7F3D0 · 183 · 243 · 208</a:t>
            </a:r>
            <a:endParaRPr lang="en-US" sz="1000" dirty="0"/>
          </a:p>
        </p:txBody>
      </p:sp>
      <p:sp>
        <p:nvSpPr>
          <p:cNvPr id="44"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24</a:t>
            </a:fld>
            <a:endParaRPr lang="en-US"/>
          </a:p>
        </p:txBody>
      </p:sp>
      <p:sp>
        <p:nvSpPr>
          <p:cNvPr id="45"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2" name=""/>
        <p:cNvGrpSpPr/>
        <p:nvPr/>
      </p:nvGrpSpPr>
      <p:grpSpPr>
        <a:xfrm>
          <a:off x="0" y="0"/>
          <a:ext cx="0" cy="0"/>
          <a:chOff x="0" y="0"/>
          <a:chExt cx="0" cy="0"/>
        </a:xfrm>
      </p:grpSpPr>
      <p:sp>
        <p:nvSpPr>
          <p:cNvPr id="3" name="Text 0"/>
          <p:cNvSpPr/>
          <p:nvPr>
            <p:ph idx="101" type="body" hasCustomPrompt="1"/>
          </p:nvPr>
        </p:nvSpPr>
        <p:spPr>
          <a:xfrm>
            <a:off x="548640" y="1188720"/>
            <a:ext cx="7315200" cy="274320"/>
          </a:xfrm>
          <a:prstGeom prst="rect">
            <a:avLst/>
          </a:prstGeom>
          <a:noFill/>
          <a:ln/>
        </p:spPr>
        <p:txBody>
          <a:bodyPr wrap="square" lIns="0" tIns="0" rIns="0" bIns="0" rtlCol="0" anchor="t"/>
          <a:lstStyle/>
          <a:p>
            <a:pPr indent="0" marL="0">
              <a:buNone/>
            </a:pPr>
            <a:r>
              <a:rPr lang="en-US" sz="1000" spc="-30" kern="0" dirty="0">
                <a:solidFill>
                  <a:srgbClr val="707981"/>
                </a:solidFill>
              </a:rPr>
              <a:t>VORLAGE  ·  FARBEN</a:t>
            </a:r>
            <a:endParaRPr lang="en-US" sz="1000" dirty="0"/>
          </a:p>
        </p:txBody>
      </p:sp>
      <p:sp>
        <p:nvSpPr>
          <p:cNvPr id="4" name="Text 0"/>
          <p:cNvSpPr/>
          <p:nvPr>
            <p:ph idx="102" type="title" hasCustomPrompt="1"/>
          </p:nvPr>
        </p:nvSpPr>
        <p:spPr>
          <a:xfrm>
            <a:off x="548640" y="1481328"/>
            <a:ext cx="10058400" cy="868680"/>
          </a:xfrm>
          <a:prstGeom prst="rect">
            <a:avLst/>
          </a:prstGeom>
          <a:noFill/>
          <a:ln/>
        </p:spPr>
        <p:txBody>
          <a:bodyPr wrap="square" lIns="0" tIns="0" rIns="0" bIns="0" rtlCol="0" anchor="t"/>
          <a:lstStyle/>
          <a:p>
            <a:pPr algn="l" indent="0" marL="0">
              <a:lnSpc>
                <a:spcPct val="95000"/>
              </a:lnSpc>
              <a:buNone/>
            </a:pPr>
            <a:r>
              <a:rPr lang="en-US" sz="3400" spc="-68" kern="0" dirty="0">
                <a:solidFill>
                  <a:srgbClr val="111418"/>
                </a:solidFill>
              </a:rPr>
              <a:t>Welche Farbe wann</a:t>
            </a:r>
            <a:endParaRPr lang="en-US" sz="3400" dirty="0"/>
          </a:p>
        </p:txBody>
      </p:sp>
      <p:sp>
        <p:nvSpPr>
          <p:cNvPr id="5" name="Regel Grund"/>
          <p:cNvSpPr txBox="1"/>
          <p:nvPr/>
        </p:nvSpPr>
        <p:spPr>
          <a:xfrm>
            <a:off x="548640" y="2560320"/>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Grund</a:t>
            </a:r>
            <a:endParaRPr lang="en-US" sz="1200" dirty="0"/>
          </a:p>
          <a:p>
            <a:pPr indent="0" marL="0">
              <a:lnSpc>
                <a:spcPct val="120000"/>
              </a:lnSpc>
              <a:buNone/>
            </a:pPr>
            <a:r>
              <a:rPr lang="en-US" sz="1000" dirty="0">
                <a:solidFill>
                  <a:srgbClr val="707981"/>
                </a:solidFill>
              </a:rPr>
              <a:t>Pro Folie eine Grundfarbe. Weiss für Unterlagen zum Lesen und Drucken, Mint für Präsentationen am Bildschirm, Dark für Titel, Kapitel, Zitat und Schluss. Innerhalb einer Präsentation nicht zwischen Weiss und Mint wechseln.</a:t>
            </a:r>
            <a:endParaRPr lang="en-US" sz="1200" dirty="0"/>
          </a:p>
        </p:txBody>
      </p:sp>
      <p:sp>
        <p:nvSpPr>
          <p:cNvPr id="6" name="Linie Regel 1"/>
          <p:cNvSpPr/>
          <p:nvPr/>
        </p:nvSpPr>
        <p:spPr>
          <a:xfrm>
            <a:off x="548640" y="3456432"/>
            <a:ext cx="5135728" cy="0"/>
          </a:xfrm>
          <a:prstGeom prst="line">
            <a:avLst/>
          </a:prstGeom>
          <a:noFill/>
          <a:ln w="6350">
            <a:solidFill>
              <a:srgbClr val="A0A1A3"/>
            </a:solidFill>
            <a:prstDash val="solid"/>
          </a:ln>
        </p:spPr>
      </p:sp>
      <p:sp>
        <p:nvSpPr>
          <p:cNvPr id="7" name="Regel Anteile"/>
          <p:cNvSpPr txBox="1"/>
          <p:nvPr/>
        </p:nvSpPr>
        <p:spPr>
          <a:xfrm>
            <a:off x="6141568" y="2560320"/>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Anteile</a:t>
            </a:r>
            <a:endParaRPr lang="en-US" sz="1200" dirty="0"/>
          </a:p>
          <a:p>
            <a:pPr indent="0" marL="0">
              <a:lnSpc>
                <a:spcPct val="120000"/>
              </a:lnSpc>
              <a:buNone/>
            </a:pPr>
            <a:r>
              <a:rPr lang="en-US" sz="1000" dirty="0">
                <a:solidFill>
                  <a:srgbClr val="707981"/>
                </a:solidFill>
              </a:rPr>
              <a:t>Grundfarbe rund 70 %, Text und Grau 25 %, Signal Green höchstens 5 %.</a:t>
            </a:r>
            <a:endParaRPr lang="en-US" sz="1200" dirty="0"/>
          </a:p>
        </p:txBody>
      </p:sp>
      <p:sp>
        <p:nvSpPr>
          <p:cNvPr id="8" name="Linie Regel 2"/>
          <p:cNvSpPr/>
          <p:nvPr/>
        </p:nvSpPr>
        <p:spPr>
          <a:xfrm>
            <a:off x="6141568" y="3456432"/>
            <a:ext cx="5135728" cy="0"/>
          </a:xfrm>
          <a:prstGeom prst="line">
            <a:avLst/>
          </a:prstGeom>
          <a:noFill/>
          <a:ln w="6350">
            <a:solidFill>
              <a:srgbClr val="A0A1A3"/>
            </a:solidFill>
            <a:prstDash val="solid"/>
          </a:ln>
        </p:spPr>
      </p:sp>
      <p:sp>
        <p:nvSpPr>
          <p:cNvPr id="9" name="Regel Signal Green"/>
          <p:cNvSpPr txBox="1"/>
          <p:nvPr/>
        </p:nvSpPr>
        <p:spPr>
          <a:xfrm>
            <a:off x="548640" y="3547872"/>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Signal Green</a:t>
            </a:r>
            <a:endParaRPr lang="en-US" sz="1200" dirty="0"/>
          </a:p>
          <a:p>
            <a:pPr indent="0" marL="0">
              <a:lnSpc>
                <a:spcPct val="120000"/>
              </a:lnSpc>
              <a:buNone/>
            </a:pPr>
            <a:r>
              <a:rPr lang="en-US" sz="1000" dirty="0">
                <a:solidFill>
                  <a:srgbClr val="707981"/>
                </a:solidFill>
              </a:rPr>
              <a:t>Nur als Akzent: aktiver Zustand, eine Kennzahl, Heute-Linie, Buttons, Links, Label «Empfohlen», Reihe «Neu» im Diagramm, IdeeRoth-Balken im Terminplan. Nie für Fliesstext, nie als Fläche hinter Text.</a:t>
            </a:r>
            <a:endParaRPr lang="en-US" sz="1200" dirty="0"/>
          </a:p>
        </p:txBody>
      </p:sp>
      <p:sp>
        <p:nvSpPr>
          <p:cNvPr id="10" name="Linie Regel 3"/>
          <p:cNvSpPr/>
          <p:nvPr/>
        </p:nvSpPr>
        <p:spPr>
          <a:xfrm>
            <a:off x="548640" y="4443984"/>
            <a:ext cx="5135728" cy="0"/>
          </a:xfrm>
          <a:prstGeom prst="line">
            <a:avLst/>
          </a:prstGeom>
          <a:noFill/>
          <a:ln w="6350">
            <a:solidFill>
              <a:srgbClr val="A0A1A3"/>
            </a:solidFill>
            <a:prstDash val="solid"/>
          </a:ln>
        </p:spPr>
      </p:sp>
      <p:sp>
        <p:nvSpPr>
          <p:cNvPr id="11" name="Regel Fresh Mint"/>
          <p:cNvSpPr txBox="1"/>
          <p:nvPr/>
        </p:nvSpPr>
        <p:spPr>
          <a:xfrm>
            <a:off x="6141568" y="3547872"/>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Fresh Mint</a:t>
            </a:r>
            <a:endParaRPr lang="en-US" sz="1200" dirty="0"/>
          </a:p>
          <a:p>
            <a:pPr indent="0" marL="0">
              <a:lnSpc>
                <a:spcPct val="120000"/>
              </a:lnSpc>
              <a:buNone/>
            </a:pPr>
            <a:r>
              <a:rPr lang="en-US" sz="1000" dirty="0">
                <a:solidFill>
                  <a:srgbClr val="707981"/>
                </a:solidFill>
              </a:rPr>
              <a:t>Fläche hinter einer Hervorhebung, Links und Hover auf Dark, helle Terminbalken, Label «Freigegeben».</a:t>
            </a:r>
            <a:endParaRPr lang="en-US" sz="1200" dirty="0"/>
          </a:p>
        </p:txBody>
      </p:sp>
      <p:sp>
        <p:nvSpPr>
          <p:cNvPr id="12" name="Linie Regel 4"/>
          <p:cNvSpPr/>
          <p:nvPr/>
        </p:nvSpPr>
        <p:spPr>
          <a:xfrm>
            <a:off x="6141568" y="4443984"/>
            <a:ext cx="5135728" cy="0"/>
          </a:xfrm>
          <a:prstGeom prst="line">
            <a:avLst/>
          </a:prstGeom>
          <a:noFill/>
          <a:ln w="6350">
            <a:solidFill>
              <a:srgbClr val="A0A1A3"/>
            </a:solidFill>
            <a:prstDash val="solid"/>
          </a:ln>
        </p:spPr>
      </p:sp>
      <p:sp>
        <p:nvSpPr>
          <p:cNvPr id="13" name="Regel Linien"/>
          <p:cNvSpPr txBox="1"/>
          <p:nvPr/>
        </p:nvSpPr>
        <p:spPr>
          <a:xfrm>
            <a:off x="548640" y="4535424"/>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Linien</a:t>
            </a:r>
            <a:endParaRPr lang="en-US" sz="1200" dirty="0"/>
          </a:p>
          <a:p>
            <a:pPr indent="0" marL="0">
              <a:lnSpc>
                <a:spcPct val="120000"/>
              </a:lnSpc>
              <a:buNone/>
            </a:pPr>
            <a:r>
              <a:rPr lang="en-US" sz="1000" dirty="0">
                <a:solidFill>
                  <a:srgbClr val="707981"/>
                </a:solidFill>
              </a:rPr>
              <a:t>Textfarbe mit 40 % Deckkraft: #A0A1A3 auf Weiss, #91A19B auf Mint, #707274 (Weiss) auf Dark. 0.5 pt durchgezogen, wie die Linie im Hero der Website.</a:t>
            </a:r>
            <a:endParaRPr lang="en-US" sz="1200" dirty="0"/>
          </a:p>
        </p:txBody>
      </p:sp>
      <p:sp>
        <p:nvSpPr>
          <p:cNvPr id="14" name="Linie Regel 5"/>
          <p:cNvSpPr/>
          <p:nvPr/>
        </p:nvSpPr>
        <p:spPr>
          <a:xfrm>
            <a:off x="548640" y="5431536"/>
            <a:ext cx="5135728" cy="0"/>
          </a:xfrm>
          <a:prstGeom prst="line">
            <a:avLst/>
          </a:prstGeom>
          <a:noFill/>
          <a:ln w="6350">
            <a:solidFill>
              <a:srgbClr val="A0A1A3"/>
            </a:solidFill>
            <a:prstDash val="solid"/>
          </a:ln>
        </p:spPr>
      </p:sp>
      <p:sp>
        <p:nvSpPr>
          <p:cNvPr id="15" name="Regel Ampel"/>
          <p:cNvSpPr txBox="1"/>
          <p:nvPr/>
        </p:nvSpPr>
        <p:spPr>
          <a:xfrm>
            <a:off x="6141568" y="4535424"/>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Ampel</a:t>
            </a:r>
            <a:endParaRPr lang="en-US" sz="1200" dirty="0"/>
          </a:p>
          <a:p>
            <a:pPr indent="0" marL="0">
              <a:lnSpc>
                <a:spcPct val="120000"/>
              </a:lnSpc>
              <a:buNone/>
            </a:pPr>
            <a:r>
              <a:rPr lang="en-US" sz="1000" dirty="0">
                <a:solidFill>
                  <a:srgbClr val="707981"/>
                </a:solidFill>
              </a:rPr>
              <a:t>Rot, Orange und Grün nur für Freigabe-Labels: Rot = Achtung, Verbot, vertraulich; Orange = in Prüfung, vorläufig; Grün = freigegeben. Nie für Diagramme oder Text, sonst verliert die Ampel ihre Bedeutung.</a:t>
            </a:r>
            <a:endParaRPr lang="en-US" sz="1200" dirty="0"/>
          </a:p>
        </p:txBody>
      </p:sp>
      <p:sp>
        <p:nvSpPr>
          <p:cNvPr id="16" name="Linie Regel 6"/>
          <p:cNvSpPr/>
          <p:nvPr/>
        </p:nvSpPr>
        <p:spPr>
          <a:xfrm>
            <a:off x="6141568" y="5431536"/>
            <a:ext cx="5135728" cy="0"/>
          </a:xfrm>
          <a:prstGeom prst="line">
            <a:avLst/>
          </a:prstGeom>
          <a:noFill/>
          <a:ln w="6350">
            <a:solidFill>
              <a:srgbClr val="A0A1A3"/>
            </a:solidFill>
            <a:prstDash val="solid"/>
          </a:ln>
        </p:spPr>
      </p:sp>
      <p:sp>
        <p:nvSpPr>
          <p:cNvPr id="17" name="Regel Druck"/>
          <p:cNvSpPr txBox="1"/>
          <p:nvPr/>
        </p:nvSpPr>
        <p:spPr>
          <a:xfrm>
            <a:off x="548640" y="5522976"/>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Druck</a:t>
            </a:r>
            <a:endParaRPr lang="en-US" sz="1200" dirty="0"/>
          </a:p>
          <a:p>
            <a:pPr indent="0" marL="0">
              <a:lnSpc>
                <a:spcPct val="120000"/>
              </a:lnSpc>
              <a:buNone/>
            </a:pPr>
            <a:r>
              <a:rPr lang="en-US" sz="1000" dirty="0">
                <a:solidFill>
                  <a:srgbClr val="707981"/>
                </a:solidFill>
              </a:rPr>
              <a:t>CMYK ist die Standard-Umrechnung ohne Farbprofil. Signal Green liegt ausserhalb des Druckfarbraums und wird matter; Druckwerte einmal mit der Druckerei festlegen.</a:t>
            </a:r>
            <a:endParaRPr lang="en-US" sz="1200" dirty="0"/>
          </a:p>
        </p:txBody>
      </p:sp>
      <p:sp>
        <p:nvSpPr>
          <p:cNvPr id="18" name="Regel PowerPoint"/>
          <p:cNvSpPr txBox="1"/>
          <p:nvPr/>
        </p:nvSpPr>
        <p:spPr>
          <a:xfrm>
            <a:off x="6141568" y="5522976"/>
            <a:ext cx="5135728" cy="822960"/>
          </a:xfrm>
          <a:prstGeom prst="rect">
            <a:avLst/>
          </a:prstGeom>
          <a:noFill/>
          <a:ln/>
        </p:spPr>
        <p:txBody>
          <a:bodyPr wrap="square" lIns="0" tIns="0" rIns="0" bIns="0" rtlCol="0" anchor="t"/>
          <a:lstStyle/>
          <a:p>
            <a:pPr indent="0" marL="0">
              <a:lnSpc>
                <a:spcPct val="120000"/>
              </a:lnSpc>
              <a:buNone/>
            </a:pPr>
            <a:r>
              <a:rPr lang="en-US" sz="1200" dirty="0">
                <a:solidFill>
                  <a:srgbClr val="111418"/>
                </a:solidFill>
              </a:rPr>
              <a:t>PowerPoint</a:t>
            </a:r>
            <a:endParaRPr lang="en-US" sz="1200" dirty="0"/>
          </a:p>
          <a:p>
            <a:pPr indent="0" marL="0">
              <a:lnSpc>
                <a:spcPct val="120000"/>
              </a:lnSpc>
              <a:buNone/>
            </a:pPr>
            <a:r>
              <a:rPr lang="en-US" sz="1000" dirty="0">
                <a:solidFill>
                  <a:srgbClr val="707981"/>
                </a:solidFill>
              </a:rPr>
              <a:t>Marken- und Statusfarben liegen als Designfarben im Farbwähler bereit, Abstufungen entstehen automatisch.</a:t>
            </a:r>
            <a:endParaRPr lang="en-US" sz="1200" dirty="0"/>
          </a:p>
        </p:txBody>
      </p:sp>
      <p:sp>
        <p:nvSpPr>
          <p:cNvPr id="19" name="Slide Number Placeholder 0"/>
          <p:cNvSpPr>
            <a:spLocks noGrp="1"/>
          </p:cNvSpPr>
          <p:nvPr>
            <p:ph type="sldNum" sz="quarter" idx="4294967295"/>
          </p:nvPr>
        </p:nvSpPr>
        <p:spPr>
          <a:xfrm>
            <a:off x="11368735" y="6309360"/>
            <a:ext cx="731520" cy="256032"/>
          </a:xfrm>
          <a:prstGeom prst="rect">
            <a:avLst/>
          </a:prstGeom>
          <a:extLst>
            <a:ext uri="{C572A759-6A51-4108-AA02-DFA0A04FC94B}">
              <ma14:wrappingTextBoxFlag xmlns:ma14="http://schemas.microsoft.com/office/mac/drawingml/2011/main" val="0"/>
            </a:ext>
          </a:extLst>
        </p:spPr>
        <p:txBody>
          <a:bodyPr/>
          <a:lstStyle>
            <a:lvl1pPr>
              <a:defRPr sz="800">
                <a:solidFill>
                  <a:srgbClr val="707981"/>
                </a:solidFill>
              </a:defRPr>
            </a:lvl1pPr>
          </a:lstStyle>
          <a:p>
            <a:pPr algn="ctr"/>
            <a:fld id="{F7021451-1387-4CA6-816F-3879F97B5CBC}" type="slidenum">
              <a:rPr b="0" lang="en-US"/>
              <a:t>25</a:t>
            </a:fld>
            <a:endParaRPr lang="en-US"/>
          </a:p>
        </p:txBody>
      </p:sp>
      <p:sp>
        <p:nvSpPr>
          <p:cNvPr id="20" name="Fusszeile"/>
          <p:cNvSpPr>
            <a:spLocks noGrp="1"/>
          </p:cNvSpPr>
          <p:nvPr>
            <p:ph type="ftr" sz="quarter" idx="11"/>
          </p:nvPr>
        </p:nvSpPr>
        <p:spPr/>
        <p:txBody>
          <a:bodyPr/>
          <a:lstStyle/>
          <a:p>
            <a:r>
              <a:rPr lang="de-CH" dirty="0"/>
              <a:t>IDEEROTH AG  ·  KUNDENPRÄSENTATION  ·  15. OKTOBER 2026</a:t>
            </a:r>
          </a:p>
        </p:txBody>
      </p:sp>
    </p:spTree>
  </p:cSld>
  <p:clrMapOvr>
    <a:masterClrMapping/>
  </p:clrMapOvr>
</p:sld>
</file>

<file path=ppt/theme/theme1.xml><?xml version="1.0" encoding="utf-8"?>
<a:theme xmlns:a="http://schemas.openxmlformats.org/drawingml/2006/main" name="IdeeRoth">
  <a:themeElements>
    <a:clrScheme name="IdeeRoth">
      <a:dk1>
        <a:srgbClr val="111418"/>
      </a:dk1>
      <a:lt1>
        <a:srgbClr val="E7FFF2"/>
      </a:lt1>
      <a:dk2>
        <a:srgbClr val="707981"/>
      </a:dk2>
      <a:lt2>
        <a:srgbClr val="B7F3D0"/>
      </a:lt2>
      <a:accent1>
        <a:srgbClr val="25C77A"/>
      </a:accent1>
      <a:accent2>
        <a:srgbClr val="B7F3D0"/>
      </a:accent2>
      <a:accent3>
        <a:srgbClr val="707981"/>
      </a:accent3>
      <a:accent4>
        <a:srgbClr val="C4C8CC"/>
      </a:accent4>
      <a:accent5>
        <a:srgbClr val="B8463A"/>
      </a:accent5>
      <a:accent6>
        <a:srgbClr val="E2A33D"/>
      </a:accent6>
      <a:hlink>
        <a:srgbClr val="25C77A"/>
      </a:hlink>
      <a:folHlink>
        <a:srgbClr val="B7F3D0"/>
      </a:folHlink>
    </a:clrScheme>
    <a:fontScheme name="IdeeRot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IdeeRoth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IdeeRoth AG Beispielpräsentation</dc:title>
  <dc:subject>IdeeRoth AG</dc:subject>
  <dc:creator>IdeeRoth AG</dc:creator>
  <cp:lastModifiedBy>IdeeRoth AG</cp:lastModifiedBy>
  <cp:revision>1</cp:revision>
  <dcterms:created xsi:type="dcterms:W3CDTF">2026-10-15T19:58:39Z</dcterms:created>
  <dcterms:modified xsi:type="dcterms:W3CDTF">2026-10-15T19:58:39Z</dcterms:modified>
</cp:coreProperties>
</file>