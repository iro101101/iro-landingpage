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2.xml" ContentType="application/vnd.openxmlformats-officedocument.drawingml.chart+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id="{e649fd7f-6135-1c8c-1322-3ad36ad83b13}">
          <p14:sldIdLst/>
        </p14:section>
        <p14:section name="Default-1" id="{c80db8ef-26e2-701a-23f5-d3c568c87a50}">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Appendix: building blocks and colours" id="{63560d00-0496-7475-aece-0120c1901ef0}">
          <p14:sldIdLst/>
        </p14:section>
        <p14:section name="Default-2" id="{a4ef1453-9ff2-e56d-137f-d72afc11807b}">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As is</c:v>
                </c:pt>
              </c:strCache>
            </c:strRef>
          </c:tx>
          <c:spPr>
            <a:solidFill>
              <a:srgbClr val="C4C8CC"/>
            </a:solidFill>
            <a:effectLst/>
          </c:spPr>
          <c:invertIfNegative val="0"/>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cat>
            <c:multiLvlStrRef>
              <c:f>Sheet1!$A$2:$A$5</c:f>
              <c:multiLvlStrCache>
                <c:ptCount val="4"/>
                <c:lvl>
                  <c:pt idx="0">
                    <c:v>Parts</c:v>
                  </c:pt>
                  <c:pt idx="1">
                    <c:v>Assembly steps</c:v>
                  </c:pt>
                  <c:pt idx="2">
                    <c:v>Suppliers</c:v>
                  </c:pt>
                  <c:pt idx="3">
                    <c:v>Tools</c:v>
                  </c:pt>
                </c:lvl>
              </c:multiLvlStrCache>
            </c:multiLvlStrRef>
          </c:cat>
          <c:val>
            <c:numRef>
              <c:f>Sheet1!$B$2:$B$5</c:f>
              <c:numCache>
                <c:formatCode>General</c:formatCode>
                <c:ptCount val="4"/>
                <c:pt idx="0">
                  <c:v>48</c:v>
                </c:pt>
                <c:pt idx="1">
                  <c:v>31</c:v>
                </c:pt>
                <c:pt idx="2">
                  <c:v>9</c:v>
                </c:pt>
                <c:pt idx="3">
                  <c:v>14</c:v>
                </c:pt>
              </c:numCache>
            </c:numRef>
          </c:val>
        </c:ser>
        <c:ser>
          <c:idx val="1"/>
          <c:order val="1"/>
          <c:tx>
            <c:strRef>
              <c:f>Sheet1!$C$1</c:f>
              <c:strCache>
                <c:ptCount val="1"/>
                <c:pt idx="0">
                  <c:v>New</c:v>
                </c:pt>
              </c:strCache>
            </c:strRef>
          </c:tx>
          <c:spPr>
            <a:solidFill>
              <a:srgbClr val="25C77A"/>
            </a:solidFill>
            <a:effectLst/>
          </c:spPr>
          <c:invertIfNegative val="0"/>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cat>
            <c:multiLvlStrRef>
              <c:f>Sheet1!$A$2:$A$5</c:f>
              <c:multiLvlStrCache>
                <c:ptCount val="4"/>
                <c:lvl>
                  <c:pt idx="0">
                    <c:v>Parts</c:v>
                  </c:pt>
                  <c:pt idx="1">
                    <c:v>Assembly steps</c:v>
                  </c:pt>
                  <c:pt idx="2">
                    <c:v>Suppliers</c:v>
                  </c:pt>
                  <c:pt idx="3">
                    <c:v>Tools</c:v>
                  </c:pt>
                </c:lvl>
              </c:multiLvlStrCache>
            </c:multiLvlStrRef>
          </c:cat>
          <c:val>
            <c:numRef>
              <c:f>Sheet1!$C$2:$C$5</c:f>
              <c:numCache>
                <c:formatCode>General</c:formatCode>
                <c:ptCount val="4"/>
                <c:pt idx="0">
                  <c:v>30</c:v>
                </c:pt>
                <c:pt idx="1">
                  <c:v>17</c:v>
                </c:pt>
                <c:pt idx="2">
                  <c:v>5</c:v>
                </c:pt>
                <c:pt idx="3">
                  <c:v>8</c:v>
                </c:pt>
              </c:numCache>
            </c:numRef>
          </c:val>
        </c:ser>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11418"/>
                </a:solidFill>
                <a:latin typeface="+mn-lt"/>
              </a:defRPr>
            </a:pPr>
            <a:endParaRPr lang="en-US"/>
          </a:p>
        </c:txPr>
        <c:crossAx val="2094734552"/>
        <c:crosses val="autoZero"/>
        <c:auto val="1"/>
        <c:lblAlgn val="ctr"/>
        <c:noMultiLvlLbl val="1"/>
      </c:catAx>
      <c:valAx>
        <c:axId val="2094734552"/>
        <c:scaling>
          <c:orientation val="minMax"/>
          <c:max val="60"/>
        </c:scaling>
        <c:delete val="0"/>
        <c:axPos val="l"/>
        <c:majorGridlines>
          <c:spPr>
            <a:ln w="6350" cap="flat">
              <a:solidFill>
                <a:srgbClr val="A0A1A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07981"/>
                </a:solidFill>
                <a:latin typeface="+mn-lt"/>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1000">
              <a:solidFill>
                <a:srgbClr val="111418"/>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figures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photo into the placeholder and keep the veil (black rectangle, 45 % transparent)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made of shapes: move or stretch bars, edit labels, copy a row. For another year copy the slide and adjust the month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Bilingual A: second language as a muted sub-line. For mixed audiences with little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blocks to copy. This slide is hidden in the template and is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concept. CMYK is the standard conversion without a colour profile; agree print values with the printer. This slide is hidden in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rules. This slide is hidden in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26-1.png"/><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27-1.png"/><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30-1.png"/><Relationship Id="rId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31-1.png"/><Relationship Id="rId2"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 · 01 Titel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2331720"/>
            <a:ext cx="100584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2651760"/>
            <a:ext cx="10515600" cy="1828800"/>
          </a:xfrm>
          <a:prstGeom prst="rect">
            <a:avLst/>
          </a:prstGeom>
          <a:noFill/>
          <a:ln/>
        </p:spPr>
        <p:txBody>
          <a:bodyPr wrap="square" rtlCol="0"/>
          <a:lstStyle>
            <a:lvl1pPr algn="l" indent="0" marL="0">
              <a:lnSpc>
                <a:spcPct val="95000"/>
              </a:lnSpc>
              <a:buNone/>
              <a:defRPr lang="en-US" sz="6000" spc="-120" kern="0" dirty="0">
                <a:solidFill>
                  <a:srgbClr val="E7FFF2"/>
                </a:solidFill>
              </a:defRPr>
            </a:lvl1pPr>
          </a:lstStyle>
          <a:p>
            <a:pPr algn="l" indent="0" marL="0">
              <a:lnSpc>
                <a:spcPct val="95000"/>
              </a:lnSpc>
              <a:buNone/>
            </a:pPr>
            <a:r>
              <a:rPr lang="en-US" sz="6000" spc="-120" kern="0" dirty="0">
                <a:solidFill>
                  <a:srgbClr val="E7FFF2"/>
                </a:solidFill>
              </a:rPr>
              <a:t>Titel</a:t>
            </a:r>
            <a:endParaRPr lang="en-US" sz="6000" dirty="0"/>
          </a:p>
        </p:txBody>
      </p:sp>
      <p:sp>
        <p:nvSpPr>
          <p:cNvPr id="6" name="Text 0"/>
          <p:cNvSpPr/>
          <p:nvPr>
            <p:ph idx="103" type="body" hasCustomPrompt="1"/>
          </p:nvPr>
        </p:nvSpPr>
        <p:spPr>
          <a:xfrm>
            <a:off x="548640" y="4572000"/>
            <a:ext cx="8229600" cy="731520"/>
          </a:xfrm>
          <a:prstGeom prst="rect">
            <a:avLst/>
          </a:prstGeom>
          <a:noFill/>
          <a:ln/>
        </p:spPr>
        <p:txBody>
          <a:bodyPr wrap="square" rtlCol="0"/>
          <a:lstStyle>
            <a:lvl1pPr indent="0" marL="0">
              <a:lnSpc>
                <a:spcPct val="120000"/>
              </a:lnSpc>
              <a:buNone/>
              <a:defRPr lang="en-US" sz="1800" dirty="0">
                <a:solidFill>
                  <a:srgbClr val="E7FFF2"/>
                </a:solidFill>
              </a:defRPr>
            </a:lvl1pPr>
          </a:lstStyle>
          <a:p>
            <a:pPr indent="0" marL="0">
              <a:lnSpc>
                <a:spcPct val="120000"/>
              </a:lnSpc>
              <a:buNone/>
            </a:pPr>
            <a:r>
              <a:rPr lang="en-US" sz="1800" dirty="0">
                <a:solidFill>
                  <a:srgbClr val="E7FFF2"/>
                </a:solidFill>
              </a:rPr>
              <a:t>Untertitel</a:t>
            </a:r>
            <a:endParaRPr lang="en-US" sz="18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 · 02 Kapitel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1691640"/>
            <a:ext cx="10515600" cy="2926080"/>
          </a:xfrm>
          <a:prstGeom prst="rect">
            <a:avLst/>
          </a:prstGeom>
          <a:noFill/>
          <a:ln/>
        </p:spPr>
        <p:txBody>
          <a:bodyPr wrap="square" rtlCol="0"/>
          <a:lstStyle>
            <a:lvl1pPr algn="l" indent="0" marL="0">
              <a:lnSpc>
                <a:spcPct val="95000"/>
              </a:lnSpc>
              <a:buNone/>
              <a:defRPr lang="en-US" sz="8400" spc="-168" kern="0" dirty="0">
                <a:solidFill>
                  <a:srgbClr val="E7FFF2"/>
                </a:solidFill>
              </a:defRPr>
            </a:lvl1pPr>
          </a:lstStyle>
          <a:p>
            <a:pPr algn="l" indent="0" marL="0">
              <a:lnSpc>
                <a:spcPct val="95000"/>
              </a:lnSpc>
              <a:buNone/>
            </a:pPr>
            <a:r>
              <a:rPr lang="en-US" sz="8400" spc="-168" kern="0" dirty="0">
                <a:solidFill>
                  <a:srgbClr val="E7FFF2"/>
                </a:solidFill>
              </a:rPr>
              <a:t>Kapitel</a:t>
            </a:r>
            <a:endParaRPr lang="en-US" sz="8400" dirty="0"/>
          </a:p>
        </p:txBody>
      </p:sp>
      <p:sp>
        <p:nvSpPr>
          <p:cNvPr id="6" name="Text 0"/>
          <p:cNvSpPr/>
          <p:nvPr>
            <p:ph idx="103" type="body" hasCustomPrompt="1"/>
          </p:nvPr>
        </p:nvSpPr>
        <p:spPr>
          <a:xfrm>
            <a:off x="6400800" y="4892040"/>
            <a:ext cx="4876495" cy="1188720"/>
          </a:xfrm>
          <a:prstGeom prst="rect">
            <a:avLst/>
          </a:prstGeom>
          <a:noFill/>
          <a:ln/>
        </p:spPr>
        <p:txBody>
          <a:bodyPr wrap="square" rtlCol="0"/>
          <a:lstStyle>
            <a:lvl1pPr indent="0" marL="0">
              <a:lnSpc>
                <a:spcPct val="120000"/>
              </a:lnSpc>
              <a:buNone/>
              <a:defRPr lang="en-US" sz="1400" dirty="0">
                <a:solidFill>
                  <a:srgbClr val="A0A1A3"/>
                </a:solidFill>
              </a:defRPr>
            </a:lvl1pPr>
          </a:lstStyle>
          <a:p>
            <a:pPr indent="0" marL="0">
              <a:lnSpc>
                <a:spcPct val="120000"/>
              </a:lnSpc>
              <a:buNone/>
            </a:pPr>
            <a:r>
              <a:rPr lang="en-US" sz="1400" dirty="0">
                <a:solidFill>
                  <a:srgbClr val="A0A1A3"/>
                </a:solidFill>
              </a:rPr>
              <a:t>Kurztext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 · 03 Zitat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73736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2103120"/>
            <a:ext cx="10332720" cy="237744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Aussage</a:t>
            </a:r>
            <a:endParaRPr lang="en-US" sz="4400" dirty="0"/>
          </a:p>
        </p:txBody>
      </p:sp>
      <p:sp>
        <p:nvSpPr>
          <p:cNvPr id="6" name="Text 0"/>
          <p:cNvSpPr/>
          <p:nvPr>
            <p:ph idx="103" type="body" hasCustomPrompt="1"/>
          </p:nvPr>
        </p:nvSpPr>
        <p:spPr>
          <a:xfrm>
            <a:off x="548640" y="4754880"/>
            <a:ext cx="7315200" cy="365760"/>
          </a:xfrm>
          <a:prstGeom prst="rect">
            <a:avLst/>
          </a:prstGeom>
          <a:noFill/>
          <a:ln/>
        </p:spPr>
        <p:txBody>
          <a:bodyPr wrap="square" rtlCol="0"/>
          <a:lstStyle>
            <a:lvl1pPr indent="0" marL="0">
              <a:buNone/>
              <a:defRPr lang="en-US" sz="1200" dirty="0">
                <a:solidFill>
                  <a:srgbClr val="A0A1A3"/>
                </a:solidFill>
              </a:defRPr>
            </a:lvl1pPr>
          </a:lstStyle>
          <a:p>
            <a:pPr indent="0" marL="0">
              <a:buNone/>
            </a:pPr>
            <a:r>
              <a:rPr lang="en-US" sz="1200" dirty="0">
                <a:solidFill>
                  <a:srgbClr val="A0A1A3"/>
                </a:solidFill>
              </a:rPr>
              <a:t>Quelle</a:t>
            </a:r>
            <a:endParaRPr lang="en-US" sz="12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 · 04 Kontakt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title" hasCustomPrompt="1"/>
          </p:nvPr>
        </p:nvSpPr>
        <p:spPr>
          <a:xfrm>
            <a:off x="548640" y="1481328"/>
            <a:ext cx="10332720" cy="109728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Sprechen wir über Ihr Projekt.</a:t>
            </a:r>
            <a:endParaRPr lang="en-US" sz="4400" dirty="0"/>
          </a:p>
        </p:txBody>
      </p:sp>
      <p:sp>
        <p:nvSpPr>
          <p:cNvPr id="5"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 · 05 Foto vollflächig">
    <p:bg>
      <p:bgPr>
        <a:solidFill>
          <a:srgbClr val="111418"/>
        </a:solidFill>
      </p:bgPr>
    </p:bg>
    <p:spTree>
      <p:nvGrpSpPr>
        <p:cNvPr id="2" name=""/>
        <p:cNvGrpSpPr/>
        <p:nvPr/>
      </p:nvGrpSpPr>
      <p:grpSpPr>
        <a:xfrm>
          <a:off x="0" y="0"/>
          <a:ext cx="0" cy="0"/>
          <a:chOff x="0" y="0"/>
          <a:chExt cx="0" cy="0"/>
        </a:xfrm>
      </p:grpSpPr>
      <p:sp>
        <p:nvSpPr>
          <p:cNvPr id="3" name="Text 0"/>
          <p:cNvSpPr/>
          <p:nvPr>
            <p:ph idx="100" hasCustomPrompt="1"/>
          </p:nvPr>
        </p:nvSpPr>
        <p:spPr>
          <a:xfrm>
            <a:off x="0" y="0"/>
            <a:ext cx="12191695" cy="6858000"/>
          </a:xfrm>
          <a:prstGeom prst="rect">
            <a:avLst/>
          </a:prstGeom>
          <a:noFill/>
          <a:ln/>
        </p:spPr>
        <p:txBody>
          <a:bodyPr wrap="square" rtlCol="0"/>
          <a:lstStyle>
            <a:lvl1pPr indent="0" marL="0">
              <a:buNone/>
              <a:defRPr lang="en-US" sz="1400" dirty="0">
                <a:solidFill>
                  <a:srgbClr val="E7FFF2"/>
                </a:solidFill>
              </a:defRPr>
            </a:lvl1pPr>
          </a:lstStyle>
          <a:p>
            <a:pPr indent="0" marL="0">
              <a:buNone/>
            </a:pPr>
            <a:r>
              <a:rPr lang="en-US" sz="1400" dirty="0">
                <a:solidFill>
                  <a:srgbClr val="E7FFF2"/>
                </a:solidFill>
              </a:rPr>
              <a:t>Foto</a:t>
            </a:r>
            <a:endParaRPr lang="en-US" sz="1400" dirty="0"/>
          </a:p>
        </p:txBody>
      </p:sp>
      <p:sp>
        <p:nvSpPr>
          <p:cNvPr id="4" name="Text 0"/>
          <p:cNvSpPr/>
          <p:nvPr>
            <p:ph idx="101" type="title" hasCustomPrompt="1"/>
          </p:nvPr>
        </p:nvSpPr>
        <p:spPr>
          <a:xfrm>
            <a:off x="548640" y="4572000"/>
            <a:ext cx="8686800" cy="118872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Titel auf dem Foto</a:t>
            </a:r>
            <a:endParaRPr lang="en-US" sz="4400" dirty="0"/>
          </a:p>
        </p:txBody>
      </p:sp>
      <p:sp>
        <p:nvSpPr>
          <p:cNvPr id="5" name="Text 0"/>
          <p:cNvSpPr/>
          <p:nvPr>
            <p:ph idx="102" type="body" hasCustomPrompt="1"/>
          </p:nvPr>
        </p:nvSpPr>
        <p:spPr>
          <a:xfrm>
            <a:off x="548640" y="5897880"/>
            <a:ext cx="8229600" cy="274320"/>
          </a:xfrm>
          <a:prstGeom prst="rect">
            <a:avLst/>
          </a:prstGeom>
          <a:noFill/>
          <a:ln/>
        </p:spPr>
        <p:txBody>
          <a:bodyPr wrap="square" rtlCol="0"/>
          <a:lstStyle>
            <a:lvl1pPr indent="0" marL="0">
              <a:buNone/>
              <a:defRPr lang="en-US" sz="1000" spc="-30" kern="0" dirty="0">
                <a:solidFill>
                  <a:srgbClr val="B7F3D0"/>
                </a:solidFill>
              </a:defRPr>
            </a:lvl1pPr>
          </a:lstStyle>
          <a:p>
            <a:pPr indent="0" marL="0">
              <a:buNone/>
            </a:pPr>
            <a:r>
              <a:rPr lang="en-US" sz="1000" spc="-30" kern="0" dirty="0">
                <a:solidFill>
                  <a:srgbClr val="B7F3D0"/>
                </a:solidFill>
              </a:rPr>
              <a:t>BILDLEGENDE</a:t>
            </a:r>
            <a:endParaRPr lang="en-US" sz="10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 · 06 Tex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 · 07 Text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 · 08 Text und Foto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Foto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 · 09 Text und Foto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Foto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 · 10 Inhal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 · 11 Inhalt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 · 12 Inhalt vertraulich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VERTRAULICH</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SCHUTZVERMERK ISO 16016 BEACHTEN</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 · 13 Inhalt vertraulich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VERTRAULICH</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SCHUTZVERMERK ISO 16016 BEACHTEN</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 · 14 Leer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 · 15 Leer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 · 16 Leer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N · 01 Title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2331720"/>
            <a:ext cx="100584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2651760"/>
            <a:ext cx="10515600" cy="1828800"/>
          </a:xfrm>
          <a:prstGeom prst="rect">
            <a:avLst/>
          </a:prstGeom>
          <a:noFill/>
          <a:ln/>
        </p:spPr>
        <p:txBody>
          <a:bodyPr wrap="square" rtlCol="0"/>
          <a:lstStyle>
            <a:lvl1pPr algn="l" indent="0" marL="0">
              <a:lnSpc>
                <a:spcPct val="95000"/>
              </a:lnSpc>
              <a:buNone/>
              <a:defRPr lang="en-US" sz="6000" spc="-120" kern="0" dirty="0">
                <a:solidFill>
                  <a:srgbClr val="E7FFF2"/>
                </a:solidFill>
              </a:defRPr>
            </a:lvl1pPr>
          </a:lstStyle>
          <a:p>
            <a:pPr algn="l" indent="0" marL="0">
              <a:lnSpc>
                <a:spcPct val="95000"/>
              </a:lnSpc>
              <a:buNone/>
            </a:pPr>
            <a:r>
              <a:rPr lang="en-US" sz="6000" spc="-120" kern="0" dirty="0">
                <a:solidFill>
                  <a:srgbClr val="E7FFF2"/>
                </a:solidFill>
              </a:rPr>
              <a:t>Title</a:t>
            </a:r>
            <a:endParaRPr lang="en-US" sz="6000" dirty="0"/>
          </a:p>
        </p:txBody>
      </p:sp>
      <p:sp>
        <p:nvSpPr>
          <p:cNvPr id="6" name="Text 0"/>
          <p:cNvSpPr/>
          <p:nvPr>
            <p:ph idx="103" type="body" hasCustomPrompt="1"/>
          </p:nvPr>
        </p:nvSpPr>
        <p:spPr>
          <a:xfrm>
            <a:off x="548640" y="4572000"/>
            <a:ext cx="8229600" cy="731520"/>
          </a:xfrm>
          <a:prstGeom prst="rect">
            <a:avLst/>
          </a:prstGeom>
          <a:noFill/>
          <a:ln/>
        </p:spPr>
        <p:txBody>
          <a:bodyPr wrap="square" rtlCol="0"/>
          <a:lstStyle>
            <a:lvl1pPr indent="0" marL="0">
              <a:lnSpc>
                <a:spcPct val="120000"/>
              </a:lnSpc>
              <a:buNone/>
              <a:defRPr lang="en-US" sz="1800" dirty="0">
                <a:solidFill>
                  <a:srgbClr val="E7FFF2"/>
                </a:solidFill>
              </a:defRPr>
            </a:lvl1pPr>
          </a:lstStyle>
          <a:p>
            <a:pPr indent="0" marL="0">
              <a:lnSpc>
                <a:spcPct val="120000"/>
              </a:lnSpc>
              <a:buNone/>
            </a:pPr>
            <a:r>
              <a:rPr lang="en-US" sz="1800" dirty="0">
                <a:solidFill>
                  <a:srgbClr val="E7FFF2"/>
                </a:solidFill>
              </a:rPr>
              <a:t>Subtitle</a:t>
            </a:r>
            <a:endParaRPr lang="en-US" sz="18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N · 02 Chapter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1691640"/>
            <a:ext cx="10515600" cy="2926080"/>
          </a:xfrm>
          <a:prstGeom prst="rect">
            <a:avLst/>
          </a:prstGeom>
          <a:noFill/>
          <a:ln/>
        </p:spPr>
        <p:txBody>
          <a:bodyPr wrap="square" rtlCol="0"/>
          <a:lstStyle>
            <a:lvl1pPr algn="l" indent="0" marL="0">
              <a:lnSpc>
                <a:spcPct val="95000"/>
              </a:lnSpc>
              <a:buNone/>
              <a:defRPr lang="en-US" sz="8400" spc="-168" kern="0" dirty="0">
                <a:solidFill>
                  <a:srgbClr val="E7FFF2"/>
                </a:solidFill>
              </a:defRPr>
            </a:lvl1pPr>
          </a:lstStyle>
          <a:p>
            <a:pPr algn="l" indent="0" marL="0">
              <a:lnSpc>
                <a:spcPct val="95000"/>
              </a:lnSpc>
              <a:buNone/>
            </a:pPr>
            <a:r>
              <a:rPr lang="en-US" sz="8400" spc="-168" kern="0" dirty="0">
                <a:solidFill>
                  <a:srgbClr val="E7FFF2"/>
                </a:solidFill>
              </a:rPr>
              <a:t>Chapter</a:t>
            </a:r>
            <a:endParaRPr lang="en-US" sz="8400" dirty="0"/>
          </a:p>
        </p:txBody>
      </p:sp>
      <p:sp>
        <p:nvSpPr>
          <p:cNvPr id="6" name="Text 0"/>
          <p:cNvSpPr/>
          <p:nvPr>
            <p:ph idx="103" type="body" hasCustomPrompt="1"/>
          </p:nvPr>
        </p:nvSpPr>
        <p:spPr>
          <a:xfrm>
            <a:off x="6400800" y="4892040"/>
            <a:ext cx="4876495" cy="1188720"/>
          </a:xfrm>
          <a:prstGeom prst="rect">
            <a:avLst/>
          </a:prstGeom>
          <a:noFill/>
          <a:ln/>
        </p:spPr>
        <p:txBody>
          <a:bodyPr wrap="square" rtlCol="0"/>
          <a:lstStyle>
            <a:lvl1pPr indent="0" marL="0">
              <a:lnSpc>
                <a:spcPct val="120000"/>
              </a:lnSpc>
              <a:buNone/>
              <a:defRPr lang="en-US" sz="1400" dirty="0">
                <a:solidFill>
                  <a:srgbClr val="A0A1A3"/>
                </a:solidFill>
              </a:defRPr>
            </a:lvl1pPr>
          </a:lstStyle>
          <a:p>
            <a:pPr indent="0" marL="0">
              <a:lnSpc>
                <a:spcPct val="120000"/>
              </a:lnSpc>
              <a:buNone/>
            </a:pPr>
            <a:r>
              <a:rPr lang="en-US" sz="1400" dirty="0">
                <a:solidFill>
                  <a:srgbClr val="A0A1A3"/>
                </a:solidFill>
              </a:rPr>
              <a:t>Short 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N · 03 Quote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73736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2103120"/>
            <a:ext cx="10332720" cy="237744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Statement</a:t>
            </a:r>
            <a:endParaRPr lang="en-US" sz="4400" dirty="0"/>
          </a:p>
        </p:txBody>
      </p:sp>
      <p:sp>
        <p:nvSpPr>
          <p:cNvPr id="6" name="Text 0"/>
          <p:cNvSpPr/>
          <p:nvPr>
            <p:ph idx="103" type="body" hasCustomPrompt="1"/>
          </p:nvPr>
        </p:nvSpPr>
        <p:spPr>
          <a:xfrm>
            <a:off x="548640" y="4754880"/>
            <a:ext cx="7315200" cy="365760"/>
          </a:xfrm>
          <a:prstGeom prst="rect">
            <a:avLst/>
          </a:prstGeom>
          <a:noFill/>
          <a:ln/>
        </p:spPr>
        <p:txBody>
          <a:bodyPr wrap="square" rtlCol="0"/>
          <a:lstStyle>
            <a:lvl1pPr indent="0" marL="0">
              <a:buNone/>
              <a:defRPr lang="en-US" sz="1200" dirty="0">
                <a:solidFill>
                  <a:srgbClr val="A0A1A3"/>
                </a:solidFill>
              </a:defRPr>
            </a:lvl1pPr>
          </a:lstStyle>
          <a:p>
            <a:pPr indent="0" marL="0">
              <a:buNone/>
            </a:pPr>
            <a:r>
              <a:rPr lang="en-US" sz="1200" dirty="0">
                <a:solidFill>
                  <a:srgbClr val="A0A1A3"/>
                </a:solidFill>
              </a:rPr>
              <a:t>Source</a:t>
            </a:r>
            <a:endParaRPr lang="en-US" sz="12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N · 04 Contact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title" hasCustomPrompt="1"/>
          </p:nvPr>
        </p:nvSpPr>
        <p:spPr>
          <a:xfrm>
            <a:off x="548640" y="1481328"/>
            <a:ext cx="10332720" cy="109728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Let us talk about your project.</a:t>
            </a:r>
            <a:endParaRPr lang="en-US" sz="4400" dirty="0"/>
          </a:p>
        </p:txBody>
      </p:sp>
      <p:sp>
        <p:nvSpPr>
          <p:cNvPr id="5"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1021</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N · 05 Full-bleed photo">
    <p:bg>
      <p:bgPr>
        <a:solidFill>
          <a:srgbClr val="111418"/>
        </a:solidFill>
      </p:bgPr>
    </p:bg>
    <p:spTree>
      <p:nvGrpSpPr>
        <p:cNvPr id="2" name=""/>
        <p:cNvGrpSpPr/>
        <p:nvPr/>
      </p:nvGrpSpPr>
      <p:grpSpPr>
        <a:xfrm>
          <a:off x="0" y="0"/>
          <a:ext cx="0" cy="0"/>
          <a:chOff x="0" y="0"/>
          <a:chExt cx="0" cy="0"/>
        </a:xfrm>
      </p:grpSpPr>
      <p:sp>
        <p:nvSpPr>
          <p:cNvPr id="3" name="Text 0"/>
          <p:cNvSpPr/>
          <p:nvPr>
            <p:ph idx="100" hasCustomPrompt="1"/>
          </p:nvPr>
        </p:nvSpPr>
        <p:spPr>
          <a:xfrm>
            <a:off x="0" y="0"/>
            <a:ext cx="12191695" cy="6858000"/>
          </a:xfrm>
          <a:prstGeom prst="rect">
            <a:avLst/>
          </a:prstGeom>
          <a:noFill/>
          <a:ln/>
        </p:spPr>
        <p:txBody>
          <a:bodyPr wrap="square" rtlCol="0"/>
          <a:lstStyle>
            <a:lvl1pPr indent="0" marL="0">
              <a:buNone/>
              <a:defRPr lang="en-US" sz="1400" dirty="0">
                <a:solidFill>
                  <a:srgbClr val="E7FFF2"/>
                </a:solidFill>
              </a:defRPr>
            </a:lvl1pPr>
          </a:lstStyle>
          <a:p>
            <a:pPr indent="0" marL="0">
              <a:buNone/>
            </a:pPr>
            <a:r>
              <a:rPr lang="en-US" sz="1400" dirty="0">
                <a:solidFill>
                  <a:srgbClr val="E7FFF2"/>
                </a:solidFill>
              </a:rPr>
              <a:t>Photo</a:t>
            </a:r>
            <a:endParaRPr lang="en-US" sz="1400" dirty="0"/>
          </a:p>
        </p:txBody>
      </p:sp>
      <p:sp>
        <p:nvSpPr>
          <p:cNvPr id="4" name="Text 0"/>
          <p:cNvSpPr/>
          <p:nvPr>
            <p:ph idx="101" type="title" hasCustomPrompt="1"/>
          </p:nvPr>
        </p:nvSpPr>
        <p:spPr>
          <a:xfrm>
            <a:off x="548640" y="4572000"/>
            <a:ext cx="8686800" cy="118872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Title on the photo</a:t>
            </a:r>
            <a:endParaRPr lang="en-US" sz="4400" dirty="0"/>
          </a:p>
        </p:txBody>
      </p:sp>
      <p:sp>
        <p:nvSpPr>
          <p:cNvPr id="5" name="Text 0"/>
          <p:cNvSpPr/>
          <p:nvPr>
            <p:ph idx="102" type="body" hasCustomPrompt="1"/>
          </p:nvPr>
        </p:nvSpPr>
        <p:spPr>
          <a:xfrm>
            <a:off x="548640" y="5897880"/>
            <a:ext cx="8229600" cy="274320"/>
          </a:xfrm>
          <a:prstGeom prst="rect">
            <a:avLst/>
          </a:prstGeom>
          <a:noFill/>
          <a:ln/>
        </p:spPr>
        <p:txBody>
          <a:bodyPr wrap="square" rtlCol="0"/>
          <a:lstStyle>
            <a:lvl1pPr indent="0" marL="0">
              <a:buNone/>
              <a:defRPr lang="en-US" sz="1000" spc="-30" kern="0" dirty="0">
                <a:solidFill>
                  <a:srgbClr val="B7F3D0"/>
                </a:solidFill>
              </a:defRPr>
            </a:lvl1pPr>
          </a:lstStyle>
          <a:p>
            <a:pPr indent="0" marL="0">
              <a:buNone/>
            </a:pPr>
            <a:r>
              <a:rPr lang="en-US" sz="1000" spc="-30" kern="0" dirty="0">
                <a:solidFill>
                  <a:srgbClr val="B7F3D0"/>
                </a:solidFill>
              </a:rPr>
              <a:t>CAPTION</a:t>
            </a:r>
            <a:endParaRPr lang="en-US" sz="10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N · 06 Tex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 · 07 Text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1024</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N · 08 Text and photo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Photo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1025</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N · 09 Text and photo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Photo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1026</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 · 10 Conten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1027</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N · 11 Content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1028</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 · 12 Content confidential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CONFIDENTIAL</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REFER TO PROTECTION NOTICE ISO 16016</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1029</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 · 13 Content confidential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CONFIDENTIAL</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REFER TO PROTECTION NOTICE ISO 16016</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1030</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EN · 14 Blank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1031</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N · 15 Blank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1032</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 · 16 Blank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1033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null</a:t>
            </a:fld>
            <a:endParaRPr lang="en-US"/>
          </a:p>
        </p:txBody>
      </p:sp>
      <p:sp>
        <p:nvSpPr>
          <p:cNvPr id="4" name="Fusszeile"/>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Fusszeile</a:t>
            </a:r>
            <a:endParaRPr lang="en-US" sz="800" dirty="0"/>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sldNum="1" hdr="0" ftr="1"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1pPr>
      <a:lvl2pPr marL="742950" indent="-28575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27.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7.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8.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27.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image" Target="../media/image-19-6.jpg"/><Relationship Id="rId7" Type="http://schemas.openxmlformats.org/officeDocument/2006/relationships/slideLayout" Target="../slideLayouts/slideLayout28.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27.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slideLayout" Target="../slideLayouts/slideLayout29.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0"/>
          <p:cNvSpPr/>
          <p:nvPr>
            <p:ph idx="101" type="body" hasCustomPrompt="1"/>
          </p:nvPr>
        </p:nvSpPr>
        <p:spPr>
          <a:xfrm>
            <a:off x="548640" y="2331720"/>
            <a:ext cx="10058400" cy="274320"/>
          </a:xfrm>
          <a:prstGeom prst="rect">
            <a:avLst/>
          </a:prstGeom>
          <a:noFill/>
          <a:ln/>
        </p:spPr>
        <p:txBody>
          <a:bodyPr wrap="square" lIns="0" tIns="0" rIns="0" bIns="0" rtlCol="0" anchor="t"/>
          <a:lstStyle/>
          <a:p>
            <a:pPr indent="0" marL="0">
              <a:buNone/>
            </a:pPr>
            <a:r>
              <a:rPr lang="en-US" sz="1000" spc="-30" kern="0" dirty="0">
                <a:solidFill>
                  <a:srgbClr val="A0A1A3"/>
                </a:solidFill>
              </a:rPr>
              <a:t>IDEEROTH AG  ·  PRODUCT DEVELOPMENT FROM SWITZERLAND</a:t>
            </a:r>
            <a:endParaRPr lang="en-US" sz="1000" dirty="0"/>
          </a:p>
        </p:txBody>
      </p:sp>
      <p:sp>
        <p:nvSpPr>
          <p:cNvPr id="4" name="Text 0"/>
          <p:cNvSpPr/>
          <p:nvPr>
            <p:ph idx="102" type="title" hasCustomPrompt="1"/>
          </p:nvPr>
        </p:nvSpPr>
        <p:spPr>
          <a:xfrm>
            <a:off x="548640" y="2651760"/>
            <a:ext cx="10515600" cy="1828800"/>
          </a:xfrm>
          <a:prstGeom prst="rect">
            <a:avLst/>
          </a:prstGeom>
          <a:noFill/>
          <a:ln/>
        </p:spPr>
        <p:txBody>
          <a:bodyPr wrap="square" lIns="0" tIns="0" rIns="0" bIns="0" rtlCol="0" anchor="t"/>
          <a:lstStyle/>
          <a:p>
            <a:pPr algn="l" indent="0" marL="0">
              <a:lnSpc>
                <a:spcPct val="95000"/>
              </a:lnSpc>
              <a:buNone/>
            </a:pPr>
            <a:r>
              <a:rPr lang="en-US" sz="6000" spc="-120" kern="0" dirty="0">
                <a:solidFill>
                  <a:srgbClr val="E7FFF2"/>
                </a:solidFill>
              </a:rPr>
              <a:t>Develop more from less.</a:t>
            </a:r>
            <a:endParaRPr lang="en-US" sz="6000" dirty="0"/>
          </a:p>
        </p:txBody>
      </p:sp>
      <p:sp>
        <p:nvSpPr>
          <p:cNvPr id="5" name="Text 0"/>
          <p:cNvSpPr/>
          <p:nvPr>
            <p:ph idx="103" type="body" hasCustomPrompt="1"/>
          </p:nvPr>
        </p:nvSpPr>
        <p:spPr>
          <a:xfrm>
            <a:off x="548640" y="4572000"/>
            <a:ext cx="8229600" cy="731520"/>
          </a:xfrm>
          <a:prstGeom prst="rect">
            <a:avLst/>
          </a:prstGeom>
          <a:noFill/>
          <a:ln/>
        </p:spPr>
        <p:txBody>
          <a:bodyPr wrap="square" lIns="0" tIns="0" rIns="0" bIns="0" rtlCol="0" anchor="t"/>
          <a:lstStyle/>
          <a:p>
            <a:pPr indent="0" marL="0">
              <a:lnSpc>
                <a:spcPct val="120000"/>
              </a:lnSpc>
              <a:buNone/>
            </a:pPr>
            <a:r>
              <a:rPr lang="en-US" sz="1800" dirty="0">
                <a:solidFill>
                  <a:srgbClr val="E7FFF2"/>
                </a:solidFill>
              </a:rPr>
              <a:t>Customer presentation  ·  Romanshorn, 15 October 2026</a:t>
            </a:r>
            <a:endParaRPr lang="en-US" sz="1800" dirty="0"/>
          </a:p>
        </p:txBody>
      </p:sp>
      <p:sp>
        <p:nvSpPr>
          <p:cNvPr id="6" name="Linie Kennzahlen"/>
          <p:cNvSpPr/>
          <p:nvPr/>
        </p:nvSpPr>
        <p:spPr>
          <a:xfrm>
            <a:off x="548640" y="5669280"/>
            <a:ext cx="10728655" cy="0"/>
          </a:xfrm>
          <a:prstGeom prst="line">
            <a:avLst/>
          </a:prstGeom>
          <a:noFill/>
          <a:ln w="6350">
            <a:solidFill>
              <a:srgbClr val="707274"/>
            </a:solidFill>
            <a:prstDash val="solid"/>
          </a:ln>
        </p:spPr>
      </p:sp>
      <p:sp>
        <p:nvSpPr>
          <p:cNvPr id="7" name="Kennzahl 1"/>
          <p:cNvSpPr txBox="1"/>
          <p:nvPr/>
        </p:nvSpPr>
        <p:spPr>
          <a:xfrm>
            <a:off x="548640" y="5742432"/>
            <a:ext cx="676656" cy="457200"/>
          </a:xfrm>
          <a:prstGeom prst="rect">
            <a:avLst/>
          </a:prstGeom>
          <a:noFill/>
          <a:ln/>
        </p:spPr>
        <p:txBody>
          <a:bodyPr wrap="square" lIns="0" tIns="0" rIns="0" bIns="0" rtlCol="0" anchor="ctr"/>
          <a:lstStyle/>
          <a:p>
            <a:pPr indent="0" marL="0">
              <a:buNone/>
            </a:pPr>
            <a:r>
              <a:rPr lang="en-US" sz="2400" spc="-50" kern="0" dirty="0">
                <a:solidFill>
                  <a:srgbClr val="E7FFF2"/>
                </a:solidFill>
              </a:rPr>
              <a:t>20+</a:t>
            </a:r>
            <a:endParaRPr lang="en-US" sz="2400" dirty="0"/>
          </a:p>
        </p:txBody>
      </p:sp>
      <p:sp>
        <p:nvSpPr>
          <p:cNvPr id="8" name="Eyebrow YEARS OF EXPERIENCE"/>
          <p:cNvSpPr txBox="1"/>
          <p:nvPr/>
        </p:nvSpPr>
        <p:spPr>
          <a:xfrm>
            <a:off x="133502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YEARS OF EXPERIENCE</a:t>
            </a:r>
            <a:endParaRPr lang="en-US" sz="1000" dirty="0"/>
          </a:p>
        </p:txBody>
      </p:sp>
      <p:sp>
        <p:nvSpPr>
          <p:cNvPr id="9" name="Kennzahl 2"/>
          <p:cNvSpPr txBox="1"/>
          <p:nvPr/>
        </p:nvSpPr>
        <p:spPr>
          <a:xfrm>
            <a:off x="3474720" y="5742432"/>
            <a:ext cx="859536" cy="457200"/>
          </a:xfrm>
          <a:prstGeom prst="rect">
            <a:avLst/>
          </a:prstGeom>
          <a:noFill/>
          <a:ln/>
        </p:spPr>
        <p:txBody>
          <a:bodyPr wrap="square" lIns="0" tIns="0" rIns="0" bIns="0" rtlCol="0" anchor="ctr"/>
          <a:lstStyle/>
          <a:p>
            <a:pPr indent="0" marL="0">
              <a:buNone/>
            </a:pPr>
            <a:r>
              <a:rPr lang="en-US" sz="2400" spc="-50" kern="0" dirty="0">
                <a:solidFill>
                  <a:srgbClr val="E7FFF2"/>
                </a:solidFill>
              </a:rPr>
              <a:t>100+</a:t>
            </a:r>
            <a:endParaRPr lang="en-US" sz="2400" dirty="0"/>
          </a:p>
        </p:txBody>
      </p:sp>
      <p:sp>
        <p:nvSpPr>
          <p:cNvPr id="10" name="Eyebrow PROJECTS"/>
          <p:cNvSpPr txBox="1"/>
          <p:nvPr/>
        </p:nvSpPr>
        <p:spPr>
          <a:xfrm>
            <a:off x="444398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PROJECTS</a:t>
            </a:r>
            <a:endParaRPr lang="en-US" sz="1000" dirty="0"/>
          </a:p>
        </p:txBody>
      </p:sp>
      <p:sp>
        <p:nvSpPr>
          <p:cNvPr id="11" name="Kennzahl 3"/>
          <p:cNvSpPr txBox="1"/>
          <p:nvPr/>
        </p:nvSpPr>
        <p:spPr>
          <a:xfrm>
            <a:off x="6400800" y="5742432"/>
            <a:ext cx="310896" cy="457200"/>
          </a:xfrm>
          <a:prstGeom prst="rect">
            <a:avLst/>
          </a:prstGeom>
          <a:noFill/>
          <a:ln/>
        </p:spPr>
        <p:txBody>
          <a:bodyPr wrap="square" lIns="0" tIns="0" rIns="0" bIns="0" rtlCol="0" anchor="ctr"/>
          <a:lstStyle/>
          <a:p>
            <a:pPr indent="0" marL="0">
              <a:buNone/>
            </a:pPr>
            <a:r>
              <a:rPr lang="en-US" sz="2400" spc="-50" kern="0" dirty="0">
                <a:solidFill>
                  <a:srgbClr val="E7FFF2"/>
                </a:solidFill>
              </a:rPr>
              <a:t>5</a:t>
            </a:r>
            <a:endParaRPr lang="en-US" sz="2400" dirty="0"/>
          </a:p>
        </p:txBody>
      </p:sp>
      <p:sp>
        <p:nvSpPr>
          <p:cNvPr id="12" name="Eyebrow SERVICES"/>
          <p:cNvSpPr txBox="1"/>
          <p:nvPr/>
        </p:nvSpPr>
        <p:spPr>
          <a:xfrm>
            <a:off x="682142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SERVICES</a:t>
            </a:r>
            <a:endParaRPr lang="en-US" sz="1000" dirty="0"/>
          </a:p>
        </p:txBody>
      </p:sp>
      <p:sp>
        <p:nvSpPr>
          <p:cNvPr id="13"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a:t>
            </a:fld>
            <a:endParaRPr lang="en-US"/>
          </a:p>
        </p:txBody>
      </p:sp>
      <p:sp>
        <p:nvSpPr>
          <p:cNvPr id="14"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A0A1A3"/>
                </a:solidFill>
              </a:rPr>
              <a:t>02 //  COMPANY</a:t>
            </a:r>
            <a:endParaRPr lang="en-US" sz="1000" dirty="0"/>
          </a:p>
        </p:txBody>
      </p:sp>
      <p:sp>
        <p:nvSpPr>
          <p:cNvPr id="4" name="Text 0"/>
          <p:cNvSpPr/>
          <p:nvPr>
            <p:ph idx="102" type="title" hasCustomPrompt="1"/>
          </p:nvPr>
        </p:nvSpPr>
        <p:spPr>
          <a:xfrm>
            <a:off x="548640" y="1691640"/>
            <a:ext cx="10515600" cy="2926080"/>
          </a:xfrm>
          <a:prstGeom prst="rect">
            <a:avLst/>
          </a:prstGeom>
          <a:noFill/>
          <a:ln/>
        </p:spPr>
        <p:txBody>
          <a:bodyPr wrap="square" lIns="0" tIns="0" rIns="0" bIns="0" rtlCol="0" anchor="t"/>
          <a:lstStyle/>
          <a:p>
            <a:pPr algn="l" indent="0" marL="0">
              <a:lnSpc>
                <a:spcPct val="95000"/>
              </a:lnSpc>
              <a:buNone/>
            </a:pPr>
            <a:r>
              <a:rPr lang="en-US" sz="8400" spc="-168" kern="0" dirty="0">
                <a:solidFill>
                  <a:srgbClr val="E7FFF2"/>
                </a:solidFill>
              </a:rPr>
              <a:t>Swiss engineered.</a:t>
            </a:r>
            <a:endParaRPr lang="en-US" sz="8400" dirty="0"/>
          </a:p>
        </p:txBody>
      </p:sp>
      <p:sp>
        <p:nvSpPr>
          <p:cNvPr id="5" name="Text 0"/>
          <p:cNvSpPr/>
          <p:nvPr>
            <p:ph idx="103" type="body" hasCustomPrompt="1"/>
          </p:nvPr>
        </p:nvSpPr>
        <p:spPr>
          <a:xfrm>
            <a:off x="6400800" y="4892040"/>
            <a:ext cx="4876495" cy="1188720"/>
          </a:xfrm>
          <a:prstGeom prst="rect">
            <a:avLst/>
          </a:prstGeom>
          <a:noFill/>
          <a:ln/>
        </p:spPr>
        <p:txBody>
          <a:bodyPr wrap="square" lIns="0" tIns="0" rIns="0" bIns="0" rtlCol="0" anchor="t"/>
          <a:lstStyle/>
          <a:p>
            <a:pPr indent="0" marL="0">
              <a:lnSpc>
                <a:spcPct val="120000"/>
              </a:lnSpc>
              <a:buNone/>
            </a:pPr>
            <a:r>
              <a:rPr lang="en-US" sz="1400" dirty="0">
                <a:solidFill>
                  <a:srgbClr val="A0A1A3"/>
                </a:solidFill>
              </a:rPr>
              <a:t>Development, design, simulation and prototyping in house. From the first idea to series production.</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2</a:t>
            </a:fld>
            <a:endParaRPr lang="en-US"/>
          </a:p>
        </p:txBody>
      </p:sp>
      <p:sp>
        <p:nvSpPr>
          <p:cNvPr id="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COMPANY</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we do</a:t>
            </a:r>
            <a:endParaRPr lang="en-US" sz="3400" dirty="0"/>
          </a:p>
        </p:txBody>
      </p:sp>
      <p:sp>
        <p:nvSpPr>
          <p:cNvPr id="5"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From the first idea to series production: engineering, simulation, development and prototyping under one roof.</a:t>
            </a:r>
            <a:endParaRPr lang="en-US" sz="1400" dirty="0"/>
          </a:p>
          <a:p>
            <a:pPr indent="0" marL="0">
              <a:lnSpc>
                <a:spcPct val="120000"/>
              </a:lnSpc>
              <a:spcAft>
                <a:spcPts val="1000"/>
              </a:spcAft>
              <a:buNone/>
            </a:pPr>
            <a:r>
              <a:rPr lang="en-US" sz="1400" dirty="0">
                <a:solidFill>
                  <a:srgbClr val="111418"/>
                </a:solidFill>
              </a:rPr>
              <a:t>Our team supports customers in product development and so improves their competitiveness. We value: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An independent and neutral perspective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Targeted implementation and results</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A strong technological and business network</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Industry-specific application expertise</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3</a:t>
            </a:fld>
            <a:endParaRPr lang="en-US"/>
          </a:p>
        </p:txBody>
      </p:sp>
      <p:sp>
        <p:nvSpPr>
          <p:cNvPr id="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COMPANY</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we do</a:t>
            </a:r>
            <a:endParaRPr lang="en-US" sz="3400" dirty="0"/>
          </a:p>
        </p:txBody>
      </p:sp>
      <p:sp>
        <p:nvSpPr>
          <p:cNvPr id="5"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From the first idea to series production: engineering, simulation, development and prototyping under one roof.</a:t>
            </a:r>
            <a:endParaRPr lang="en-US" sz="1400" dirty="0"/>
          </a:p>
          <a:p>
            <a:pPr indent="0" marL="0">
              <a:lnSpc>
                <a:spcPct val="120000"/>
              </a:lnSpc>
              <a:spcAft>
                <a:spcPts val="1000"/>
              </a:spcAft>
              <a:buNone/>
            </a:pPr>
            <a:r>
              <a:rPr lang="en-US" sz="1400" dirty="0">
                <a:solidFill>
                  <a:srgbClr val="111418"/>
                </a:solidFill>
              </a:rPr>
              <a:t>Our team supports customers in product development and so improves their competitiveness. We value: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An independent and neutral perspective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Targeted implementation and results</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A strong technological and business network</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Industry-specific application expertise</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4</a:t>
            </a:fld>
            <a:endParaRPr lang="en-US"/>
          </a:p>
        </p:txBody>
      </p:sp>
      <p:sp>
        <p:nvSpPr>
          <p:cNvPr id="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EXPERTISE</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Design with 3D CAD</a:t>
            </a:r>
            <a:endParaRPr lang="en-US" sz="3400" dirty="0"/>
          </a:p>
        </p:txBody>
      </p:sp>
      <p:sp>
        <p:nvSpPr>
          <p:cNvPr id="5" name="Text 0"/>
          <p:cNvSpPr/>
          <p:nvPr>
            <p:ph idx="103" type="body" hasCustomPrompt="1"/>
          </p:nvPr>
        </p:nvSpPr>
        <p:spPr>
          <a:xfrm>
            <a:off x="548640" y="2606040"/>
            <a:ext cx="502920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We design assemblies, fixtures and devices so that they can be manufactured economically.</a:t>
            </a:r>
            <a:endParaRPr lang="en-US" sz="1400" dirty="0"/>
          </a:p>
          <a:p>
            <a:pPr indent="0" marL="0">
              <a:lnSpc>
                <a:spcPct val="120000"/>
              </a:lnSpc>
              <a:spcAft>
                <a:spcPts val="1000"/>
              </a:spcAft>
              <a:buNone/>
            </a:pPr>
            <a:r>
              <a:rPr lang="en-US" sz="1400" dirty="0">
                <a:solidFill>
                  <a:srgbClr val="111418"/>
                </a:solidFill>
              </a:rPr>
              <a:t>Every decision is checked in the model before it costs money: tolerances, assembly, choice of material and suitability for series production.</a:t>
            </a:r>
            <a:endParaRPr lang="en-US" sz="1400" dirty="0"/>
          </a:p>
          <a:p>
            <a:pPr indent="0" marL="0">
              <a:lnSpc>
                <a:spcPct val="120000"/>
              </a:lnSpc>
              <a:spcAft>
                <a:spcPts val="800"/>
              </a:spcAft>
              <a:buNone/>
            </a:pPr>
            <a:r>
              <a:rPr lang="en-US" sz="1400" dirty="0">
                <a:solidFill>
                  <a:srgbClr val="111418"/>
                </a:solidFill>
              </a:rPr>
              <a:t>The result: fewer parts, shorter paths and products that last.</a:t>
            </a:r>
            <a:endParaRPr lang="en-US" sz="1400" dirty="0"/>
          </a:p>
        </p:txBody>
      </p:sp>
      <p:pic>
        <p:nvPicPr>
          <p:cNvPr id="6" name="Foto Konstruktion" descr="p11">    </p:cNvPr>
          <p:cNvPicPr>
            <a:picLocks noChangeAspect="1"/>
          </p:cNvPicPr>
          <p:nvPr>
            <p:ph idx="104" hasCustomPrompt="1"/>
          </p:nvPr>
        </p:nvPicPr>
        <p:blipFill>
          <a:blip r:embed="rId1"/>
          <a:srcRect l="0" r="0" t="0" b="0"/>
          <a:stretch/>
        </p:blipFill>
        <p:spPr>
          <a:xfrm>
            <a:off x="6309360" y="2606040"/>
            <a:ext cx="4967935" cy="3429000"/>
          </a:xfrm>
          <a:prstGeom prst="rect">
            <a:avLst/>
          </a:prstGeom>
        </p:spPr>
      </p:pic>
      <p:sp>
        <p:nvSpPr>
          <p:cNvPr id="7" name="Eckmarker 1"/>
          <p:cNvSpPr/>
          <p:nvPr/>
        </p:nvSpPr>
        <p:spPr>
          <a:xfrm>
            <a:off x="6217920" y="2514600"/>
            <a:ext cx="73152" cy="73152"/>
          </a:xfrm>
          <a:prstGeom prst="ellipse">
            <a:avLst/>
          </a:prstGeom>
          <a:solidFill>
            <a:srgbClr val="111418"/>
          </a:solidFill>
          <a:ln w="12700">
            <a:solidFill>
              <a:srgbClr val="111418"/>
            </a:solidFill>
            <a:prstDash val="solid"/>
          </a:ln>
        </p:spPr>
      </p:sp>
      <p:sp>
        <p:nvSpPr>
          <p:cNvPr id="8"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9" name="Eckmarker 3"/>
          <p:cNvSpPr/>
          <p:nvPr/>
        </p:nvSpPr>
        <p:spPr>
          <a:xfrm>
            <a:off x="6217920" y="6053328"/>
            <a:ext cx="73152" cy="73152"/>
          </a:xfrm>
          <a:prstGeom prst="ellipse">
            <a:avLst/>
          </a:prstGeom>
          <a:solidFill>
            <a:srgbClr val="111418"/>
          </a:solidFill>
          <a:ln w="12700">
            <a:solidFill>
              <a:srgbClr val="111418"/>
            </a:solidFill>
            <a:prstDash val="solid"/>
          </a:ln>
        </p:spPr>
      </p:sp>
      <p:sp>
        <p:nvSpPr>
          <p:cNvPr id="10" name="Eckmarker 4"/>
          <p:cNvSpPr/>
          <p:nvPr/>
        </p:nvSpPr>
        <p:spPr>
          <a:xfrm>
            <a:off x="11295583" y="6053328"/>
            <a:ext cx="73152" cy="73152"/>
          </a:xfrm>
          <a:prstGeom prst="ellipse">
            <a:avLst/>
          </a:prstGeom>
          <a:solidFill>
            <a:srgbClr val="111418"/>
          </a:solidFill>
          <a:ln w="12700">
            <a:solidFill>
              <a:srgbClr val="111418"/>
            </a:solidFill>
            <a:prstDash val="solid"/>
          </a:ln>
        </p:spPr>
      </p:sp>
      <p:sp>
        <p:nvSpPr>
          <p:cNvPr id="1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5</a:t>
            </a:fld>
            <a:endParaRPr lang="en-US"/>
          </a:p>
        </p:txBody>
      </p:sp>
      <p:sp>
        <p:nvSpPr>
          <p:cNvPr id="12"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pic>
        <p:nvPicPr>
          <p:cNvPr id="3" name="Foto vollflächig" descr="p07">    </p:cNvPr>
          <p:cNvPicPr>
            <a:picLocks noChangeAspect="1"/>
          </p:cNvPicPr>
          <p:nvPr>
            <p:ph idx="100" hasCustomPrompt="1"/>
          </p:nvPr>
        </p:nvPicPr>
        <p:blipFill>
          <a:blip r:embed="rId1"/>
          <a:srcRect l="0" r="0" t="0" b="0"/>
          <a:stretch/>
        </p:blipFill>
        <p:spPr>
          <a:xfrm>
            <a:off x="0" y="0"/>
            <a:ext cx="12191695" cy="6858000"/>
          </a:xfrm>
          <a:prstGeom prst="rect">
            <a:avLst/>
          </a:prstGeom>
        </p:spPr>
      </p:pic>
      <p:sp>
        <p:nvSpPr>
          <p:cNvPr id="4" name="Schleier"/>
          <p:cNvSpPr/>
          <p:nvPr/>
        </p:nvSpPr>
        <p:spPr>
          <a:xfrm>
            <a:off x="0" y="0"/>
            <a:ext cx="12191695" cy="6858000"/>
          </a:xfrm>
          <a:prstGeom prst="rect">
            <a:avLst/>
          </a:prstGeom>
          <a:solidFill>
            <a:srgbClr val="111418">
              <a:alpha val="55000"/>
            </a:srgbClr>
          </a:solidFill>
          <a:ln w="12700">
            <a:solidFill>
              <a:srgbClr val="111418"/>
            </a:solidFill>
            <a:prstDash val="solid"/>
          </a:ln>
        </p:spPr>
      </p:sp>
      <p:pic>
        <p:nvPicPr>
          <p:cNvPr id="5" name="Logo" descr="mark-mint">    </p:cNvPr>
          <p:cNvPicPr>
            <a:picLocks noChangeAspect="1"/>
          </p:cNvPicPr>
          <p:nvPr/>
        </p:nvPicPr>
        <p:blipFill>
          <a:blip r:embed="rId2"/>
          <a:stretch>
            <a:fillRect/>
          </a:stretch>
        </p:blipFill>
        <p:spPr>
          <a:xfrm>
            <a:off x="548640" y="438912"/>
            <a:ext cx="868680" cy="312725"/>
          </a:xfrm>
          <a:prstGeom prst="rect">
            <a:avLst/>
          </a:prstGeom>
        </p:spPr>
      </p:pic>
      <p:sp>
        <p:nvSpPr>
          <p:cNvPr id="6" name="Linie wie im Hero"/>
          <p:cNvSpPr/>
          <p:nvPr/>
        </p:nvSpPr>
        <p:spPr>
          <a:xfrm>
            <a:off x="548640" y="4343400"/>
            <a:ext cx="10728655" cy="0"/>
          </a:xfrm>
          <a:prstGeom prst="line">
            <a:avLst/>
          </a:prstGeom>
          <a:noFill/>
          <a:ln w="6350">
            <a:solidFill>
              <a:srgbClr val="707274"/>
            </a:solidFill>
            <a:prstDash val="solid"/>
          </a:ln>
        </p:spPr>
      </p:sp>
      <p:sp>
        <p:nvSpPr>
          <p:cNvPr id="7" name="Text 0"/>
          <p:cNvSpPr/>
          <p:nvPr>
            <p:ph idx="101" type="title" hasCustomPrompt="1"/>
          </p:nvPr>
        </p:nvSpPr>
        <p:spPr>
          <a:xfrm>
            <a:off x="548640" y="4572000"/>
            <a:ext cx="8686800" cy="118872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From the first idea. To series production.</a:t>
            </a:r>
            <a:endParaRPr lang="en-US" sz="4400" dirty="0"/>
          </a:p>
        </p:txBody>
      </p:sp>
      <p:sp>
        <p:nvSpPr>
          <p:cNvPr id="8" name="Text 0"/>
          <p:cNvSpPr/>
          <p:nvPr>
            <p:ph idx="102" type="body" hasCustomPrompt="1"/>
          </p:nvPr>
        </p:nvSpPr>
        <p:spPr>
          <a:xfrm>
            <a:off x="548640" y="5897880"/>
            <a:ext cx="8229600" cy="274320"/>
          </a:xfrm>
          <a:prstGeom prst="rect">
            <a:avLst/>
          </a:prstGeom>
          <a:noFill/>
          <a:ln/>
        </p:spPr>
        <p:txBody>
          <a:bodyPr wrap="square" lIns="0" tIns="0" rIns="0" bIns="0" rtlCol="0" anchor="t"/>
          <a:lstStyle/>
          <a:p>
            <a:pPr indent="0" marL="0">
              <a:buNone/>
            </a:pPr>
            <a:r>
              <a:rPr lang="en-US" sz="1000" spc="-30" kern="0" dirty="0">
                <a:solidFill>
                  <a:srgbClr val="B7F3D0"/>
                </a:solidFill>
              </a:rPr>
              <a:t>VIEW FROM THE OFFICE ONTO THE TERRACE</a:t>
            </a:r>
            <a:endParaRPr lang="en-US" sz="10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6</a:t>
            </a:fld>
            <a:endParaRPr lang="en-US"/>
          </a:p>
        </p:txBody>
      </p:sp>
      <p:sp>
        <p:nvSpPr>
          <p:cNvPr id="1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EXPERTISE</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Expertise under one roof</a:t>
            </a:r>
            <a:endParaRPr lang="en-US" sz="3400" dirty="0"/>
          </a:p>
        </p:txBody>
      </p:sp>
      <p:pic>
        <p:nvPicPr>
          <p:cNvPr id="5" name="Karte Ideation" descr="p09">    </p:cNvPr>
          <p:cNvPicPr>
            <a:picLocks noChangeAspect="1"/>
          </p:cNvPicPr>
          <p:nvPr/>
        </p:nvPicPr>
        <p:blipFill>
          <a:blip r:embed="rId1"/>
          <a:srcRect l="0" r="0" t="0" b="0"/>
          <a:stretch/>
        </p:blipFill>
        <p:spPr>
          <a:xfrm>
            <a:off x="548640" y="2651760"/>
            <a:ext cx="3301898" cy="2011680"/>
          </a:xfrm>
          <a:prstGeom prst="rect">
            <a:avLst/>
          </a:prstGeom>
        </p:spPr>
      </p:pic>
      <p:sp>
        <p:nvSpPr>
          <p:cNvPr id="6" name="Eckmarker 1"/>
          <p:cNvSpPr/>
          <p:nvPr/>
        </p:nvSpPr>
        <p:spPr>
          <a:xfrm>
            <a:off x="457200" y="256032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6032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468172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4681728"/>
            <a:ext cx="73152" cy="73152"/>
          </a:xfrm>
          <a:prstGeom prst="ellipse">
            <a:avLst/>
          </a:prstGeom>
          <a:solidFill>
            <a:srgbClr val="111418"/>
          </a:solidFill>
          <a:ln w="12700">
            <a:solidFill>
              <a:srgbClr val="111418"/>
            </a:solidFill>
            <a:prstDash val="solid"/>
          </a:ln>
        </p:spPr>
      </p:sp>
      <p:sp>
        <p:nvSpPr>
          <p:cNvPr id="10" name="Eyebrow 01 //  IDEATION"/>
          <p:cNvSpPr txBox="1"/>
          <p:nvPr/>
        </p:nvSpPr>
        <p:spPr>
          <a:xfrm>
            <a:off x="548640"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IDEATION</a:t>
            </a:r>
            <a:endParaRPr lang="en-US" sz="1000" dirty="0"/>
          </a:p>
        </p:txBody>
      </p:sp>
      <p:sp>
        <p:nvSpPr>
          <p:cNvPr id="11" name="Kartentitel Ideation"/>
          <p:cNvSpPr txBox="1"/>
          <p:nvPr/>
        </p:nvSpPr>
        <p:spPr>
          <a:xfrm>
            <a:off x="548640"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Ideation</a:t>
            </a:r>
            <a:endParaRPr lang="en-US" sz="2000" dirty="0"/>
          </a:p>
        </p:txBody>
      </p:sp>
      <p:sp>
        <p:nvSpPr>
          <p:cNvPr id="12" name="Kartentext Ideation"/>
          <p:cNvSpPr txBox="1"/>
          <p:nvPr/>
        </p:nvSpPr>
        <p:spPr>
          <a:xfrm>
            <a:off x="548640"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Sharpen ideas, assess variants, find the simplest solution.</a:t>
            </a:r>
            <a:endParaRPr lang="en-US" sz="1100" dirty="0"/>
          </a:p>
        </p:txBody>
      </p:sp>
      <p:pic>
        <p:nvPicPr>
          <p:cNvPr id="13" name="Karte Development" descr="p11">    </p:cNvPr>
          <p:cNvPicPr>
            <a:picLocks noChangeAspect="1"/>
          </p:cNvPicPr>
          <p:nvPr/>
        </p:nvPicPr>
        <p:blipFill>
          <a:blip r:embed="rId2"/>
          <a:srcRect l="0" r="0" t="0" b="0"/>
          <a:stretch/>
        </p:blipFill>
        <p:spPr>
          <a:xfrm>
            <a:off x="4262018" y="2651760"/>
            <a:ext cx="3301898" cy="2011680"/>
          </a:xfrm>
          <a:prstGeom prst="rect">
            <a:avLst/>
          </a:prstGeom>
        </p:spPr>
      </p:pic>
      <p:sp>
        <p:nvSpPr>
          <p:cNvPr id="14" name="Eckmarker 1"/>
          <p:cNvSpPr/>
          <p:nvPr/>
        </p:nvSpPr>
        <p:spPr>
          <a:xfrm>
            <a:off x="4170578" y="2560320"/>
            <a:ext cx="73152" cy="73152"/>
          </a:xfrm>
          <a:prstGeom prst="ellipse">
            <a:avLst/>
          </a:prstGeom>
          <a:solidFill>
            <a:srgbClr val="111418"/>
          </a:solidFill>
          <a:ln w="12700">
            <a:solidFill>
              <a:srgbClr val="111418"/>
            </a:solidFill>
            <a:prstDash val="solid"/>
          </a:ln>
        </p:spPr>
      </p:sp>
      <p:sp>
        <p:nvSpPr>
          <p:cNvPr id="15" name="Eckmarker 2"/>
          <p:cNvSpPr/>
          <p:nvPr/>
        </p:nvSpPr>
        <p:spPr>
          <a:xfrm>
            <a:off x="7582205" y="2560320"/>
            <a:ext cx="73152" cy="73152"/>
          </a:xfrm>
          <a:prstGeom prst="ellipse">
            <a:avLst/>
          </a:prstGeom>
          <a:solidFill>
            <a:srgbClr val="111418"/>
          </a:solidFill>
          <a:ln w="12700">
            <a:solidFill>
              <a:srgbClr val="111418"/>
            </a:solidFill>
            <a:prstDash val="solid"/>
          </a:ln>
        </p:spPr>
      </p:sp>
      <p:sp>
        <p:nvSpPr>
          <p:cNvPr id="16" name="Eckmarker 3"/>
          <p:cNvSpPr/>
          <p:nvPr/>
        </p:nvSpPr>
        <p:spPr>
          <a:xfrm>
            <a:off x="4170578" y="4681728"/>
            <a:ext cx="73152" cy="73152"/>
          </a:xfrm>
          <a:prstGeom prst="ellipse">
            <a:avLst/>
          </a:prstGeom>
          <a:solidFill>
            <a:srgbClr val="111418"/>
          </a:solidFill>
          <a:ln w="12700">
            <a:solidFill>
              <a:srgbClr val="111418"/>
            </a:solidFill>
            <a:prstDash val="solid"/>
          </a:ln>
        </p:spPr>
      </p:sp>
      <p:sp>
        <p:nvSpPr>
          <p:cNvPr id="17" name="Eckmarker 4"/>
          <p:cNvSpPr/>
          <p:nvPr/>
        </p:nvSpPr>
        <p:spPr>
          <a:xfrm>
            <a:off x="7582205" y="4681728"/>
            <a:ext cx="73152" cy="73152"/>
          </a:xfrm>
          <a:prstGeom prst="ellipse">
            <a:avLst/>
          </a:prstGeom>
          <a:solidFill>
            <a:srgbClr val="111418"/>
          </a:solidFill>
          <a:ln w="12700">
            <a:solidFill>
              <a:srgbClr val="111418"/>
            </a:solidFill>
            <a:prstDash val="solid"/>
          </a:ln>
        </p:spPr>
      </p:sp>
      <p:sp>
        <p:nvSpPr>
          <p:cNvPr id="18" name="Eyebrow 02 //  DEVELOPMENT"/>
          <p:cNvSpPr txBox="1"/>
          <p:nvPr/>
        </p:nvSpPr>
        <p:spPr>
          <a:xfrm>
            <a:off x="4262018"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DEVELOPMENT</a:t>
            </a:r>
            <a:endParaRPr lang="en-US" sz="1000" dirty="0"/>
          </a:p>
        </p:txBody>
      </p:sp>
      <p:sp>
        <p:nvSpPr>
          <p:cNvPr id="19" name="Kartentitel Development"/>
          <p:cNvSpPr txBox="1"/>
          <p:nvPr/>
        </p:nvSpPr>
        <p:spPr>
          <a:xfrm>
            <a:off x="4262018"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Development</a:t>
            </a:r>
            <a:endParaRPr lang="en-US" sz="2000" dirty="0"/>
          </a:p>
        </p:txBody>
      </p:sp>
      <p:sp>
        <p:nvSpPr>
          <p:cNvPr id="20" name="Kartentext Development"/>
          <p:cNvSpPr txBox="1"/>
          <p:nvPr/>
        </p:nvSpPr>
        <p:spPr>
          <a:xfrm>
            <a:off x="4262018"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Design with 3D CAD, ready for manufacturing and series production.</a:t>
            </a:r>
            <a:endParaRPr lang="en-US" sz="1100" dirty="0"/>
          </a:p>
        </p:txBody>
      </p:sp>
      <p:pic>
        <p:nvPicPr>
          <p:cNvPr id="21" name="Karte Simulation" descr="p13">    </p:cNvPr>
          <p:cNvPicPr>
            <a:picLocks noChangeAspect="1"/>
          </p:cNvPicPr>
          <p:nvPr/>
        </p:nvPicPr>
        <p:blipFill>
          <a:blip r:embed="rId3"/>
          <a:srcRect l="0" r="0" t="0" b="0"/>
          <a:stretch/>
        </p:blipFill>
        <p:spPr>
          <a:xfrm>
            <a:off x="7975397" y="2651760"/>
            <a:ext cx="3301898" cy="2011680"/>
          </a:xfrm>
          <a:prstGeom prst="rect">
            <a:avLst/>
          </a:prstGeom>
        </p:spPr>
      </p:pic>
      <p:sp>
        <p:nvSpPr>
          <p:cNvPr id="22" name="Eckmarker 1"/>
          <p:cNvSpPr/>
          <p:nvPr/>
        </p:nvSpPr>
        <p:spPr>
          <a:xfrm>
            <a:off x="7883957" y="2560320"/>
            <a:ext cx="73152" cy="73152"/>
          </a:xfrm>
          <a:prstGeom prst="ellipse">
            <a:avLst/>
          </a:prstGeom>
          <a:solidFill>
            <a:srgbClr val="111418"/>
          </a:solidFill>
          <a:ln w="12700">
            <a:solidFill>
              <a:srgbClr val="111418"/>
            </a:solidFill>
            <a:prstDash val="solid"/>
          </a:ln>
        </p:spPr>
      </p:sp>
      <p:sp>
        <p:nvSpPr>
          <p:cNvPr id="23" name="Eckmarker 2"/>
          <p:cNvSpPr/>
          <p:nvPr/>
        </p:nvSpPr>
        <p:spPr>
          <a:xfrm>
            <a:off x="11295583" y="2560320"/>
            <a:ext cx="73152" cy="73152"/>
          </a:xfrm>
          <a:prstGeom prst="ellipse">
            <a:avLst/>
          </a:prstGeom>
          <a:solidFill>
            <a:srgbClr val="111418"/>
          </a:solidFill>
          <a:ln w="12700">
            <a:solidFill>
              <a:srgbClr val="111418"/>
            </a:solidFill>
            <a:prstDash val="solid"/>
          </a:ln>
        </p:spPr>
      </p:sp>
      <p:sp>
        <p:nvSpPr>
          <p:cNvPr id="24" name="Eckmarker 3"/>
          <p:cNvSpPr/>
          <p:nvPr/>
        </p:nvSpPr>
        <p:spPr>
          <a:xfrm>
            <a:off x="7883957" y="4681728"/>
            <a:ext cx="73152" cy="73152"/>
          </a:xfrm>
          <a:prstGeom prst="ellipse">
            <a:avLst/>
          </a:prstGeom>
          <a:solidFill>
            <a:srgbClr val="111418"/>
          </a:solidFill>
          <a:ln w="12700">
            <a:solidFill>
              <a:srgbClr val="111418"/>
            </a:solidFill>
            <a:prstDash val="solid"/>
          </a:ln>
        </p:spPr>
      </p:sp>
      <p:sp>
        <p:nvSpPr>
          <p:cNvPr id="25" name="Eckmarker 4"/>
          <p:cNvSpPr/>
          <p:nvPr/>
        </p:nvSpPr>
        <p:spPr>
          <a:xfrm>
            <a:off x="11295583" y="4681728"/>
            <a:ext cx="73152" cy="73152"/>
          </a:xfrm>
          <a:prstGeom prst="ellipse">
            <a:avLst/>
          </a:prstGeom>
          <a:solidFill>
            <a:srgbClr val="111418"/>
          </a:solidFill>
          <a:ln w="12700">
            <a:solidFill>
              <a:srgbClr val="111418"/>
            </a:solidFill>
            <a:prstDash val="solid"/>
          </a:ln>
        </p:spPr>
      </p:sp>
      <p:sp>
        <p:nvSpPr>
          <p:cNvPr id="26" name="Eyebrow 03 //  SIMULATION"/>
          <p:cNvSpPr txBox="1"/>
          <p:nvPr/>
        </p:nvSpPr>
        <p:spPr>
          <a:xfrm>
            <a:off x="7975397"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SIMULATION</a:t>
            </a:r>
            <a:endParaRPr lang="en-US" sz="1000" dirty="0"/>
          </a:p>
        </p:txBody>
      </p:sp>
      <p:sp>
        <p:nvSpPr>
          <p:cNvPr id="27" name="Kartentitel Simulation"/>
          <p:cNvSpPr txBox="1"/>
          <p:nvPr/>
        </p:nvSpPr>
        <p:spPr>
          <a:xfrm>
            <a:off x="7975397"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Simulation</a:t>
            </a:r>
            <a:endParaRPr lang="en-US" sz="2000" dirty="0"/>
          </a:p>
        </p:txBody>
      </p:sp>
      <p:sp>
        <p:nvSpPr>
          <p:cNvPr id="28" name="Kartentext Simulation"/>
          <p:cNvSpPr txBox="1"/>
          <p:nvPr/>
        </p:nvSpPr>
        <p:spPr>
          <a:xfrm>
            <a:off x="7975397"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Calculate strength and flow before the first part is made.</a:t>
            </a:r>
            <a:endParaRPr lang="en-US" sz="1100" dirty="0"/>
          </a:p>
        </p:txBody>
      </p:sp>
      <p:sp>
        <p:nvSpPr>
          <p:cNvPr id="2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7</a:t>
            </a:fld>
            <a:endParaRPr lang="en-US"/>
          </a:p>
        </p:txBody>
      </p:sp>
      <p:sp>
        <p:nvSpPr>
          <p:cNvPr id="3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SERVICES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How we work</a:t>
            </a:r>
            <a:endParaRPr lang="en-US" sz="3400" dirty="0"/>
          </a:p>
        </p:txBody>
      </p:sp>
      <p:sp>
        <p:nvSpPr>
          <p:cNvPr id="5" name="Schritt Nummer 1"/>
          <p:cNvSpPr txBox="1"/>
          <p:nvPr/>
        </p:nvSpPr>
        <p:spPr>
          <a:xfrm>
            <a:off x="548640" y="2743200"/>
            <a:ext cx="548640" cy="274320"/>
          </a:xfrm>
          <a:prstGeom prst="rect">
            <a:avLst/>
          </a:prstGeom>
          <a:noFill/>
          <a:ln/>
        </p:spPr>
        <p:txBody>
          <a:bodyPr wrap="square" lIns="0" tIns="0" rIns="0" bIns="0" rtlCol="0" anchor="ctr"/>
          <a:lstStyle/>
          <a:p>
            <a:pPr indent="0" marL="0">
              <a:buNone/>
            </a:pPr>
            <a:r>
              <a:rPr lang="en-US" sz="1000" spc="-30" kern="0" dirty="0">
                <a:solidFill>
                  <a:srgbClr val="25C77A"/>
                </a:solidFill>
              </a:rPr>
              <a:t>01</a:t>
            </a:r>
            <a:endParaRPr lang="en-US" sz="1000" dirty="0"/>
          </a:p>
        </p:txBody>
      </p:sp>
      <p:sp>
        <p:nvSpPr>
          <p:cNvPr id="6" name="Schritt 1"/>
          <p:cNvSpPr txBox="1"/>
          <p:nvPr/>
        </p:nvSpPr>
        <p:spPr>
          <a:xfrm>
            <a:off x="1188720" y="2651760"/>
            <a:ext cx="5120640" cy="475488"/>
          </a:xfrm>
          <a:prstGeom prst="rect">
            <a:avLst/>
          </a:prstGeom>
          <a:noFill/>
          <a:ln/>
        </p:spPr>
        <p:txBody>
          <a:bodyPr wrap="square" lIns="0" tIns="0" rIns="0" bIns="0" rtlCol="0" anchor="ctr"/>
          <a:lstStyle/>
          <a:p>
            <a:pPr indent="0" marL="0">
              <a:buNone/>
            </a:pPr>
            <a:r>
              <a:rPr lang="en-US" sz="2800" spc="-50" kern="0" dirty="0">
                <a:solidFill>
                  <a:srgbClr val="111418"/>
                </a:solidFill>
              </a:rPr>
              <a:t>Idea</a:t>
            </a:r>
            <a:endParaRPr lang="en-US" sz="2800" dirty="0"/>
          </a:p>
        </p:txBody>
      </p:sp>
      <p:sp>
        <p:nvSpPr>
          <p:cNvPr id="7" name="Linie Schritt 1"/>
          <p:cNvSpPr/>
          <p:nvPr/>
        </p:nvSpPr>
        <p:spPr>
          <a:xfrm>
            <a:off x="548640" y="3255264"/>
            <a:ext cx="5852160" cy="0"/>
          </a:xfrm>
          <a:prstGeom prst="line">
            <a:avLst/>
          </a:prstGeom>
          <a:noFill/>
          <a:ln w="6350">
            <a:solidFill>
              <a:srgbClr val="91A19B"/>
            </a:solidFill>
            <a:prstDash val="solid"/>
          </a:ln>
        </p:spPr>
      </p:sp>
      <p:sp>
        <p:nvSpPr>
          <p:cNvPr id="8" name="Schritt Nummer 2"/>
          <p:cNvSpPr txBox="1"/>
          <p:nvPr/>
        </p:nvSpPr>
        <p:spPr>
          <a:xfrm>
            <a:off x="548640" y="3438144"/>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02</a:t>
            </a:r>
            <a:endParaRPr lang="en-US" sz="1000" dirty="0"/>
          </a:p>
        </p:txBody>
      </p:sp>
      <p:sp>
        <p:nvSpPr>
          <p:cNvPr id="9" name="Schritt 2"/>
          <p:cNvSpPr txBox="1"/>
          <p:nvPr/>
        </p:nvSpPr>
        <p:spPr>
          <a:xfrm>
            <a:off x="1188720" y="3346704"/>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Concept</a:t>
            </a:r>
            <a:endParaRPr lang="en-US" sz="2800" dirty="0"/>
          </a:p>
        </p:txBody>
      </p:sp>
      <p:sp>
        <p:nvSpPr>
          <p:cNvPr id="10" name="Linie Schritt 2"/>
          <p:cNvSpPr/>
          <p:nvPr/>
        </p:nvSpPr>
        <p:spPr>
          <a:xfrm>
            <a:off x="548640" y="3950208"/>
            <a:ext cx="5852160" cy="0"/>
          </a:xfrm>
          <a:prstGeom prst="line">
            <a:avLst/>
          </a:prstGeom>
          <a:noFill/>
          <a:ln w="6350">
            <a:solidFill>
              <a:srgbClr val="91A19B"/>
            </a:solidFill>
            <a:prstDash val="solid"/>
          </a:ln>
        </p:spPr>
      </p:sp>
      <p:sp>
        <p:nvSpPr>
          <p:cNvPr id="11" name="Schritt Nummer 3"/>
          <p:cNvSpPr txBox="1"/>
          <p:nvPr/>
        </p:nvSpPr>
        <p:spPr>
          <a:xfrm>
            <a:off x="548640" y="4133088"/>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03</a:t>
            </a:r>
            <a:endParaRPr lang="en-US" sz="1000" dirty="0"/>
          </a:p>
        </p:txBody>
      </p:sp>
      <p:sp>
        <p:nvSpPr>
          <p:cNvPr id="12" name="Schritt 3"/>
          <p:cNvSpPr txBox="1"/>
          <p:nvPr/>
        </p:nvSpPr>
        <p:spPr>
          <a:xfrm>
            <a:off x="1188720" y="4041648"/>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Design</a:t>
            </a:r>
            <a:endParaRPr lang="en-US" sz="2800" dirty="0"/>
          </a:p>
        </p:txBody>
      </p:sp>
      <p:sp>
        <p:nvSpPr>
          <p:cNvPr id="13" name="Linie Schritt 3"/>
          <p:cNvSpPr/>
          <p:nvPr/>
        </p:nvSpPr>
        <p:spPr>
          <a:xfrm>
            <a:off x="548640" y="4645152"/>
            <a:ext cx="5852160" cy="0"/>
          </a:xfrm>
          <a:prstGeom prst="line">
            <a:avLst/>
          </a:prstGeom>
          <a:noFill/>
          <a:ln w="6350">
            <a:solidFill>
              <a:srgbClr val="91A19B"/>
            </a:solidFill>
            <a:prstDash val="solid"/>
          </a:ln>
        </p:spPr>
      </p:sp>
      <p:sp>
        <p:nvSpPr>
          <p:cNvPr id="14" name="Schritt Nummer 4"/>
          <p:cNvSpPr txBox="1"/>
          <p:nvPr/>
        </p:nvSpPr>
        <p:spPr>
          <a:xfrm>
            <a:off x="548640" y="4828032"/>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04</a:t>
            </a:r>
            <a:endParaRPr lang="en-US" sz="1000" dirty="0"/>
          </a:p>
        </p:txBody>
      </p:sp>
      <p:sp>
        <p:nvSpPr>
          <p:cNvPr id="15" name="Schritt 4"/>
          <p:cNvSpPr txBox="1"/>
          <p:nvPr/>
        </p:nvSpPr>
        <p:spPr>
          <a:xfrm>
            <a:off x="1188720" y="4736592"/>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Development</a:t>
            </a:r>
            <a:endParaRPr lang="en-US" sz="2800" dirty="0"/>
          </a:p>
        </p:txBody>
      </p:sp>
      <p:sp>
        <p:nvSpPr>
          <p:cNvPr id="16" name="Linie Schritt 4"/>
          <p:cNvSpPr/>
          <p:nvPr/>
        </p:nvSpPr>
        <p:spPr>
          <a:xfrm>
            <a:off x="548640" y="5340096"/>
            <a:ext cx="5852160" cy="0"/>
          </a:xfrm>
          <a:prstGeom prst="line">
            <a:avLst/>
          </a:prstGeom>
          <a:noFill/>
          <a:ln w="6350">
            <a:solidFill>
              <a:srgbClr val="91A19B"/>
            </a:solidFill>
            <a:prstDash val="solid"/>
          </a:ln>
        </p:spPr>
      </p:sp>
      <p:sp>
        <p:nvSpPr>
          <p:cNvPr id="17" name="Schritt Nummer 5"/>
          <p:cNvSpPr txBox="1"/>
          <p:nvPr/>
        </p:nvSpPr>
        <p:spPr>
          <a:xfrm>
            <a:off x="548640" y="5522976"/>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05</a:t>
            </a:r>
            <a:endParaRPr lang="en-US" sz="1000" dirty="0"/>
          </a:p>
        </p:txBody>
      </p:sp>
      <p:sp>
        <p:nvSpPr>
          <p:cNvPr id="18" name="Schritt 5"/>
          <p:cNvSpPr txBox="1"/>
          <p:nvPr/>
        </p:nvSpPr>
        <p:spPr>
          <a:xfrm>
            <a:off x="1188720" y="5431536"/>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Prototype</a:t>
            </a:r>
            <a:endParaRPr lang="en-US" sz="2800" dirty="0"/>
          </a:p>
        </p:txBody>
      </p:sp>
      <p:sp>
        <p:nvSpPr>
          <p:cNvPr id="19" name="Linie Schritt 5"/>
          <p:cNvSpPr/>
          <p:nvPr/>
        </p:nvSpPr>
        <p:spPr>
          <a:xfrm>
            <a:off x="548640" y="6035040"/>
            <a:ext cx="5852160" cy="0"/>
          </a:xfrm>
          <a:prstGeom prst="line">
            <a:avLst/>
          </a:prstGeom>
          <a:noFill/>
          <a:ln w="6350">
            <a:solidFill>
              <a:srgbClr val="91A19B"/>
            </a:solidFill>
            <a:prstDash val="solid"/>
          </a:ln>
        </p:spPr>
      </p:sp>
      <p:pic>
        <p:nvPicPr>
          <p:cNvPr id="20" name="Prozessfoto" descr="p19">    </p:cNvPr>
          <p:cNvPicPr>
            <a:picLocks noChangeAspect="1"/>
          </p:cNvPicPr>
          <p:nvPr/>
        </p:nvPicPr>
        <p:blipFill>
          <a:blip r:embed="rId1"/>
          <a:srcRect l="0" r="0" t="0" b="0"/>
          <a:stretch/>
        </p:blipFill>
        <p:spPr>
          <a:xfrm>
            <a:off x="7315200" y="2651760"/>
            <a:ext cx="3962095" cy="3108960"/>
          </a:xfrm>
          <a:prstGeom prst="rect">
            <a:avLst/>
          </a:prstGeom>
        </p:spPr>
      </p:pic>
      <p:sp>
        <p:nvSpPr>
          <p:cNvPr id="21" name="Eckmarker 1"/>
          <p:cNvSpPr/>
          <p:nvPr/>
        </p:nvSpPr>
        <p:spPr>
          <a:xfrm>
            <a:off x="7223760" y="2560320"/>
            <a:ext cx="73152" cy="73152"/>
          </a:xfrm>
          <a:prstGeom prst="ellipse">
            <a:avLst/>
          </a:prstGeom>
          <a:solidFill>
            <a:srgbClr val="111418"/>
          </a:solidFill>
          <a:ln w="12700">
            <a:solidFill>
              <a:srgbClr val="111418"/>
            </a:solidFill>
            <a:prstDash val="solid"/>
          </a:ln>
        </p:spPr>
      </p:sp>
      <p:sp>
        <p:nvSpPr>
          <p:cNvPr id="22" name="Eckmarker 2"/>
          <p:cNvSpPr/>
          <p:nvPr/>
        </p:nvSpPr>
        <p:spPr>
          <a:xfrm>
            <a:off x="11295583" y="2560320"/>
            <a:ext cx="73152" cy="73152"/>
          </a:xfrm>
          <a:prstGeom prst="ellipse">
            <a:avLst/>
          </a:prstGeom>
          <a:solidFill>
            <a:srgbClr val="111418"/>
          </a:solidFill>
          <a:ln w="12700">
            <a:solidFill>
              <a:srgbClr val="111418"/>
            </a:solidFill>
            <a:prstDash val="solid"/>
          </a:ln>
        </p:spPr>
      </p:sp>
      <p:sp>
        <p:nvSpPr>
          <p:cNvPr id="23" name="Eckmarker 3"/>
          <p:cNvSpPr/>
          <p:nvPr/>
        </p:nvSpPr>
        <p:spPr>
          <a:xfrm>
            <a:off x="7223760" y="5779008"/>
            <a:ext cx="73152" cy="73152"/>
          </a:xfrm>
          <a:prstGeom prst="ellipse">
            <a:avLst/>
          </a:prstGeom>
          <a:solidFill>
            <a:srgbClr val="111418"/>
          </a:solidFill>
          <a:ln w="12700">
            <a:solidFill>
              <a:srgbClr val="111418"/>
            </a:solidFill>
            <a:prstDash val="solid"/>
          </a:ln>
        </p:spPr>
      </p:sp>
      <p:sp>
        <p:nvSpPr>
          <p:cNvPr id="24" name="Eckmarker 4"/>
          <p:cNvSpPr/>
          <p:nvPr/>
        </p:nvSpPr>
        <p:spPr>
          <a:xfrm>
            <a:off x="11295583" y="5779008"/>
            <a:ext cx="73152" cy="73152"/>
          </a:xfrm>
          <a:prstGeom prst="ellipse">
            <a:avLst/>
          </a:prstGeom>
          <a:solidFill>
            <a:srgbClr val="111418"/>
          </a:solidFill>
          <a:ln w="12700">
            <a:solidFill>
              <a:srgbClr val="111418"/>
            </a:solidFill>
            <a:prstDash val="solid"/>
          </a:ln>
        </p:spPr>
      </p:sp>
      <p:sp>
        <p:nvSpPr>
          <p:cNvPr id="25" name="Eyebrow 01 //  IDEA  ·  THREE COLLEAGUES CHECK PARTS"/>
          <p:cNvSpPr txBox="1"/>
          <p:nvPr/>
        </p:nvSpPr>
        <p:spPr>
          <a:xfrm>
            <a:off x="7315200" y="6035040"/>
            <a:ext cx="3962095" cy="256032"/>
          </a:xfrm>
          <a:prstGeom prst="rect">
            <a:avLst/>
          </a:prstGeom>
          <a:noFill/>
          <a:ln/>
        </p:spPr>
        <p:txBody>
          <a:bodyPr wrap="square" lIns="0" tIns="0" rIns="0" bIns="0" rtlCol="0" anchor="ctr"/>
          <a:lstStyle/>
          <a:p>
            <a:pPr indent="0" marL="0">
              <a:buNone/>
            </a:pPr>
            <a:r>
              <a:rPr lang="en-US" sz="1000" spc="-30" kern="0" dirty="0">
                <a:solidFill>
                  <a:srgbClr val="707981"/>
                </a:solidFill>
              </a:rPr>
              <a:t>01 //  IDEA  ·  THREE COLLEAGUES CHECK PARTS</a:t>
            </a:r>
            <a:endParaRPr lang="en-US" sz="1000" dirty="0"/>
          </a:p>
        </p:txBody>
      </p:sp>
      <p:sp>
        <p:nvSpPr>
          <p:cNvPr id="2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8</a:t>
            </a:fld>
            <a:endParaRPr lang="en-US"/>
          </a:p>
        </p:txBody>
      </p:sp>
      <p:sp>
        <p:nvSpPr>
          <p:cNvPr id="2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TEAM</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we stand for</a:t>
            </a:r>
            <a:endParaRPr lang="en-US" sz="3400" dirty="0"/>
          </a:p>
        </p:txBody>
      </p:sp>
      <p:sp>
        <p:nvSpPr>
          <p:cNvPr id="5" name="Eyebrow 01 //  VISION"/>
          <p:cNvSpPr txBox="1"/>
          <p:nvPr/>
        </p:nvSpPr>
        <p:spPr>
          <a:xfrm>
            <a:off x="548640" y="269748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01 //  VISION</a:t>
            </a:r>
            <a:endParaRPr lang="en-US" sz="1000" dirty="0"/>
          </a:p>
        </p:txBody>
      </p:sp>
      <p:sp>
        <p:nvSpPr>
          <p:cNvPr id="6" name="Zeile 1 Titel"/>
          <p:cNvSpPr txBox="1"/>
          <p:nvPr/>
        </p:nvSpPr>
        <p:spPr>
          <a:xfrm>
            <a:off x="548640" y="297180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Better products for life.</a:t>
            </a:r>
            <a:endParaRPr lang="en-US" sz="2000" dirty="0"/>
          </a:p>
        </p:txBody>
      </p:sp>
      <p:sp>
        <p:nvSpPr>
          <p:cNvPr id="7" name="Zeile 1 Text"/>
          <p:cNvSpPr txBox="1"/>
          <p:nvPr/>
        </p:nvSpPr>
        <p:spPr>
          <a:xfrm>
            <a:off x="6035040" y="274320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Guided by this vision, we solve problems with our ideas. In our customers’ innovation networks we are a long-term partner - sustainable, ecological and efficient.</a:t>
            </a:r>
            <a:endParaRPr lang="en-US" sz="1200" dirty="0"/>
          </a:p>
        </p:txBody>
      </p:sp>
      <p:sp>
        <p:nvSpPr>
          <p:cNvPr id="8" name="Linie Zeile 1"/>
          <p:cNvSpPr/>
          <p:nvPr/>
        </p:nvSpPr>
        <p:spPr>
          <a:xfrm>
            <a:off x="548640" y="3739896"/>
            <a:ext cx="10728655" cy="0"/>
          </a:xfrm>
          <a:prstGeom prst="line">
            <a:avLst/>
          </a:prstGeom>
          <a:noFill/>
          <a:ln w="6350">
            <a:solidFill>
              <a:srgbClr val="A0A1A3"/>
            </a:solidFill>
            <a:prstDash val="solid"/>
          </a:ln>
        </p:spPr>
      </p:sp>
      <p:sp>
        <p:nvSpPr>
          <p:cNvPr id="9" name="Eyebrow 02 //  MISSION"/>
          <p:cNvSpPr txBox="1"/>
          <p:nvPr/>
        </p:nvSpPr>
        <p:spPr>
          <a:xfrm>
            <a:off x="548640" y="388620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02 //  MISSION</a:t>
            </a:r>
            <a:endParaRPr lang="en-US" sz="1000" dirty="0"/>
          </a:p>
        </p:txBody>
      </p:sp>
      <p:sp>
        <p:nvSpPr>
          <p:cNvPr id="10" name="Zeile 2 Titel"/>
          <p:cNvSpPr txBox="1"/>
          <p:nvPr/>
        </p:nvSpPr>
        <p:spPr>
          <a:xfrm>
            <a:off x="548640" y="416052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Develop more from less.</a:t>
            </a:r>
            <a:endParaRPr lang="en-US" sz="2000" dirty="0"/>
          </a:p>
        </p:txBody>
      </p:sp>
      <p:sp>
        <p:nvSpPr>
          <p:cNvPr id="11" name="Zeile 2 Text"/>
          <p:cNvSpPr txBox="1"/>
          <p:nvPr/>
        </p:nvSpPr>
        <p:spPr>
          <a:xfrm>
            <a:off x="6035040" y="393192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Our team supports customers in product development and so improves their competitiveness.</a:t>
            </a:r>
            <a:endParaRPr lang="en-US" sz="1200" dirty="0"/>
          </a:p>
        </p:txBody>
      </p:sp>
      <p:sp>
        <p:nvSpPr>
          <p:cNvPr id="12" name="Linie Zeile 2"/>
          <p:cNvSpPr/>
          <p:nvPr/>
        </p:nvSpPr>
        <p:spPr>
          <a:xfrm>
            <a:off x="548640" y="4928616"/>
            <a:ext cx="10728655" cy="0"/>
          </a:xfrm>
          <a:prstGeom prst="line">
            <a:avLst/>
          </a:prstGeom>
          <a:noFill/>
          <a:ln w="6350">
            <a:solidFill>
              <a:srgbClr val="A0A1A3"/>
            </a:solidFill>
            <a:prstDash val="solid"/>
          </a:ln>
        </p:spPr>
      </p:sp>
      <p:sp>
        <p:nvSpPr>
          <p:cNvPr id="13" name="Eyebrow 03 //  VALUES"/>
          <p:cNvSpPr txBox="1"/>
          <p:nvPr/>
        </p:nvSpPr>
        <p:spPr>
          <a:xfrm>
            <a:off x="548640" y="507492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03 //  VALUES</a:t>
            </a:r>
            <a:endParaRPr lang="en-US" sz="1000" dirty="0"/>
          </a:p>
        </p:txBody>
      </p:sp>
      <p:sp>
        <p:nvSpPr>
          <p:cNvPr id="14" name="Zeile 3 Titel"/>
          <p:cNvSpPr txBox="1"/>
          <p:nvPr/>
        </p:nvSpPr>
        <p:spPr>
          <a:xfrm>
            <a:off x="548640" y="534924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Responsible, honest, loyal.</a:t>
            </a:r>
            <a:endParaRPr lang="en-US" sz="2000" dirty="0"/>
          </a:p>
        </p:txBody>
      </p:sp>
      <p:sp>
        <p:nvSpPr>
          <p:cNvPr id="15" name="Zeile 3 Text"/>
          <p:cNvSpPr txBox="1"/>
          <p:nvPr/>
        </p:nvSpPr>
        <p:spPr>
          <a:xfrm>
            <a:off x="6035040" y="512064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Our people are our most important asset. We offer attractive workplaces and develop our people systematically.</a:t>
            </a:r>
            <a:endParaRPr lang="en-US" sz="1200" dirty="0"/>
          </a:p>
        </p:txBody>
      </p:sp>
      <p:sp>
        <p:nvSpPr>
          <p:cNvPr id="16" name="Linie Zeile 3"/>
          <p:cNvSpPr/>
          <p:nvPr/>
        </p:nvSpPr>
        <p:spPr>
          <a:xfrm>
            <a:off x="548640" y="6117336"/>
            <a:ext cx="10728655" cy="0"/>
          </a:xfrm>
          <a:prstGeom prst="line">
            <a:avLst/>
          </a:prstGeom>
          <a:noFill/>
          <a:ln w="6350">
            <a:solidFill>
              <a:srgbClr val="A0A1A3"/>
            </a:solidFill>
            <a:prstDash val="solid"/>
          </a:ln>
        </p:spPr>
      </p:sp>
      <p:sp>
        <p:nvSpPr>
          <p:cNvPr id="1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9</a:t>
            </a:fld>
            <a:endParaRPr lang="en-US"/>
          </a:p>
        </p:txBody>
      </p:sp>
      <p:sp>
        <p:nvSpPr>
          <p:cNvPr id="18"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Text 0"/>
          <p:cNvSpPr/>
          <p:nvPr>
            <p:ph idx="101" type="body" hasCustomPrompt="1"/>
          </p:nvPr>
        </p:nvSpPr>
        <p:spPr>
          <a:xfrm>
            <a:off x="548640" y="1737360"/>
            <a:ext cx="7315200" cy="274320"/>
          </a:xfrm>
          <a:prstGeom prst="rect">
            <a:avLst/>
          </a:prstGeom>
          <a:noFill/>
          <a:ln/>
        </p:spPr>
        <p:txBody>
          <a:bodyPr wrap="square" lIns="0" tIns="0" rIns="0" bIns="0" rtlCol="0" anchor="t"/>
          <a:lstStyle/>
          <a:p>
            <a:pPr indent="0" marL="0">
              <a:buNone/>
            </a:pPr>
            <a:r>
              <a:rPr lang="en-US" sz="1000" spc="-30" kern="0" dirty="0">
                <a:solidFill>
                  <a:srgbClr val="A0A1A3"/>
                </a:solidFill>
              </a:rPr>
              <a:t>02 //  COMPANY  ·  MISSION</a:t>
            </a:r>
            <a:endParaRPr lang="en-US" sz="1000" dirty="0"/>
          </a:p>
        </p:txBody>
      </p:sp>
      <p:sp>
        <p:nvSpPr>
          <p:cNvPr id="4" name="Text 0"/>
          <p:cNvSpPr/>
          <p:nvPr>
            <p:ph idx="102" type="title" hasCustomPrompt="1"/>
          </p:nvPr>
        </p:nvSpPr>
        <p:spPr>
          <a:xfrm>
            <a:off x="548640" y="2103120"/>
            <a:ext cx="10332720" cy="237744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“Develop more from less - the simplest solution is usually the best.”</a:t>
            </a:r>
            <a:endParaRPr lang="en-US" sz="4400" dirty="0"/>
          </a:p>
        </p:txBody>
      </p:sp>
      <p:sp>
        <p:nvSpPr>
          <p:cNvPr id="5" name="Text 0"/>
          <p:cNvSpPr/>
          <p:nvPr>
            <p:ph idx="103" type="body" hasCustomPrompt="1"/>
          </p:nvPr>
        </p:nvSpPr>
        <p:spPr>
          <a:xfrm>
            <a:off x="548640" y="4754880"/>
            <a:ext cx="7315200" cy="365760"/>
          </a:xfrm>
          <a:prstGeom prst="rect">
            <a:avLst/>
          </a:prstGeom>
          <a:noFill/>
          <a:ln/>
        </p:spPr>
        <p:txBody>
          <a:bodyPr wrap="square" lIns="0" tIns="0" rIns="0" bIns="0" rtlCol="0" anchor="t"/>
          <a:lstStyle/>
          <a:p>
            <a:pPr indent="0" marL="0">
              <a:buNone/>
            </a:pPr>
            <a:r>
              <a:rPr lang="en-US" sz="1200" dirty="0">
                <a:solidFill>
                  <a:srgbClr val="A0A1A3"/>
                </a:solidFill>
              </a:rPr>
              <a:t>Alain Roth  ·  Founder, IdeeRoth AG</a:t>
            </a:r>
            <a:endParaRPr lang="en-US" sz="12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a:t>
            </a:fld>
            <a:endParaRPr lang="en-US"/>
          </a:p>
        </p:txBody>
      </p:sp>
      <p:sp>
        <p:nvSpPr>
          <p:cNvPr id="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SERVICES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A project in figures</a:t>
            </a:r>
            <a:endParaRPr lang="en-US" sz="3400" dirty="0"/>
          </a:p>
        </p:txBody>
      </p:sp>
      <p:sp>
        <p:nvSpPr>
          <p:cNvPr id="5" name="Linie Kennzahlen oben"/>
          <p:cNvSpPr/>
          <p:nvPr/>
        </p:nvSpPr>
        <p:spPr>
          <a:xfrm>
            <a:off x="548640" y="2743200"/>
            <a:ext cx="10728655" cy="0"/>
          </a:xfrm>
          <a:prstGeom prst="line">
            <a:avLst/>
          </a:prstGeom>
          <a:noFill/>
          <a:ln w="6350">
            <a:solidFill>
              <a:srgbClr val="91A19B"/>
            </a:solidFill>
            <a:prstDash val="solid"/>
          </a:ln>
        </p:spPr>
      </p:sp>
      <p:sp>
        <p:nvSpPr>
          <p:cNvPr id="6" name="Kennzahl 1"/>
          <p:cNvSpPr txBox="1"/>
          <p:nvPr/>
        </p:nvSpPr>
        <p:spPr>
          <a:xfrm>
            <a:off x="548640" y="2971800"/>
            <a:ext cx="3301898" cy="1005840"/>
          </a:xfrm>
          <a:prstGeom prst="rect">
            <a:avLst/>
          </a:prstGeom>
          <a:noFill/>
          <a:ln/>
        </p:spPr>
        <p:txBody>
          <a:bodyPr wrap="square" lIns="0" tIns="0" rIns="0" bIns="0" rtlCol="0" anchor="ctr"/>
          <a:lstStyle/>
          <a:p>
            <a:pPr indent="0" marL="0">
              <a:buNone/>
            </a:pPr>
            <a:r>
              <a:rPr lang="en-US" sz="6000" spc="-150" kern="0" dirty="0">
                <a:solidFill>
                  <a:srgbClr val="111418"/>
                </a:solidFill>
              </a:rPr>
              <a:t>38%</a:t>
            </a:r>
            <a:endParaRPr lang="en-US" sz="6000" dirty="0"/>
          </a:p>
        </p:txBody>
      </p:sp>
      <p:sp>
        <p:nvSpPr>
          <p:cNvPr id="7" name="Eyebrow FEWER PARTS"/>
          <p:cNvSpPr txBox="1"/>
          <p:nvPr/>
        </p:nvSpPr>
        <p:spPr>
          <a:xfrm>
            <a:off x="548640"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FEWER PARTS</a:t>
            </a:r>
            <a:endParaRPr lang="en-US" sz="1000" dirty="0"/>
          </a:p>
        </p:txBody>
      </p:sp>
      <p:sp>
        <p:nvSpPr>
          <p:cNvPr id="8" name="Kennzahl Text 1"/>
          <p:cNvSpPr txBox="1"/>
          <p:nvPr/>
        </p:nvSpPr>
        <p:spPr>
          <a:xfrm>
            <a:off x="548640"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Assembly rethought, assembly time halved.</a:t>
            </a:r>
            <a:endParaRPr lang="en-US" sz="1200" dirty="0"/>
          </a:p>
        </p:txBody>
      </p:sp>
      <p:sp>
        <p:nvSpPr>
          <p:cNvPr id="9" name="Kennzahl 2"/>
          <p:cNvSpPr txBox="1"/>
          <p:nvPr/>
        </p:nvSpPr>
        <p:spPr>
          <a:xfrm>
            <a:off x="4262018" y="2971800"/>
            <a:ext cx="3301898" cy="1005840"/>
          </a:xfrm>
          <a:prstGeom prst="rect">
            <a:avLst/>
          </a:prstGeom>
          <a:noFill/>
          <a:ln/>
        </p:spPr>
        <p:txBody>
          <a:bodyPr wrap="square" lIns="0" tIns="0" rIns="0" bIns="0" rtlCol="0" anchor="ctr"/>
          <a:lstStyle/>
          <a:p>
            <a:pPr indent="0" marL="0">
              <a:buNone/>
            </a:pPr>
            <a:r>
              <a:rPr lang="en-US" sz="6000" spc="-150" kern="0" dirty="0">
                <a:solidFill>
                  <a:srgbClr val="25C77A"/>
                </a:solidFill>
              </a:rPr>
              <a:t>6</a:t>
            </a:r>
            <a:endParaRPr lang="en-US" sz="6000" dirty="0"/>
          </a:p>
        </p:txBody>
      </p:sp>
      <p:sp>
        <p:nvSpPr>
          <p:cNvPr id="10" name="Eyebrow WEEKS TO PROTOTYPE"/>
          <p:cNvSpPr txBox="1"/>
          <p:nvPr/>
        </p:nvSpPr>
        <p:spPr>
          <a:xfrm>
            <a:off x="4262018"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WEEKS TO PROTOTYPE</a:t>
            </a:r>
            <a:endParaRPr lang="en-US" sz="1000" dirty="0"/>
          </a:p>
        </p:txBody>
      </p:sp>
      <p:sp>
        <p:nvSpPr>
          <p:cNvPr id="11" name="Kennzahl Text 2"/>
          <p:cNvSpPr txBox="1"/>
          <p:nvPr/>
        </p:nvSpPr>
        <p:spPr>
          <a:xfrm>
            <a:off x="4262018"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From kick-off to the first functional sample.</a:t>
            </a:r>
            <a:endParaRPr lang="en-US" sz="1200" dirty="0"/>
          </a:p>
        </p:txBody>
      </p:sp>
      <p:sp>
        <p:nvSpPr>
          <p:cNvPr id="12" name="Kennzahl 3"/>
          <p:cNvSpPr txBox="1"/>
          <p:nvPr/>
        </p:nvSpPr>
        <p:spPr>
          <a:xfrm>
            <a:off x="7975397" y="2971800"/>
            <a:ext cx="3301898" cy="1005840"/>
          </a:xfrm>
          <a:prstGeom prst="rect">
            <a:avLst/>
          </a:prstGeom>
          <a:noFill/>
          <a:ln/>
        </p:spPr>
        <p:txBody>
          <a:bodyPr wrap="square" lIns="0" tIns="0" rIns="0" bIns="0" rtlCol="0" anchor="ctr"/>
          <a:lstStyle/>
          <a:p>
            <a:pPr indent="0" marL="0">
              <a:buNone/>
            </a:pPr>
            <a:r>
              <a:rPr lang="en-US" sz="6000" spc="-150" kern="0" dirty="0">
                <a:solidFill>
                  <a:srgbClr val="111418"/>
                </a:solidFill>
              </a:rPr>
              <a:t>100%</a:t>
            </a:r>
            <a:endParaRPr lang="en-US" sz="6000" dirty="0"/>
          </a:p>
        </p:txBody>
      </p:sp>
      <p:sp>
        <p:nvSpPr>
          <p:cNvPr id="13" name="Eyebrow IN HOUSE"/>
          <p:cNvSpPr txBox="1"/>
          <p:nvPr/>
        </p:nvSpPr>
        <p:spPr>
          <a:xfrm>
            <a:off x="7975397"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IN HOUSE</a:t>
            </a:r>
            <a:endParaRPr lang="en-US" sz="1000" dirty="0"/>
          </a:p>
        </p:txBody>
      </p:sp>
      <p:sp>
        <p:nvSpPr>
          <p:cNvPr id="14" name="Kennzahl Text 3"/>
          <p:cNvSpPr txBox="1"/>
          <p:nvPr/>
        </p:nvSpPr>
        <p:spPr>
          <a:xfrm>
            <a:off x="7975397"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Design, simulation and prototype.</a:t>
            </a:r>
            <a:endParaRPr lang="en-US" sz="1200" dirty="0"/>
          </a:p>
        </p:txBody>
      </p:sp>
      <p:sp>
        <p:nvSpPr>
          <p:cNvPr id="15" name="Linie Kennzahlen unten"/>
          <p:cNvSpPr/>
          <p:nvPr/>
        </p:nvSpPr>
        <p:spPr>
          <a:xfrm>
            <a:off x="548640" y="5120640"/>
            <a:ext cx="10728655" cy="0"/>
          </a:xfrm>
          <a:prstGeom prst="line">
            <a:avLst/>
          </a:prstGeom>
          <a:noFill/>
          <a:ln w="6350">
            <a:solidFill>
              <a:srgbClr val="91A19B"/>
            </a:solidFill>
            <a:prstDash val="solid"/>
          </a:ln>
        </p:spPr>
      </p:sp>
      <p:sp>
        <p:nvSpPr>
          <p:cNvPr id="1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11</a:t>
            </a:fld>
            <a:endParaRPr lang="en-US"/>
          </a:p>
        </p:txBody>
      </p:sp>
      <p:sp>
        <p:nvSpPr>
          <p:cNvPr id="1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AGENDA  ·  CUSTOMER PRESENTATION  ·  PROJECT NUMBER</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today is about</a:t>
            </a:r>
            <a:endParaRPr lang="en-US" sz="3400" dirty="0"/>
          </a:p>
        </p:txBody>
      </p:sp>
      <p:sp>
        <p:nvSpPr>
          <p:cNvPr id="5" name="Agenda Nummer 1"/>
          <p:cNvSpPr txBox="1"/>
          <p:nvPr/>
        </p:nvSpPr>
        <p:spPr>
          <a:xfrm>
            <a:off x="548640" y="2660904"/>
            <a:ext cx="548640" cy="274320"/>
          </a:xfrm>
          <a:prstGeom prst="rect">
            <a:avLst/>
          </a:prstGeom>
          <a:noFill/>
          <a:ln/>
        </p:spPr>
        <p:txBody>
          <a:bodyPr wrap="square" lIns="0" tIns="0" rIns="0" bIns="0" rtlCol="0" anchor="ctr"/>
          <a:lstStyle/>
          <a:p>
            <a:pPr indent="0" marL="0">
              <a:buNone/>
            </a:pPr>
            <a:r>
              <a:rPr lang="en-US" sz="1000" spc="-30" kern="0" dirty="0">
                <a:solidFill>
                  <a:srgbClr val="25C77A"/>
                </a:solidFill>
              </a:rPr>
              <a:t>01</a:t>
            </a:r>
            <a:endParaRPr lang="en-US" sz="1000" dirty="0"/>
          </a:p>
        </p:txBody>
      </p:sp>
      <p:sp>
        <p:nvSpPr>
          <p:cNvPr id="6" name="Agenda Punkt 1"/>
          <p:cNvSpPr txBox="1"/>
          <p:nvPr/>
        </p:nvSpPr>
        <p:spPr>
          <a:xfrm>
            <a:off x="1188720" y="2606040"/>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Starting point and goal</a:t>
            </a:r>
            <a:endParaRPr lang="en-US" sz="2000" dirty="0"/>
          </a:p>
        </p:txBody>
      </p:sp>
      <p:sp>
        <p:nvSpPr>
          <p:cNvPr id="7" name="Linie Agenda 1"/>
          <p:cNvSpPr/>
          <p:nvPr/>
        </p:nvSpPr>
        <p:spPr>
          <a:xfrm>
            <a:off x="548640" y="3099816"/>
            <a:ext cx="5852160" cy="0"/>
          </a:xfrm>
          <a:prstGeom prst="line">
            <a:avLst/>
          </a:prstGeom>
          <a:noFill/>
          <a:ln w="6350">
            <a:solidFill>
              <a:srgbClr val="91A19B"/>
            </a:solidFill>
            <a:prstDash val="solid"/>
          </a:ln>
        </p:spPr>
      </p:sp>
      <p:sp>
        <p:nvSpPr>
          <p:cNvPr id="8" name="Agenda Nummer 2"/>
          <p:cNvSpPr txBox="1"/>
          <p:nvPr/>
        </p:nvSpPr>
        <p:spPr>
          <a:xfrm>
            <a:off x="548640" y="3227832"/>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02</a:t>
            </a:r>
            <a:endParaRPr lang="en-US" sz="1000" dirty="0"/>
          </a:p>
        </p:txBody>
      </p:sp>
      <p:sp>
        <p:nvSpPr>
          <p:cNvPr id="9" name="Agenda Punkt 2"/>
          <p:cNvSpPr txBox="1"/>
          <p:nvPr/>
        </p:nvSpPr>
        <p:spPr>
          <a:xfrm>
            <a:off x="1188720" y="3172968"/>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Concept variants</a:t>
            </a:r>
            <a:endParaRPr lang="en-US" sz="2000" dirty="0"/>
          </a:p>
        </p:txBody>
      </p:sp>
      <p:sp>
        <p:nvSpPr>
          <p:cNvPr id="10" name="Linie Agenda 2"/>
          <p:cNvSpPr/>
          <p:nvPr/>
        </p:nvSpPr>
        <p:spPr>
          <a:xfrm>
            <a:off x="548640" y="3666744"/>
            <a:ext cx="5852160" cy="0"/>
          </a:xfrm>
          <a:prstGeom prst="line">
            <a:avLst/>
          </a:prstGeom>
          <a:noFill/>
          <a:ln w="6350">
            <a:solidFill>
              <a:srgbClr val="91A19B"/>
            </a:solidFill>
            <a:prstDash val="solid"/>
          </a:ln>
        </p:spPr>
      </p:sp>
      <p:sp>
        <p:nvSpPr>
          <p:cNvPr id="11" name="Agenda Nummer 3"/>
          <p:cNvSpPr txBox="1"/>
          <p:nvPr/>
        </p:nvSpPr>
        <p:spPr>
          <a:xfrm>
            <a:off x="548640" y="3794760"/>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03</a:t>
            </a:r>
            <a:endParaRPr lang="en-US" sz="1000" dirty="0"/>
          </a:p>
        </p:txBody>
      </p:sp>
      <p:sp>
        <p:nvSpPr>
          <p:cNvPr id="12" name="Agenda Punkt 3"/>
          <p:cNvSpPr txBox="1"/>
          <p:nvPr/>
        </p:nvSpPr>
        <p:spPr>
          <a:xfrm>
            <a:off x="1188720" y="3739896"/>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Simulation and results</a:t>
            </a:r>
            <a:endParaRPr lang="en-US" sz="2000" dirty="0"/>
          </a:p>
        </p:txBody>
      </p:sp>
      <p:sp>
        <p:nvSpPr>
          <p:cNvPr id="13" name="Linie Agenda 3"/>
          <p:cNvSpPr/>
          <p:nvPr/>
        </p:nvSpPr>
        <p:spPr>
          <a:xfrm>
            <a:off x="548640" y="4233672"/>
            <a:ext cx="5852160" cy="0"/>
          </a:xfrm>
          <a:prstGeom prst="line">
            <a:avLst/>
          </a:prstGeom>
          <a:noFill/>
          <a:ln w="6350">
            <a:solidFill>
              <a:srgbClr val="91A19B"/>
            </a:solidFill>
            <a:prstDash val="solid"/>
          </a:ln>
        </p:spPr>
      </p:sp>
      <p:sp>
        <p:nvSpPr>
          <p:cNvPr id="14" name="Agenda Nummer 4"/>
          <p:cNvSpPr txBox="1"/>
          <p:nvPr/>
        </p:nvSpPr>
        <p:spPr>
          <a:xfrm>
            <a:off x="548640" y="4361688"/>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04</a:t>
            </a:r>
            <a:endParaRPr lang="en-US" sz="1000" dirty="0"/>
          </a:p>
        </p:txBody>
      </p:sp>
      <p:sp>
        <p:nvSpPr>
          <p:cNvPr id="15" name="Agenda Punkt 4"/>
          <p:cNvSpPr txBox="1"/>
          <p:nvPr/>
        </p:nvSpPr>
        <p:spPr>
          <a:xfrm>
            <a:off x="1188720" y="4306824"/>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Prototype and tests</a:t>
            </a:r>
            <a:endParaRPr lang="en-US" sz="2000" dirty="0"/>
          </a:p>
        </p:txBody>
      </p:sp>
      <p:sp>
        <p:nvSpPr>
          <p:cNvPr id="16" name="Linie Agenda 4"/>
          <p:cNvSpPr/>
          <p:nvPr/>
        </p:nvSpPr>
        <p:spPr>
          <a:xfrm>
            <a:off x="548640" y="4800600"/>
            <a:ext cx="5852160" cy="0"/>
          </a:xfrm>
          <a:prstGeom prst="line">
            <a:avLst/>
          </a:prstGeom>
          <a:noFill/>
          <a:ln w="6350">
            <a:solidFill>
              <a:srgbClr val="91A19B"/>
            </a:solidFill>
            <a:prstDash val="solid"/>
          </a:ln>
        </p:spPr>
      </p:sp>
      <p:sp>
        <p:nvSpPr>
          <p:cNvPr id="17" name="Agenda Nummer 5"/>
          <p:cNvSpPr txBox="1"/>
          <p:nvPr/>
        </p:nvSpPr>
        <p:spPr>
          <a:xfrm>
            <a:off x="548640" y="4928616"/>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05</a:t>
            </a:r>
            <a:endParaRPr lang="en-US" sz="1000" dirty="0"/>
          </a:p>
        </p:txBody>
      </p:sp>
      <p:sp>
        <p:nvSpPr>
          <p:cNvPr id="18" name="Agenda Punkt 5"/>
          <p:cNvSpPr txBox="1"/>
          <p:nvPr/>
        </p:nvSpPr>
        <p:spPr>
          <a:xfrm>
            <a:off x="1188720" y="4873752"/>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Schedule and costs</a:t>
            </a:r>
            <a:endParaRPr lang="en-US" sz="2000" dirty="0"/>
          </a:p>
        </p:txBody>
      </p:sp>
      <p:sp>
        <p:nvSpPr>
          <p:cNvPr id="19" name="Linie Agenda 5"/>
          <p:cNvSpPr/>
          <p:nvPr/>
        </p:nvSpPr>
        <p:spPr>
          <a:xfrm>
            <a:off x="548640" y="5367528"/>
            <a:ext cx="5852160" cy="0"/>
          </a:xfrm>
          <a:prstGeom prst="line">
            <a:avLst/>
          </a:prstGeom>
          <a:noFill/>
          <a:ln w="6350">
            <a:solidFill>
              <a:srgbClr val="91A19B"/>
            </a:solidFill>
            <a:prstDash val="solid"/>
          </a:ln>
        </p:spPr>
      </p:sp>
      <p:sp>
        <p:nvSpPr>
          <p:cNvPr id="20" name="Agenda Nummer 6"/>
          <p:cNvSpPr txBox="1"/>
          <p:nvPr/>
        </p:nvSpPr>
        <p:spPr>
          <a:xfrm>
            <a:off x="548640" y="5495544"/>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06</a:t>
            </a:r>
            <a:endParaRPr lang="en-US" sz="1000" dirty="0"/>
          </a:p>
        </p:txBody>
      </p:sp>
      <p:sp>
        <p:nvSpPr>
          <p:cNvPr id="21" name="Agenda Punkt 6"/>
          <p:cNvSpPr txBox="1"/>
          <p:nvPr/>
        </p:nvSpPr>
        <p:spPr>
          <a:xfrm>
            <a:off x="1188720" y="5440680"/>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Next steps</a:t>
            </a:r>
            <a:endParaRPr lang="en-US" sz="2000" dirty="0"/>
          </a:p>
        </p:txBody>
      </p:sp>
      <p:sp>
        <p:nvSpPr>
          <p:cNvPr id="22" name="Linie Agenda 6"/>
          <p:cNvSpPr/>
          <p:nvPr/>
        </p:nvSpPr>
        <p:spPr>
          <a:xfrm>
            <a:off x="548640" y="5934456"/>
            <a:ext cx="5852160" cy="0"/>
          </a:xfrm>
          <a:prstGeom prst="line">
            <a:avLst/>
          </a:prstGeom>
          <a:noFill/>
          <a:ln w="6350">
            <a:solidFill>
              <a:srgbClr val="91A19B"/>
            </a:solidFill>
            <a:prstDash val="solid"/>
          </a:ln>
        </p:spPr>
      </p:sp>
      <p:pic>
        <p:nvPicPr>
          <p:cNvPr id="23" name="Agendafoto" descr="p23">    </p:cNvPr>
          <p:cNvPicPr>
            <a:picLocks noChangeAspect="1"/>
          </p:cNvPicPr>
          <p:nvPr/>
        </p:nvPicPr>
        <p:blipFill>
          <a:blip r:embed="rId1"/>
          <a:srcRect l="0" r="0" t="0" b="0"/>
          <a:stretch/>
        </p:blipFill>
        <p:spPr>
          <a:xfrm>
            <a:off x="7315200" y="2606040"/>
            <a:ext cx="3962095" cy="3108960"/>
          </a:xfrm>
          <a:prstGeom prst="rect">
            <a:avLst/>
          </a:prstGeom>
        </p:spPr>
      </p:pic>
      <p:sp>
        <p:nvSpPr>
          <p:cNvPr id="24" name="Eckmarker 1"/>
          <p:cNvSpPr/>
          <p:nvPr/>
        </p:nvSpPr>
        <p:spPr>
          <a:xfrm>
            <a:off x="7223760" y="2514600"/>
            <a:ext cx="73152" cy="73152"/>
          </a:xfrm>
          <a:prstGeom prst="ellipse">
            <a:avLst/>
          </a:prstGeom>
          <a:solidFill>
            <a:srgbClr val="111418"/>
          </a:solidFill>
          <a:ln w="12700">
            <a:solidFill>
              <a:srgbClr val="111418"/>
            </a:solidFill>
            <a:prstDash val="solid"/>
          </a:ln>
        </p:spPr>
      </p:sp>
      <p:sp>
        <p:nvSpPr>
          <p:cNvPr id="25"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6" name="Eckmarker 3"/>
          <p:cNvSpPr/>
          <p:nvPr/>
        </p:nvSpPr>
        <p:spPr>
          <a:xfrm>
            <a:off x="7223760" y="5733288"/>
            <a:ext cx="73152" cy="73152"/>
          </a:xfrm>
          <a:prstGeom prst="ellipse">
            <a:avLst/>
          </a:prstGeom>
          <a:solidFill>
            <a:srgbClr val="111418"/>
          </a:solidFill>
          <a:ln w="12700">
            <a:solidFill>
              <a:srgbClr val="111418"/>
            </a:solidFill>
            <a:prstDash val="solid"/>
          </a:ln>
        </p:spPr>
      </p:sp>
      <p:sp>
        <p:nvSpPr>
          <p:cNvPr id="27" name="Eckmarker 4"/>
          <p:cNvSpPr/>
          <p:nvPr/>
        </p:nvSpPr>
        <p:spPr>
          <a:xfrm>
            <a:off x="11295583" y="5733288"/>
            <a:ext cx="73152" cy="73152"/>
          </a:xfrm>
          <a:prstGeom prst="ellipse">
            <a:avLst/>
          </a:prstGeom>
          <a:solidFill>
            <a:srgbClr val="111418"/>
          </a:solidFill>
          <a:ln w="12700">
            <a:solidFill>
              <a:srgbClr val="111418"/>
            </a:solidFill>
            <a:prstDash val="solid"/>
          </a:ln>
        </p:spPr>
      </p:sp>
      <p:sp>
        <p:nvSpPr>
          <p:cNvPr id="28" name="Eyebrow 15 OCTOBER 2026  ·  ROMANSHORN  ·  60 MINUTES"/>
          <p:cNvSpPr txBox="1"/>
          <p:nvPr/>
        </p:nvSpPr>
        <p:spPr>
          <a:xfrm>
            <a:off x="7315200" y="6035040"/>
            <a:ext cx="3962095" cy="256032"/>
          </a:xfrm>
          <a:prstGeom prst="rect">
            <a:avLst/>
          </a:prstGeom>
          <a:noFill/>
          <a:ln/>
        </p:spPr>
        <p:txBody>
          <a:bodyPr wrap="square" lIns="0" tIns="0" rIns="0" bIns="0" rtlCol="0" anchor="ctr"/>
          <a:lstStyle/>
          <a:p>
            <a:pPr indent="0" marL="0">
              <a:buNone/>
            </a:pPr>
            <a:r>
              <a:rPr lang="en-US" sz="1000" spc="-30" kern="0" dirty="0">
                <a:solidFill>
                  <a:srgbClr val="707981"/>
                </a:solidFill>
              </a:rPr>
              <a:t>15 OCTOBER 2026  ·  ROMANSHORN  ·  60 MINUTES</a:t>
            </a:r>
            <a:endParaRPr lang="en-US" sz="1000" dirty="0"/>
          </a:p>
        </p:txBody>
      </p:sp>
      <p:sp>
        <p:nvSpPr>
          <p:cNvPr id="2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12</a:t>
            </a:fld>
            <a:endParaRPr lang="en-US"/>
          </a:p>
        </p:txBody>
      </p:sp>
      <p:sp>
        <p:nvSpPr>
          <p:cNvPr id="3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SCHEDULE AND COSTS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Work packages and status</a:t>
            </a:r>
            <a:endParaRPr lang="en-US" sz="3400" dirty="0"/>
          </a:p>
        </p:txBody>
      </p:sp>
      <p:graphicFrame>
        <p:nvGraphicFramePr>
          <p:cNvPr id="5" name="Tabelle Arbeitspakete"/>
          <p:cNvGraphicFramePr>
            <a:graphicFrameLocks noGrp="1"/>
          </p:cNvGraphicFramePr>
          <p:nvPr>
            <p:extLst>
              <p:ext uri="{D42A27DB-BD31-4B8C-83A1-F6EECF244321}">
                <p14:modId xmlns:p14="http://schemas.microsoft.com/office/powerpoint/2010/main" val="1579011935"/>
              </p:ext>
            </p:extLst>
          </p:nvPr>
        </p:nvGraphicFramePr>
        <p:xfrm>
          <a:off x="548640" y="2606040"/>
          <a:ext cx="10728655" cy="914400"/>
        </p:xfrm>
        <a:graphic>
          <a:graphicData uri="http://schemas.openxmlformats.org/drawingml/2006/table">
            <a:tbl>
              <a:tblPr/>
              <a:tblGrid>
                <a:gridCol w="640080"/>
                <a:gridCol w="3474720"/>
                <a:gridCol w="2194560"/>
                <a:gridCol w="1325880"/>
                <a:gridCol w="1234440"/>
                <a:gridCol w="1856232"/>
              </a:tblGrid>
              <a:tr h="438912">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NO</a:t>
                      </a:r>
                      <a:endParaRPr lang="en-US" sz="900" dirty="0">
                        <a:latin typeface="Inter" charset="0"/>
                        <a:ea typeface="Inter" charset="0"/>
                        <a:cs typeface="Inter" charset="0"/>
                      </a:endParaRPr>
                    </a:p>
                  </a:txBody>
                  <a:tcPr marL="0"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WORK PACKAGE</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RESPONSIBLE</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900" spc="-20" kern="0" dirty="0">
                          <a:solidFill>
                            <a:srgbClr val="707981"/>
                          </a:solidFill>
                          <a:latin typeface="Inter" pitchFamily="34" charset="0"/>
                          <a:ea typeface="Inter" pitchFamily="34" charset="-122"/>
                          <a:cs typeface="Inter" pitchFamily="34" charset="-120"/>
                        </a:rPr>
                        <a:t>DUE</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900" spc="-20" kern="0" dirty="0">
                          <a:solidFill>
                            <a:srgbClr val="707981"/>
                          </a:solidFill>
                          <a:latin typeface="Inter" pitchFamily="34" charset="0"/>
                          <a:ea typeface="Inter" pitchFamily="34" charset="-122"/>
                          <a:cs typeface="Inter" pitchFamily="34" charset="-120"/>
                        </a:rPr>
                        <a:t>EFFORT</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STATUS</a:t>
                      </a:r>
                      <a:endParaRPr lang="en-US" sz="900" dirty="0">
                        <a:latin typeface="Inter" charset="0"/>
                        <a:ea typeface="Inter" charset="0"/>
                        <a:cs typeface="Inter" charset="0"/>
                      </a:endParaRPr>
                    </a:p>
                  </a:txBody>
                  <a:tcPr marL="320040"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01</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Requirements and specification</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A. Roth</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31 Mar 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8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111418"/>
                          </a:solidFill>
                          <a:latin typeface="Inter" pitchFamily="34" charset="0"/>
                          <a:ea typeface="Inter" pitchFamily="34" charset="-122"/>
                          <a:cs typeface="Inter" pitchFamily="34" charset="-120"/>
                        </a:rPr>
                        <a:t>DONE</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02</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Concept variants A and B</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Design team</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 Jun 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22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111418"/>
                          </a:solidFill>
                          <a:latin typeface="Inter" pitchFamily="34" charset="0"/>
                          <a:ea typeface="Inter" pitchFamily="34" charset="-122"/>
                          <a:cs typeface="Inter" pitchFamily="34" charset="-120"/>
                        </a:rPr>
                        <a:t>DONE</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5C77A"/>
                          </a:solidFill>
                          <a:latin typeface="Inter" pitchFamily="34" charset="0"/>
                          <a:ea typeface="Inter" pitchFamily="34" charset="-122"/>
                          <a:cs typeface="Inter" pitchFamily="34" charset="-120"/>
                        </a:rPr>
                        <a:t>03</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Simulation of strength and flow</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Simulation team</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 Nov 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12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25C77A"/>
                          </a:solidFill>
                          <a:latin typeface="Inter" pitchFamily="34" charset="0"/>
                          <a:ea typeface="Inter" pitchFamily="34" charset="-122"/>
                          <a:cs typeface="Inter" pitchFamily="34" charset="-120"/>
                        </a:rPr>
                        <a:t>ACTIVE</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04</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Prototype and functional test</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Workshop</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28 Feb 2027</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18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OPEN</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05</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Series preparation and documentation</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A. Roth</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 Apr 2027</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10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OPEN</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Total</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70 days</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13</a:t>
            </a:fld>
            <a:endParaRPr lang="en-US"/>
          </a:p>
        </p:txBody>
      </p:sp>
      <p:sp>
        <p:nvSpPr>
          <p:cNvPr id="7"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SIMULATION AND RESULTS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Fewer parts, less risk</a:t>
            </a:r>
            <a:endParaRPr lang="en-US" sz="3400" dirty="0"/>
          </a:p>
        </p:txBody>
      </p:sp>
      <p:graphicFrame>
        <p:nvGraphicFramePr>
          <p:cNvPr id="5" name="Diagramm Teile" descr=""/>
          <p:cNvGraphicFramePr/>
          <p:nvPr/>
        </p:nvGraphicFramePr>
        <p:xfrm>
          <a:off x="548640" y="2560320"/>
          <a:ext cx="6675120" cy="3291840"/>
        </p:xfrm>
        <a:graphic xmlns:a="http://schemas.openxmlformats.org/drawingml/2006/main">
          <a:graphicData uri="http://schemas.openxmlformats.org/drawingml/2006/chart">
            <c:chart xmlns:c="http://schemas.openxmlformats.org/drawingml/2006/chart" r:id="rId1"/>
          </a:graphicData>
        </a:graphic>
      </p:graphicFrame>
      <p:sp>
        <p:nvSpPr>
          <p:cNvPr id="6" name="Diagrammlegende"/>
          <p:cNvSpPr txBox="1"/>
          <p:nvPr/>
        </p:nvSpPr>
        <p:spPr>
          <a:xfrm>
            <a:off x="548640" y="5897880"/>
            <a:ext cx="6675120" cy="228600"/>
          </a:xfrm>
          <a:prstGeom prst="rect">
            <a:avLst/>
          </a:prstGeom>
          <a:noFill/>
          <a:ln/>
        </p:spPr>
        <p:txBody>
          <a:bodyPr wrap="square" lIns="0" tIns="0" rIns="0" bIns="0" rtlCol="0" anchor="ctr"/>
          <a:lstStyle/>
          <a:p>
            <a:pPr indent="0" marL="0">
              <a:buNone/>
            </a:pPr>
            <a:r>
              <a:rPr lang="en-US" sz="900" dirty="0">
                <a:solidFill>
                  <a:srgbClr val="707981"/>
                </a:solidFill>
              </a:rPr>
              <a:t>Count per assembly, as-is variant versus new variant</a:t>
            </a:r>
            <a:endParaRPr lang="en-US" sz="900" dirty="0"/>
          </a:p>
        </p:txBody>
      </p:sp>
      <p:sp>
        <p:nvSpPr>
          <p:cNvPr id="7" name="Trennlinie Kommentar"/>
          <p:cNvSpPr/>
          <p:nvPr/>
        </p:nvSpPr>
        <p:spPr>
          <a:xfrm>
            <a:off x="7680960" y="2606040"/>
            <a:ext cx="0" cy="3520440"/>
          </a:xfrm>
          <a:prstGeom prst="line">
            <a:avLst/>
          </a:prstGeom>
          <a:noFill/>
          <a:ln w="6350">
            <a:solidFill>
              <a:srgbClr val="A0A1A3"/>
            </a:solidFill>
            <a:prstDash val="solid"/>
          </a:ln>
        </p:spPr>
      </p:sp>
      <p:sp>
        <p:nvSpPr>
          <p:cNvPr id="8" name="Kommentar"/>
          <p:cNvSpPr txBox="1"/>
          <p:nvPr/>
        </p:nvSpPr>
        <p:spPr>
          <a:xfrm>
            <a:off x="8001000" y="2606040"/>
            <a:ext cx="3276295" cy="3520440"/>
          </a:xfrm>
          <a:prstGeom prst="rect">
            <a:avLst/>
          </a:prstGeom>
          <a:noFill/>
          <a:ln/>
        </p:spPr>
        <p:txBody>
          <a:bodyPr wrap="square" lIns="0" tIns="0" rIns="0" bIns="0" rtlCol="0" anchor="t"/>
          <a:lstStyle/>
          <a:p>
            <a:pPr indent="0" marL="0">
              <a:spcAft>
                <a:spcPts val="1000"/>
              </a:spcAft>
              <a:buNone/>
            </a:pPr>
            <a:r>
              <a:rPr lang="en-US" sz="2000" spc="-40" kern="0" dirty="0">
                <a:solidFill>
                  <a:srgbClr val="111418"/>
                </a:solidFill>
              </a:rPr>
              <a:t>38% fewer parts</a:t>
            </a:r>
            <a:endParaRPr lang="en-US" sz="2000" dirty="0"/>
          </a:p>
          <a:p>
            <a:pPr indent="0" marL="0">
              <a:lnSpc>
                <a:spcPct val="120000"/>
              </a:lnSpc>
              <a:spcAft>
                <a:spcPts val="1000"/>
              </a:spcAft>
              <a:buNone/>
            </a:pPr>
            <a:r>
              <a:rPr lang="en-US" sz="1200" dirty="0">
                <a:solidFill>
                  <a:srgbClr val="111418"/>
                </a:solidFill>
              </a:rPr>
              <a:t>The new assembly combines several sheet-metal parts into injection-moulded parts. This cuts assembly steps almost in half and suppliers from nine to five.</a:t>
            </a:r>
            <a:endParaRPr lang="en-US" sz="2000" dirty="0"/>
          </a:p>
          <a:p>
            <a:pPr indent="0" marL="0">
              <a:lnSpc>
                <a:spcPct val="120000"/>
              </a:lnSpc>
              <a:buNone/>
            </a:pPr>
            <a:r>
              <a:rPr lang="en-US" sz="1200" dirty="0">
                <a:solidFill>
                  <a:srgbClr val="707981"/>
                </a:solidFill>
              </a:rPr>
              <a:t>Next step: verify tooling costs with two suppliers.</a:t>
            </a:r>
            <a:endParaRPr lang="en-US" sz="20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14</a:t>
            </a:fld>
            <a:endParaRPr lang="en-US"/>
          </a:p>
        </p:txBody>
      </p:sp>
      <p:sp>
        <p:nvSpPr>
          <p:cNvPr id="1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SCHEDULE AND COSTS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Product creation 2026</a:t>
            </a:r>
            <a:endParaRPr lang="en-US" sz="3400" dirty="0"/>
          </a:p>
        </p:txBody>
      </p:sp>
      <p:sp>
        <p:nvSpPr>
          <p:cNvPr id="5" name="Monatslinie JAN"/>
          <p:cNvSpPr/>
          <p:nvPr/>
        </p:nvSpPr>
        <p:spPr>
          <a:xfrm>
            <a:off x="548640" y="2468880"/>
            <a:ext cx="0" cy="2816352"/>
          </a:xfrm>
          <a:prstGeom prst="line">
            <a:avLst/>
          </a:prstGeom>
          <a:noFill/>
          <a:ln w="6350">
            <a:solidFill>
              <a:srgbClr val="91A19B"/>
            </a:solidFill>
            <a:prstDash val="solid"/>
          </a:ln>
        </p:spPr>
      </p:sp>
      <p:sp>
        <p:nvSpPr>
          <p:cNvPr id="6" name="Monatslinie FEB"/>
          <p:cNvSpPr/>
          <p:nvPr/>
        </p:nvSpPr>
        <p:spPr>
          <a:xfrm>
            <a:off x="1366647" y="2468880"/>
            <a:ext cx="0" cy="2816352"/>
          </a:xfrm>
          <a:prstGeom prst="line">
            <a:avLst/>
          </a:prstGeom>
          <a:noFill/>
          <a:ln w="6350">
            <a:solidFill>
              <a:srgbClr val="91A19B"/>
            </a:solidFill>
            <a:prstDash val="solid"/>
          </a:ln>
        </p:spPr>
      </p:sp>
      <p:sp>
        <p:nvSpPr>
          <p:cNvPr id="7" name="Monatslinie MAR"/>
          <p:cNvSpPr/>
          <p:nvPr/>
        </p:nvSpPr>
        <p:spPr>
          <a:xfrm>
            <a:off x="2105492" y="2468880"/>
            <a:ext cx="0" cy="2816352"/>
          </a:xfrm>
          <a:prstGeom prst="line">
            <a:avLst/>
          </a:prstGeom>
          <a:noFill/>
          <a:ln w="6350">
            <a:solidFill>
              <a:srgbClr val="91A19B"/>
            </a:solidFill>
            <a:prstDash val="solid"/>
          </a:ln>
        </p:spPr>
      </p:sp>
      <p:sp>
        <p:nvSpPr>
          <p:cNvPr id="8" name="Monatslinie APR"/>
          <p:cNvSpPr/>
          <p:nvPr/>
        </p:nvSpPr>
        <p:spPr>
          <a:xfrm>
            <a:off x="2923500" y="2468880"/>
            <a:ext cx="0" cy="2816352"/>
          </a:xfrm>
          <a:prstGeom prst="line">
            <a:avLst/>
          </a:prstGeom>
          <a:noFill/>
          <a:ln w="6350">
            <a:solidFill>
              <a:srgbClr val="91A19B"/>
            </a:solidFill>
            <a:prstDash val="solid"/>
          </a:ln>
        </p:spPr>
      </p:sp>
      <p:sp>
        <p:nvSpPr>
          <p:cNvPr id="9" name="Monatslinie MAY"/>
          <p:cNvSpPr/>
          <p:nvPr/>
        </p:nvSpPr>
        <p:spPr>
          <a:xfrm>
            <a:off x="3715120" y="2468880"/>
            <a:ext cx="0" cy="2816352"/>
          </a:xfrm>
          <a:prstGeom prst="line">
            <a:avLst/>
          </a:prstGeom>
          <a:noFill/>
          <a:ln w="6350">
            <a:solidFill>
              <a:srgbClr val="91A19B"/>
            </a:solidFill>
            <a:prstDash val="solid"/>
          </a:ln>
        </p:spPr>
      </p:sp>
      <p:sp>
        <p:nvSpPr>
          <p:cNvPr id="10" name="Monatslinie JUN"/>
          <p:cNvSpPr/>
          <p:nvPr/>
        </p:nvSpPr>
        <p:spPr>
          <a:xfrm>
            <a:off x="4533127" y="2468880"/>
            <a:ext cx="0" cy="2816352"/>
          </a:xfrm>
          <a:prstGeom prst="line">
            <a:avLst/>
          </a:prstGeom>
          <a:noFill/>
          <a:ln w="6350">
            <a:solidFill>
              <a:srgbClr val="91A19B"/>
            </a:solidFill>
            <a:prstDash val="solid"/>
          </a:ln>
        </p:spPr>
      </p:sp>
      <p:sp>
        <p:nvSpPr>
          <p:cNvPr id="11" name="Monatslinie JUL"/>
          <p:cNvSpPr/>
          <p:nvPr/>
        </p:nvSpPr>
        <p:spPr>
          <a:xfrm>
            <a:off x="5324747" y="2468880"/>
            <a:ext cx="0" cy="2816352"/>
          </a:xfrm>
          <a:prstGeom prst="line">
            <a:avLst/>
          </a:prstGeom>
          <a:noFill/>
          <a:ln w="6350">
            <a:solidFill>
              <a:srgbClr val="91A19B"/>
            </a:solidFill>
            <a:prstDash val="solid"/>
          </a:ln>
        </p:spPr>
      </p:sp>
      <p:sp>
        <p:nvSpPr>
          <p:cNvPr id="12" name="Monatslinie AUG"/>
          <p:cNvSpPr/>
          <p:nvPr/>
        </p:nvSpPr>
        <p:spPr>
          <a:xfrm>
            <a:off x="6142754" y="2468880"/>
            <a:ext cx="0" cy="2816352"/>
          </a:xfrm>
          <a:prstGeom prst="line">
            <a:avLst/>
          </a:prstGeom>
          <a:noFill/>
          <a:ln w="6350">
            <a:solidFill>
              <a:srgbClr val="91A19B"/>
            </a:solidFill>
            <a:prstDash val="solid"/>
          </a:ln>
        </p:spPr>
      </p:sp>
      <p:sp>
        <p:nvSpPr>
          <p:cNvPr id="13" name="Monatslinie SEP"/>
          <p:cNvSpPr/>
          <p:nvPr/>
        </p:nvSpPr>
        <p:spPr>
          <a:xfrm>
            <a:off x="6960761" y="2468880"/>
            <a:ext cx="0" cy="2816352"/>
          </a:xfrm>
          <a:prstGeom prst="line">
            <a:avLst/>
          </a:prstGeom>
          <a:noFill/>
          <a:ln w="6350">
            <a:solidFill>
              <a:srgbClr val="91A19B"/>
            </a:solidFill>
            <a:prstDash val="solid"/>
          </a:ln>
        </p:spPr>
      </p:sp>
      <p:sp>
        <p:nvSpPr>
          <p:cNvPr id="14" name="Monatslinie OCT"/>
          <p:cNvSpPr/>
          <p:nvPr/>
        </p:nvSpPr>
        <p:spPr>
          <a:xfrm>
            <a:off x="7752381" y="2468880"/>
            <a:ext cx="0" cy="2816352"/>
          </a:xfrm>
          <a:prstGeom prst="line">
            <a:avLst/>
          </a:prstGeom>
          <a:noFill/>
          <a:ln w="6350">
            <a:solidFill>
              <a:srgbClr val="91A19B"/>
            </a:solidFill>
            <a:prstDash val="solid"/>
          </a:ln>
        </p:spPr>
      </p:sp>
      <p:sp>
        <p:nvSpPr>
          <p:cNvPr id="15" name="Monatslinie NOV"/>
          <p:cNvSpPr/>
          <p:nvPr/>
        </p:nvSpPr>
        <p:spPr>
          <a:xfrm>
            <a:off x="8570388" y="2468880"/>
            <a:ext cx="0" cy="2816352"/>
          </a:xfrm>
          <a:prstGeom prst="line">
            <a:avLst/>
          </a:prstGeom>
          <a:noFill/>
          <a:ln w="6350">
            <a:solidFill>
              <a:srgbClr val="91A19B"/>
            </a:solidFill>
            <a:prstDash val="solid"/>
          </a:ln>
        </p:spPr>
      </p:sp>
      <p:sp>
        <p:nvSpPr>
          <p:cNvPr id="16" name="Monatslinie DEC"/>
          <p:cNvSpPr/>
          <p:nvPr/>
        </p:nvSpPr>
        <p:spPr>
          <a:xfrm>
            <a:off x="9362008" y="2468880"/>
            <a:ext cx="0" cy="2816352"/>
          </a:xfrm>
          <a:prstGeom prst="line">
            <a:avLst/>
          </a:prstGeom>
          <a:noFill/>
          <a:ln w="6350">
            <a:solidFill>
              <a:srgbClr val="91A19B"/>
            </a:solidFill>
            <a:prstDash val="solid"/>
          </a:ln>
        </p:spPr>
      </p:sp>
      <p:sp>
        <p:nvSpPr>
          <p:cNvPr id="17" name="Monatslinie Ende"/>
          <p:cNvSpPr/>
          <p:nvPr/>
        </p:nvSpPr>
        <p:spPr>
          <a:xfrm>
            <a:off x="10180015" y="2468880"/>
            <a:ext cx="0" cy="2816352"/>
          </a:xfrm>
          <a:prstGeom prst="line">
            <a:avLst/>
          </a:prstGeom>
          <a:noFill/>
          <a:ln w="6350">
            <a:solidFill>
              <a:srgbClr val="91A19B"/>
            </a:solidFill>
            <a:prstDash val="solid"/>
          </a:ln>
        </p:spPr>
      </p:sp>
      <p:sp>
        <p:nvSpPr>
          <p:cNvPr id="18" name="Balken Pre-development"/>
          <p:cNvSpPr/>
          <p:nvPr/>
        </p:nvSpPr>
        <p:spPr>
          <a:xfrm>
            <a:off x="1366647" y="2601468"/>
            <a:ext cx="1556852" cy="246888"/>
          </a:xfrm>
          <a:prstGeom prst="rect">
            <a:avLst/>
          </a:prstGeom>
          <a:solidFill>
            <a:srgbClr val="25C77A"/>
          </a:solidFill>
          <a:ln w="12700">
            <a:solidFill>
              <a:srgbClr val="25C77A"/>
            </a:solidFill>
            <a:prstDash val="solid"/>
          </a:ln>
        </p:spPr>
      </p:sp>
      <p:sp>
        <p:nvSpPr>
          <p:cNvPr id="19" name="Balken Text Pre-development"/>
          <p:cNvSpPr txBox="1"/>
          <p:nvPr/>
        </p:nvSpPr>
        <p:spPr>
          <a:xfrm>
            <a:off x="1439799" y="2601468"/>
            <a:ext cx="1465412" cy="246888"/>
          </a:xfrm>
          <a:prstGeom prst="rect">
            <a:avLst/>
          </a:prstGeom>
          <a:noFill/>
          <a:ln/>
        </p:spPr>
        <p:txBody>
          <a:bodyPr wrap="square" lIns="0" tIns="0" rIns="0" bIns="0" rtlCol="0" anchor="ctr"/>
          <a:lstStyle/>
          <a:p>
            <a:pPr indent="0" marL="0">
              <a:buNone/>
            </a:pPr>
            <a:r>
              <a:rPr lang="en-US" sz="1000" dirty="0">
                <a:solidFill>
                  <a:srgbClr val="111418"/>
                </a:solidFill>
              </a:rPr>
              <a:t>Pre-development</a:t>
            </a:r>
            <a:endParaRPr lang="en-US" sz="1000" dirty="0"/>
          </a:p>
        </p:txBody>
      </p:sp>
      <p:sp>
        <p:nvSpPr>
          <p:cNvPr id="20" name="Dauer Pre-development"/>
          <p:cNvSpPr txBox="1"/>
          <p:nvPr/>
        </p:nvSpPr>
        <p:spPr>
          <a:xfrm>
            <a:off x="763143" y="2601468"/>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59 days</a:t>
            </a:r>
            <a:endParaRPr lang="en-US" sz="850" dirty="0"/>
          </a:p>
        </p:txBody>
      </p:sp>
      <p:sp>
        <p:nvSpPr>
          <p:cNvPr id="21" name="Datum Pre-development"/>
          <p:cNvSpPr txBox="1"/>
          <p:nvPr/>
        </p:nvSpPr>
        <p:spPr>
          <a:xfrm>
            <a:off x="2996652" y="2601468"/>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 Feb - 31 Mar</a:t>
            </a:r>
            <a:endParaRPr lang="en-US" sz="850" dirty="0"/>
          </a:p>
        </p:txBody>
      </p:sp>
      <p:sp>
        <p:nvSpPr>
          <p:cNvPr id="22" name="Balken Product definition"/>
          <p:cNvSpPr/>
          <p:nvPr/>
        </p:nvSpPr>
        <p:spPr>
          <a:xfrm>
            <a:off x="1736070" y="2930652"/>
            <a:ext cx="1979050" cy="246888"/>
          </a:xfrm>
          <a:prstGeom prst="rect">
            <a:avLst/>
          </a:prstGeom>
          <a:solidFill>
            <a:srgbClr val="B7F3D0"/>
          </a:solidFill>
          <a:ln w="12700">
            <a:solidFill>
              <a:srgbClr val="B7F3D0"/>
            </a:solidFill>
            <a:prstDash val="solid"/>
          </a:ln>
        </p:spPr>
      </p:sp>
      <p:sp>
        <p:nvSpPr>
          <p:cNvPr id="23" name="Balken Text Product definition"/>
          <p:cNvSpPr txBox="1"/>
          <p:nvPr/>
        </p:nvSpPr>
        <p:spPr>
          <a:xfrm>
            <a:off x="1809222" y="2930652"/>
            <a:ext cx="1887610" cy="246888"/>
          </a:xfrm>
          <a:prstGeom prst="rect">
            <a:avLst/>
          </a:prstGeom>
          <a:noFill/>
          <a:ln/>
        </p:spPr>
        <p:txBody>
          <a:bodyPr wrap="square" lIns="0" tIns="0" rIns="0" bIns="0" rtlCol="0" anchor="ctr"/>
          <a:lstStyle/>
          <a:p>
            <a:pPr indent="0" marL="0">
              <a:buNone/>
            </a:pPr>
            <a:r>
              <a:rPr lang="en-US" sz="1000" dirty="0">
                <a:solidFill>
                  <a:srgbClr val="111418"/>
                </a:solidFill>
              </a:rPr>
              <a:t>Product definition</a:t>
            </a:r>
            <a:endParaRPr lang="en-US" sz="1000" dirty="0"/>
          </a:p>
        </p:txBody>
      </p:sp>
      <p:sp>
        <p:nvSpPr>
          <p:cNvPr id="24" name="Dauer Product definition"/>
          <p:cNvSpPr txBox="1"/>
          <p:nvPr/>
        </p:nvSpPr>
        <p:spPr>
          <a:xfrm>
            <a:off x="1132566" y="2930652"/>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75 days</a:t>
            </a:r>
            <a:endParaRPr lang="en-US" sz="850" dirty="0"/>
          </a:p>
        </p:txBody>
      </p:sp>
      <p:sp>
        <p:nvSpPr>
          <p:cNvPr id="25" name="Datum Product definition"/>
          <p:cNvSpPr txBox="1"/>
          <p:nvPr/>
        </p:nvSpPr>
        <p:spPr>
          <a:xfrm>
            <a:off x="3788272" y="2930652"/>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 Feb - 30 Apr</a:t>
            </a:r>
            <a:endParaRPr lang="en-US" sz="850" dirty="0"/>
          </a:p>
        </p:txBody>
      </p:sp>
      <p:sp>
        <p:nvSpPr>
          <p:cNvPr id="26" name="Balken Concept development"/>
          <p:cNvSpPr/>
          <p:nvPr/>
        </p:nvSpPr>
        <p:spPr>
          <a:xfrm>
            <a:off x="2923500" y="3259836"/>
            <a:ext cx="2005437" cy="246888"/>
          </a:xfrm>
          <a:prstGeom prst="rect">
            <a:avLst/>
          </a:prstGeom>
          <a:solidFill>
            <a:srgbClr val="B7F3D0"/>
          </a:solidFill>
          <a:ln w="12700">
            <a:solidFill>
              <a:srgbClr val="B7F3D0"/>
            </a:solidFill>
            <a:prstDash val="solid"/>
          </a:ln>
        </p:spPr>
      </p:sp>
      <p:sp>
        <p:nvSpPr>
          <p:cNvPr id="27" name="Balken Text Concept development"/>
          <p:cNvSpPr txBox="1"/>
          <p:nvPr/>
        </p:nvSpPr>
        <p:spPr>
          <a:xfrm>
            <a:off x="2996652" y="3259836"/>
            <a:ext cx="1913997" cy="246888"/>
          </a:xfrm>
          <a:prstGeom prst="rect">
            <a:avLst/>
          </a:prstGeom>
          <a:noFill/>
          <a:ln/>
        </p:spPr>
        <p:txBody>
          <a:bodyPr wrap="square" lIns="0" tIns="0" rIns="0" bIns="0" rtlCol="0" anchor="ctr"/>
          <a:lstStyle/>
          <a:p>
            <a:pPr indent="0" marL="0">
              <a:buNone/>
            </a:pPr>
            <a:r>
              <a:rPr lang="en-US" sz="1000" dirty="0">
                <a:solidFill>
                  <a:srgbClr val="111418"/>
                </a:solidFill>
              </a:rPr>
              <a:t>Concept development</a:t>
            </a:r>
            <a:endParaRPr lang="en-US" sz="1000" dirty="0"/>
          </a:p>
        </p:txBody>
      </p:sp>
      <p:sp>
        <p:nvSpPr>
          <p:cNvPr id="28" name="Dauer Concept development"/>
          <p:cNvSpPr txBox="1"/>
          <p:nvPr/>
        </p:nvSpPr>
        <p:spPr>
          <a:xfrm>
            <a:off x="2319996" y="3259836"/>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76 days</a:t>
            </a:r>
            <a:endParaRPr lang="en-US" sz="850" dirty="0"/>
          </a:p>
        </p:txBody>
      </p:sp>
      <p:sp>
        <p:nvSpPr>
          <p:cNvPr id="29" name="Datum Concept development"/>
          <p:cNvSpPr txBox="1"/>
          <p:nvPr/>
        </p:nvSpPr>
        <p:spPr>
          <a:xfrm>
            <a:off x="5002089" y="3259836"/>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 Apr - 15 Jun</a:t>
            </a:r>
            <a:endParaRPr lang="en-US" sz="850" dirty="0"/>
          </a:p>
        </p:txBody>
      </p:sp>
      <p:sp>
        <p:nvSpPr>
          <p:cNvPr id="30" name="Balken Series development"/>
          <p:cNvSpPr/>
          <p:nvPr/>
        </p:nvSpPr>
        <p:spPr>
          <a:xfrm>
            <a:off x="4533127" y="3589020"/>
            <a:ext cx="2427634" cy="246888"/>
          </a:xfrm>
          <a:prstGeom prst="rect">
            <a:avLst/>
          </a:prstGeom>
          <a:solidFill>
            <a:srgbClr val="707981"/>
          </a:solidFill>
          <a:ln w="12700">
            <a:solidFill>
              <a:srgbClr val="707981"/>
            </a:solidFill>
            <a:prstDash val="solid"/>
          </a:ln>
        </p:spPr>
      </p:sp>
      <p:sp>
        <p:nvSpPr>
          <p:cNvPr id="31" name="Balken Text Series development"/>
          <p:cNvSpPr txBox="1"/>
          <p:nvPr/>
        </p:nvSpPr>
        <p:spPr>
          <a:xfrm>
            <a:off x="4606279" y="3589020"/>
            <a:ext cx="2336194" cy="246888"/>
          </a:xfrm>
          <a:prstGeom prst="rect">
            <a:avLst/>
          </a:prstGeom>
          <a:noFill/>
          <a:ln/>
        </p:spPr>
        <p:txBody>
          <a:bodyPr wrap="square" lIns="0" tIns="0" rIns="0" bIns="0" rtlCol="0" anchor="ctr"/>
          <a:lstStyle/>
          <a:p>
            <a:pPr indent="0" marL="0">
              <a:buNone/>
            </a:pPr>
            <a:r>
              <a:rPr lang="en-US" sz="1000" dirty="0">
                <a:solidFill>
                  <a:srgbClr val="FFFFFF"/>
                </a:solidFill>
              </a:rPr>
              <a:t>Series development</a:t>
            </a:r>
            <a:endParaRPr lang="en-US" sz="1000" dirty="0"/>
          </a:p>
        </p:txBody>
      </p:sp>
      <p:sp>
        <p:nvSpPr>
          <p:cNvPr id="32" name="Dauer Series development"/>
          <p:cNvSpPr txBox="1"/>
          <p:nvPr/>
        </p:nvSpPr>
        <p:spPr>
          <a:xfrm>
            <a:off x="3929623" y="3589020"/>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92 days</a:t>
            </a:r>
            <a:endParaRPr lang="en-US" sz="850" dirty="0"/>
          </a:p>
        </p:txBody>
      </p:sp>
      <p:sp>
        <p:nvSpPr>
          <p:cNvPr id="33" name="Datum Series development"/>
          <p:cNvSpPr txBox="1"/>
          <p:nvPr/>
        </p:nvSpPr>
        <p:spPr>
          <a:xfrm>
            <a:off x="7033913" y="3589020"/>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 Jun - 31 Aug</a:t>
            </a:r>
            <a:endParaRPr lang="en-US" sz="850" dirty="0"/>
          </a:p>
        </p:txBody>
      </p:sp>
      <p:sp>
        <p:nvSpPr>
          <p:cNvPr id="34" name="Balken Series preparation"/>
          <p:cNvSpPr/>
          <p:nvPr/>
        </p:nvSpPr>
        <p:spPr>
          <a:xfrm>
            <a:off x="5694169" y="3918204"/>
            <a:ext cx="2058212" cy="246888"/>
          </a:xfrm>
          <a:prstGeom prst="rect">
            <a:avLst/>
          </a:prstGeom>
          <a:solidFill>
            <a:srgbClr val="707981"/>
          </a:solidFill>
          <a:ln w="12700">
            <a:solidFill>
              <a:srgbClr val="707981"/>
            </a:solidFill>
            <a:prstDash val="solid"/>
          </a:ln>
        </p:spPr>
      </p:sp>
      <p:sp>
        <p:nvSpPr>
          <p:cNvPr id="35" name="Balken Text Series preparation"/>
          <p:cNvSpPr txBox="1"/>
          <p:nvPr/>
        </p:nvSpPr>
        <p:spPr>
          <a:xfrm>
            <a:off x="5767321" y="3918204"/>
            <a:ext cx="1966772" cy="246888"/>
          </a:xfrm>
          <a:prstGeom prst="rect">
            <a:avLst/>
          </a:prstGeom>
          <a:noFill/>
          <a:ln/>
        </p:spPr>
        <p:txBody>
          <a:bodyPr wrap="square" lIns="0" tIns="0" rIns="0" bIns="0" rtlCol="0" anchor="ctr"/>
          <a:lstStyle/>
          <a:p>
            <a:pPr indent="0" marL="0">
              <a:buNone/>
            </a:pPr>
            <a:r>
              <a:rPr lang="en-US" sz="1000" dirty="0">
                <a:solidFill>
                  <a:srgbClr val="FFFFFF"/>
                </a:solidFill>
              </a:rPr>
              <a:t>Series preparation</a:t>
            </a:r>
            <a:endParaRPr lang="en-US" sz="1000" dirty="0"/>
          </a:p>
        </p:txBody>
      </p:sp>
      <p:sp>
        <p:nvSpPr>
          <p:cNvPr id="36" name="Dauer Series preparation"/>
          <p:cNvSpPr txBox="1"/>
          <p:nvPr/>
        </p:nvSpPr>
        <p:spPr>
          <a:xfrm>
            <a:off x="5090665" y="3918204"/>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78 days</a:t>
            </a:r>
            <a:endParaRPr lang="en-US" sz="850" dirty="0"/>
          </a:p>
        </p:txBody>
      </p:sp>
      <p:sp>
        <p:nvSpPr>
          <p:cNvPr id="37" name="Datum Series preparation"/>
          <p:cNvSpPr txBox="1"/>
          <p:nvPr/>
        </p:nvSpPr>
        <p:spPr>
          <a:xfrm>
            <a:off x="7825533" y="3918204"/>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 Jul - 30 Sep</a:t>
            </a:r>
            <a:endParaRPr lang="en-US" sz="850" dirty="0"/>
          </a:p>
        </p:txBody>
      </p:sp>
      <p:sp>
        <p:nvSpPr>
          <p:cNvPr id="38" name="Balken Ramp-up"/>
          <p:cNvSpPr/>
          <p:nvPr/>
        </p:nvSpPr>
        <p:spPr>
          <a:xfrm>
            <a:off x="6960761" y="4247388"/>
            <a:ext cx="1187430" cy="246888"/>
          </a:xfrm>
          <a:prstGeom prst="rect">
            <a:avLst/>
          </a:prstGeom>
          <a:solidFill>
            <a:srgbClr val="25C77A"/>
          </a:solidFill>
          <a:ln w="12700">
            <a:solidFill>
              <a:srgbClr val="25C77A"/>
            </a:solidFill>
            <a:prstDash val="solid"/>
          </a:ln>
        </p:spPr>
      </p:sp>
      <p:sp>
        <p:nvSpPr>
          <p:cNvPr id="39" name="Balken Text Ramp-up"/>
          <p:cNvSpPr txBox="1"/>
          <p:nvPr/>
        </p:nvSpPr>
        <p:spPr>
          <a:xfrm>
            <a:off x="7033913" y="4247388"/>
            <a:ext cx="1095990" cy="246888"/>
          </a:xfrm>
          <a:prstGeom prst="rect">
            <a:avLst/>
          </a:prstGeom>
          <a:noFill/>
          <a:ln/>
        </p:spPr>
        <p:txBody>
          <a:bodyPr wrap="square" lIns="0" tIns="0" rIns="0" bIns="0" rtlCol="0" anchor="ctr"/>
          <a:lstStyle/>
          <a:p>
            <a:pPr indent="0" marL="0">
              <a:buNone/>
            </a:pPr>
            <a:r>
              <a:rPr lang="en-US" sz="1000" dirty="0">
                <a:solidFill>
                  <a:srgbClr val="111418"/>
                </a:solidFill>
              </a:rPr>
              <a:t>Ramp-up</a:t>
            </a:r>
            <a:endParaRPr lang="en-US" sz="1000" dirty="0"/>
          </a:p>
        </p:txBody>
      </p:sp>
      <p:sp>
        <p:nvSpPr>
          <p:cNvPr id="40" name="Dauer Ramp-up"/>
          <p:cNvSpPr txBox="1"/>
          <p:nvPr/>
        </p:nvSpPr>
        <p:spPr>
          <a:xfrm>
            <a:off x="6357257" y="4247388"/>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45 days</a:t>
            </a:r>
            <a:endParaRPr lang="en-US" sz="850" dirty="0"/>
          </a:p>
        </p:txBody>
      </p:sp>
      <p:sp>
        <p:nvSpPr>
          <p:cNvPr id="41" name="Datum Ramp-up"/>
          <p:cNvSpPr txBox="1"/>
          <p:nvPr/>
        </p:nvSpPr>
        <p:spPr>
          <a:xfrm>
            <a:off x="8221343" y="4247388"/>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 Sep - 15 Oct</a:t>
            </a:r>
            <a:endParaRPr lang="en-US" sz="850" dirty="0"/>
          </a:p>
        </p:txBody>
      </p:sp>
      <p:sp>
        <p:nvSpPr>
          <p:cNvPr id="42" name="Balken Series"/>
          <p:cNvSpPr/>
          <p:nvPr/>
        </p:nvSpPr>
        <p:spPr>
          <a:xfrm>
            <a:off x="7752381" y="4576572"/>
            <a:ext cx="1609627" cy="246888"/>
          </a:xfrm>
          <a:prstGeom prst="rect">
            <a:avLst/>
          </a:prstGeom>
          <a:solidFill>
            <a:srgbClr val="B7F3D0"/>
          </a:solidFill>
          <a:ln w="12700">
            <a:solidFill>
              <a:srgbClr val="B7F3D0"/>
            </a:solidFill>
            <a:prstDash val="solid"/>
          </a:ln>
        </p:spPr>
      </p:sp>
      <p:sp>
        <p:nvSpPr>
          <p:cNvPr id="43" name="Balken Text Series"/>
          <p:cNvSpPr txBox="1"/>
          <p:nvPr/>
        </p:nvSpPr>
        <p:spPr>
          <a:xfrm>
            <a:off x="7825533" y="4576572"/>
            <a:ext cx="1518187" cy="246888"/>
          </a:xfrm>
          <a:prstGeom prst="rect">
            <a:avLst/>
          </a:prstGeom>
          <a:noFill/>
          <a:ln/>
        </p:spPr>
        <p:txBody>
          <a:bodyPr wrap="square" lIns="0" tIns="0" rIns="0" bIns="0" rtlCol="0" anchor="ctr"/>
          <a:lstStyle/>
          <a:p>
            <a:pPr indent="0" marL="0">
              <a:buNone/>
            </a:pPr>
            <a:r>
              <a:rPr lang="en-US" sz="1000" dirty="0">
                <a:solidFill>
                  <a:srgbClr val="111418"/>
                </a:solidFill>
              </a:rPr>
              <a:t>Series</a:t>
            </a:r>
            <a:endParaRPr lang="en-US" sz="1000" dirty="0"/>
          </a:p>
        </p:txBody>
      </p:sp>
      <p:sp>
        <p:nvSpPr>
          <p:cNvPr id="44" name="Dauer Series"/>
          <p:cNvSpPr txBox="1"/>
          <p:nvPr/>
        </p:nvSpPr>
        <p:spPr>
          <a:xfrm>
            <a:off x="7148877" y="4576572"/>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61 days</a:t>
            </a:r>
            <a:endParaRPr lang="en-US" sz="850" dirty="0"/>
          </a:p>
        </p:txBody>
      </p:sp>
      <p:sp>
        <p:nvSpPr>
          <p:cNvPr id="45" name="Datum Series"/>
          <p:cNvSpPr txBox="1"/>
          <p:nvPr/>
        </p:nvSpPr>
        <p:spPr>
          <a:xfrm>
            <a:off x="9435160" y="4576572"/>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 Oct - 30 Nov</a:t>
            </a:r>
            <a:endParaRPr lang="en-US" sz="850" dirty="0"/>
          </a:p>
        </p:txBody>
      </p:sp>
      <p:sp>
        <p:nvSpPr>
          <p:cNvPr id="46" name="Balken Product care"/>
          <p:cNvSpPr/>
          <p:nvPr/>
        </p:nvSpPr>
        <p:spPr>
          <a:xfrm>
            <a:off x="8939811" y="4905756"/>
            <a:ext cx="1240204" cy="246888"/>
          </a:xfrm>
          <a:prstGeom prst="rect">
            <a:avLst/>
          </a:prstGeom>
          <a:solidFill>
            <a:srgbClr val="B7F3D0"/>
          </a:solidFill>
          <a:ln w="12700">
            <a:solidFill>
              <a:srgbClr val="B7F3D0"/>
            </a:solidFill>
            <a:prstDash val="solid"/>
          </a:ln>
        </p:spPr>
      </p:sp>
      <p:sp>
        <p:nvSpPr>
          <p:cNvPr id="47" name="Balken Text Product care"/>
          <p:cNvSpPr txBox="1"/>
          <p:nvPr/>
        </p:nvSpPr>
        <p:spPr>
          <a:xfrm>
            <a:off x="9012963" y="4905756"/>
            <a:ext cx="1148764" cy="246888"/>
          </a:xfrm>
          <a:prstGeom prst="rect">
            <a:avLst/>
          </a:prstGeom>
          <a:noFill/>
          <a:ln/>
        </p:spPr>
        <p:txBody>
          <a:bodyPr wrap="square" lIns="0" tIns="0" rIns="0" bIns="0" rtlCol="0" anchor="ctr"/>
          <a:lstStyle/>
          <a:p>
            <a:pPr indent="0" marL="0">
              <a:buNone/>
            </a:pPr>
            <a:r>
              <a:rPr lang="en-US" sz="1000" dirty="0">
                <a:solidFill>
                  <a:srgbClr val="111418"/>
                </a:solidFill>
              </a:rPr>
              <a:t>Product care</a:t>
            </a:r>
            <a:endParaRPr lang="en-US" sz="1000" dirty="0"/>
          </a:p>
        </p:txBody>
      </p:sp>
      <p:sp>
        <p:nvSpPr>
          <p:cNvPr id="48" name="Dauer Product care"/>
          <p:cNvSpPr txBox="1"/>
          <p:nvPr/>
        </p:nvSpPr>
        <p:spPr>
          <a:xfrm>
            <a:off x="8336307" y="4905756"/>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47 days</a:t>
            </a:r>
            <a:endParaRPr lang="en-US" sz="850" dirty="0"/>
          </a:p>
        </p:txBody>
      </p:sp>
      <p:sp>
        <p:nvSpPr>
          <p:cNvPr id="49" name="Datum Product care"/>
          <p:cNvSpPr txBox="1"/>
          <p:nvPr/>
        </p:nvSpPr>
        <p:spPr>
          <a:xfrm>
            <a:off x="10253167" y="4905756"/>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 Nov - 31 Dec</a:t>
            </a:r>
            <a:endParaRPr lang="en-US" sz="850" dirty="0"/>
          </a:p>
        </p:txBody>
      </p:sp>
      <p:sp>
        <p:nvSpPr>
          <p:cNvPr id="50" name="Heute-Linie"/>
          <p:cNvSpPr/>
          <p:nvPr/>
        </p:nvSpPr>
        <p:spPr>
          <a:xfrm>
            <a:off x="8134997" y="2468880"/>
            <a:ext cx="0" cy="2816352"/>
          </a:xfrm>
          <a:prstGeom prst="line">
            <a:avLst/>
          </a:prstGeom>
          <a:noFill/>
          <a:ln w="6350">
            <a:solidFill>
              <a:srgbClr val="25C77A"/>
            </a:solidFill>
            <a:prstDash val="solid"/>
          </a:ln>
        </p:spPr>
      </p:sp>
      <p:sp>
        <p:nvSpPr>
          <p:cNvPr id="51" name="Legende IdeeRoth"/>
          <p:cNvSpPr/>
          <p:nvPr/>
        </p:nvSpPr>
        <p:spPr>
          <a:xfrm>
            <a:off x="7436815" y="2103120"/>
            <a:ext cx="137160" cy="137160"/>
          </a:xfrm>
          <a:prstGeom prst="rect">
            <a:avLst/>
          </a:prstGeom>
          <a:solidFill>
            <a:srgbClr val="25C77A"/>
          </a:solidFill>
          <a:ln w="12700">
            <a:solidFill>
              <a:srgbClr val="25C77A"/>
            </a:solidFill>
            <a:prstDash val="solid"/>
          </a:ln>
        </p:spPr>
      </p:sp>
      <p:sp>
        <p:nvSpPr>
          <p:cNvPr id="52" name="Legende Text IdeeRoth"/>
          <p:cNvSpPr txBox="1"/>
          <p:nvPr/>
        </p:nvSpPr>
        <p:spPr>
          <a:xfrm>
            <a:off x="763798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IdeeRoth</a:t>
            </a:r>
            <a:endParaRPr lang="en-US" sz="800" dirty="0"/>
          </a:p>
        </p:txBody>
      </p:sp>
      <p:sp>
        <p:nvSpPr>
          <p:cNvPr id="53" name="Legende Joint"/>
          <p:cNvSpPr/>
          <p:nvPr/>
        </p:nvSpPr>
        <p:spPr>
          <a:xfrm>
            <a:off x="8762695" y="2103120"/>
            <a:ext cx="137160" cy="137160"/>
          </a:xfrm>
          <a:prstGeom prst="rect">
            <a:avLst/>
          </a:prstGeom>
          <a:solidFill>
            <a:srgbClr val="B7F3D0"/>
          </a:solidFill>
          <a:ln w="12700">
            <a:solidFill>
              <a:srgbClr val="B7F3D0"/>
            </a:solidFill>
            <a:prstDash val="solid"/>
          </a:ln>
        </p:spPr>
      </p:sp>
      <p:sp>
        <p:nvSpPr>
          <p:cNvPr id="54" name="Legende Text Joint"/>
          <p:cNvSpPr txBox="1"/>
          <p:nvPr/>
        </p:nvSpPr>
        <p:spPr>
          <a:xfrm>
            <a:off x="896386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Joint</a:t>
            </a:r>
            <a:endParaRPr lang="en-US" sz="800" dirty="0"/>
          </a:p>
        </p:txBody>
      </p:sp>
      <p:sp>
        <p:nvSpPr>
          <p:cNvPr id="55" name="Legende Customer / supplier"/>
          <p:cNvSpPr/>
          <p:nvPr/>
        </p:nvSpPr>
        <p:spPr>
          <a:xfrm>
            <a:off x="10088575" y="2103120"/>
            <a:ext cx="137160" cy="137160"/>
          </a:xfrm>
          <a:prstGeom prst="rect">
            <a:avLst/>
          </a:prstGeom>
          <a:solidFill>
            <a:srgbClr val="707981"/>
          </a:solidFill>
          <a:ln w="12700">
            <a:solidFill>
              <a:srgbClr val="707981"/>
            </a:solidFill>
            <a:prstDash val="solid"/>
          </a:ln>
        </p:spPr>
      </p:sp>
      <p:sp>
        <p:nvSpPr>
          <p:cNvPr id="56" name="Legende Text Customer / supplier"/>
          <p:cNvSpPr txBox="1"/>
          <p:nvPr/>
        </p:nvSpPr>
        <p:spPr>
          <a:xfrm>
            <a:off x="1028974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Customer / supplier</a:t>
            </a:r>
            <a:endParaRPr lang="en-US" sz="800" dirty="0"/>
          </a:p>
        </p:txBody>
      </p:sp>
      <p:sp>
        <p:nvSpPr>
          <p:cNvPr id="57" name="Monatsband"/>
          <p:cNvSpPr/>
          <p:nvPr/>
        </p:nvSpPr>
        <p:spPr>
          <a:xfrm>
            <a:off x="548640" y="5285232"/>
            <a:ext cx="9631375" cy="310896"/>
          </a:xfrm>
          <a:prstGeom prst="rect">
            <a:avLst/>
          </a:prstGeom>
          <a:solidFill>
            <a:srgbClr val="111418"/>
          </a:solidFill>
          <a:ln w="12700">
            <a:solidFill>
              <a:srgbClr val="111418"/>
            </a:solidFill>
            <a:prstDash val="solid"/>
          </a:ln>
        </p:spPr>
      </p:sp>
      <p:sp>
        <p:nvSpPr>
          <p:cNvPr id="58" name="Monat JAN"/>
          <p:cNvSpPr txBox="1"/>
          <p:nvPr/>
        </p:nvSpPr>
        <p:spPr>
          <a:xfrm>
            <a:off x="62179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JAN</a:t>
            </a:r>
            <a:endParaRPr lang="en-US" sz="900" dirty="0"/>
          </a:p>
        </p:txBody>
      </p:sp>
      <p:sp>
        <p:nvSpPr>
          <p:cNvPr id="59" name="Bandlinie FEB"/>
          <p:cNvSpPr/>
          <p:nvPr/>
        </p:nvSpPr>
        <p:spPr>
          <a:xfrm>
            <a:off x="1366647" y="5285232"/>
            <a:ext cx="0" cy="310896"/>
          </a:xfrm>
          <a:prstGeom prst="line">
            <a:avLst/>
          </a:prstGeom>
          <a:noFill/>
          <a:ln w="6350">
            <a:solidFill>
              <a:srgbClr val="707274"/>
            </a:solidFill>
            <a:prstDash val="solid"/>
          </a:ln>
        </p:spPr>
      </p:sp>
      <p:sp>
        <p:nvSpPr>
          <p:cNvPr id="60" name="Monat FEB"/>
          <p:cNvSpPr txBox="1"/>
          <p:nvPr/>
        </p:nvSpPr>
        <p:spPr>
          <a:xfrm>
            <a:off x="143979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FEB</a:t>
            </a:r>
            <a:endParaRPr lang="en-US" sz="900" dirty="0"/>
          </a:p>
        </p:txBody>
      </p:sp>
      <p:sp>
        <p:nvSpPr>
          <p:cNvPr id="61" name="Bandlinie MAR"/>
          <p:cNvSpPr/>
          <p:nvPr/>
        </p:nvSpPr>
        <p:spPr>
          <a:xfrm>
            <a:off x="2105492" y="5285232"/>
            <a:ext cx="0" cy="310896"/>
          </a:xfrm>
          <a:prstGeom prst="line">
            <a:avLst/>
          </a:prstGeom>
          <a:noFill/>
          <a:ln w="6350">
            <a:solidFill>
              <a:srgbClr val="707274"/>
            </a:solidFill>
            <a:prstDash val="solid"/>
          </a:ln>
        </p:spPr>
      </p:sp>
      <p:sp>
        <p:nvSpPr>
          <p:cNvPr id="62" name="Monat MAR"/>
          <p:cNvSpPr txBox="1"/>
          <p:nvPr/>
        </p:nvSpPr>
        <p:spPr>
          <a:xfrm>
            <a:off x="2178644"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MAR</a:t>
            </a:r>
            <a:endParaRPr lang="en-US" sz="900" dirty="0"/>
          </a:p>
        </p:txBody>
      </p:sp>
      <p:sp>
        <p:nvSpPr>
          <p:cNvPr id="63" name="Bandlinie APR"/>
          <p:cNvSpPr/>
          <p:nvPr/>
        </p:nvSpPr>
        <p:spPr>
          <a:xfrm>
            <a:off x="2923500" y="5285232"/>
            <a:ext cx="0" cy="310896"/>
          </a:xfrm>
          <a:prstGeom prst="line">
            <a:avLst/>
          </a:prstGeom>
          <a:noFill/>
          <a:ln w="6350">
            <a:solidFill>
              <a:srgbClr val="707274"/>
            </a:solidFill>
            <a:prstDash val="solid"/>
          </a:ln>
        </p:spPr>
      </p:sp>
      <p:sp>
        <p:nvSpPr>
          <p:cNvPr id="64" name="Monat APR"/>
          <p:cNvSpPr txBox="1"/>
          <p:nvPr/>
        </p:nvSpPr>
        <p:spPr>
          <a:xfrm>
            <a:off x="299665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APR</a:t>
            </a:r>
            <a:endParaRPr lang="en-US" sz="900" dirty="0"/>
          </a:p>
        </p:txBody>
      </p:sp>
      <p:sp>
        <p:nvSpPr>
          <p:cNvPr id="65" name="Bandlinie MAY"/>
          <p:cNvSpPr/>
          <p:nvPr/>
        </p:nvSpPr>
        <p:spPr>
          <a:xfrm>
            <a:off x="3715120" y="5285232"/>
            <a:ext cx="0" cy="310896"/>
          </a:xfrm>
          <a:prstGeom prst="line">
            <a:avLst/>
          </a:prstGeom>
          <a:noFill/>
          <a:ln w="6350">
            <a:solidFill>
              <a:srgbClr val="707274"/>
            </a:solidFill>
            <a:prstDash val="solid"/>
          </a:ln>
        </p:spPr>
      </p:sp>
      <p:sp>
        <p:nvSpPr>
          <p:cNvPr id="66" name="Monat MAY"/>
          <p:cNvSpPr txBox="1"/>
          <p:nvPr/>
        </p:nvSpPr>
        <p:spPr>
          <a:xfrm>
            <a:off x="378827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MAY</a:t>
            </a:r>
            <a:endParaRPr lang="en-US" sz="900" dirty="0"/>
          </a:p>
        </p:txBody>
      </p:sp>
      <p:sp>
        <p:nvSpPr>
          <p:cNvPr id="67" name="Bandlinie JUN"/>
          <p:cNvSpPr/>
          <p:nvPr/>
        </p:nvSpPr>
        <p:spPr>
          <a:xfrm>
            <a:off x="4533127" y="5285232"/>
            <a:ext cx="0" cy="310896"/>
          </a:xfrm>
          <a:prstGeom prst="line">
            <a:avLst/>
          </a:prstGeom>
          <a:noFill/>
          <a:ln w="6350">
            <a:solidFill>
              <a:srgbClr val="707274"/>
            </a:solidFill>
            <a:prstDash val="solid"/>
          </a:ln>
        </p:spPr>
      </p:sp>
      <p:sp>
        <p:nvSpPr>
          <p:cNvPr id="68" name="Monat JUN"/>
          <p:cNvSpPr txBox="1"/>
          <p:nvPr/>
        </p:nvSpPr>
        <p:spPr>
          <a:xfrm>
            <a:off x="460627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JUN</a:t>
            </a:r>
            <a:endParaRPr lang="en-US" sz="900" dirty="0"/>
          </a:p>
        </p:txBody>
      </p:sp>
      <p:sp>
        <p:nvSpPr>
          <p:cNvPr id="69" name="Bandlinie JUL"/>
          <p:cNvSpPr/>
          <p:nvPr/>
        </p:nvSpPr>
        <p:spPr>
          <a:xfrm>
            <a:off x="5324747" y="5285232"/>
            <a:ext cx="0" cy="310896"/>
          </a:xfrm>
          <a:prstGeom prst="line">
            <a:avLst/>
          </a:prstGeom>
          <a:noFill/>
          <a:ln w="6350">
            <a:solidFill>
              <a:srgbClr val="707274"/>
            </a:solidFill>
            <a:prstDash val="solid"/>
          </a:ln>
        </p:spPr>
      </p:sp>
      <p:sp>
        <p:nvSpPr>
          <p:cNvPr id="70" name="Monat JUL"/>
          <p:cNvSpPr txBox="1"/>
          <p:nvPr/>
        </p:nvSpPr>
        <p:spPr>
          <a:xfrm>
            <a:off x="539789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JUL</a:t>
            </a:r>
            <a:endParaRPr lang="en-US" sz="900" dirty="0"/>
          </a:p>
        </p:txBody>
      </p:sp>
      <p:sp>
        <p:nvSpPr>
          <p:cNvPr id="71" name="Bandlinie AUG"/>
          <p:cNvSpPr/>
          <p:nvPr/>
        </p:nvSpPr>
        <p:spPr>
          <a:xfrm>
            <a:off x="6142754" y="5285232"/>
            <a:ext cx="0" cy="310896"/>
          </a:xfrm>
          <a:prstGeom prst="line">
            <a:avLst/>
          </a:prstGeom>
          <a:noFill/>
          <a:ln w="6350">
            <a:solidFill>
              <a:srgbClr val="707274"/>
            </a:solidFill>
            <a:prstDash val="solid"/>
          </a:ln>
        </p:spPr>
      </p:sp>
      <p:sp>
        <p:nvSpPr>
          <p:cNvPr id="72" name="Monat AUG"/>
          <p:cNvSpPr txBox="1"/>
          <p:nvPr/>
        </p:nvSpPr>
        <p:spPr>
          <a:xfrm>
            <a:off x="6215906"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AUG</a:t>
            </a:r>
            <a:endParaRPr lang="en-US" sz="900" dirty="0"/>
          </a:p>
        </p:txBody>
      </p:sp>
      <p:sp>
        <p:nvSpPr>
          <p:cNvPr id="73" name="Bandlinie SEP"/>
          <p:cNvSpPr/>
          <p:nvPr/>
        </p:nvSpPr>
        <p:spPr>
          <a:xfrm>
            <a:off x="6960761" y="5285232"/>
            <a:ext cx="0" cy="310896"/>
          </a:xfrm>
          <a:prstGeom prst="line">
            <a:avLst/>
          </a:prstGeom>
          <a:noFill/>
          <a:ln w="6350">
            <a:solidFill>
              <a:srgbClr val="707274"/>
            </a:solidFill>
            <a:prstDash val="solid"/>
          </a:ln>
        </p:spPr>
      </p:sp>
      <p:sp>
        <p:nvSpPr>
          <p:cNvPr id="74" name="Monat SEP"/>
          <p:cNvSpPr txBox="1"/>
          <p:nvPr/>
        </p:nvSpPr>
        <p:spPr>
          <a:xfrm>
            <a:off x="7033913"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SEP</a:t>
            </a:r>
            <a:endParaRPr lang="en-US" sz="900" dirty="0"/>
          </a:p>
        </p:txBody>
      </p:sp>
      <p:sp>
        <p:nvSpPr>
          <p:cNvPr id="75" name="Bandlinie OCT"/>
          <p:cNvSpPr/>
          <p:nvPr/>
        </p:nvSpPr>
        <p:spPr>
          <a:xfrm>
            <a:off x="7752381" y="5285232"/>
            <a:ext cx="0" cy="310896"/>
          </a:xfrm>
          <a:prstGeom prst="line">
            <a:avLst/>
          </a:prstGeom>
          <a:noFill/>
          <a:ln w="6350">
            <a:solidFill>
              <a:srgbClr val="707274"/>
            </a:solidFill>
            <a:prstDash val="solid"/>
          </a:ln>
        </p:spPr>
      </p:sp>
      <p:sp>
        <p:nvSpPr>
          <p:cNvPr id="76" name="Monat OCT"/>
          <p:cNvSpPr txBox="1"/>
          <p:nvPr/>
        </p:nvSpPr>
        <p:spPr>
          <a:xfrm>
            <a:off x="7825533"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OCT</a:t>
            </a:r>
            <a:endParaRPr lang="en-US" sz="900" dirty="0"/>
          </a:p>
        </p:txBody>
      </p:sp>
      <p:sp>
        <p:nvSpPr>
          <p:cNvPr id="77" name="Bandlinie NOV"/>
          <p:cNvSpPr/>
          <p:nvPr/>
        </p:nvSpPr>
        <p:spPr>
          <a:xfrm>
            <a:off x="8570388" y="5285232"/>
            <a:ext cx="0" cy="310896"/>
          </a:xfrm>
          <a:prstGeom prst="line">
            <a:avLst/>
          </a:prstGeom>
          <a:noFill/>
          <a:ln w="6350">
            <a:solidFill>
              <a:srgbClr val="707274"/>
            </a:solidFill>
            <a:prstDash val="solid"/>
          </a:ln>
        </p:spPr>
      </p:sp>
      <p:sp>
        <p:nvSpPr>
          <p:cNvPr id="78" name="Monat NOV"/>
          <p:cNvSpPr txBox="1"/>
          <p:nvPr/>
        </p:nvSpPr>
        <p:spPr>
          <a:xfrm>
            <a:off x="8643540"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NOV</a:t>
            </a:r>
            <a:endParaRPr lang="en-US" sz="900" dirty="0"/>
          </a:p>
        </p:txBody>
      </p:sp>
      <p:sp>
        <p:nvSpPr>
          <p:cNvPr id="79" name="Bandlinie DEC"/>
          <p:cNvSpPr/>
          <p:nvPr/>
        </p:nvSpPr>
        <p:spPr>
          <a:xfrm>
            <a:off x="9362008" y="5285232"/>
            <a:ext cx="0" cy="310896"/>
          </a:xfrm>
          <a:prstGeom prst="line">
            <a:avLst/>
          </a:prstGeom>
          <a:noFill/>
          <a:ln w="6350">
            <a:solidFill>
              <a:srgbClr val="707274"/>
            </a:solidFill>
            <a:prstDash val="solid"/>
          </a:ln>
        </p:spPr>
      </p:sp>
      <p:sp>
        <p:nvSpPr>
          <p:cNvPr id="80" name="Monat DEC"/>
          <p:cNvSpPr txBox="1"/>
          <p:nvPr/>
        </p:nvSpPr>
        <p:spPr>
          <a:xfrm>
            <a:off x="9435160"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DEC</a:t>
            </a:r>
            <a:endParaRPr lang="en-US" sz="900" dirty="0"/>
          </a:p>
        </p:txBody>
      </p:sp>
      <p:sp>
        <p:nvSpPr>
          <p:cNvPr id="81" name="KW Strich 1"/>
          <p:cNvSpPr/>
          <p:nvPr/>
        </p:nvSpPr>
        <p:spPr>
          <a:xfrm>
            <a:off x="548640" y="5596128"/>
            <a:ext cx="0" cy="182880"/>
          </a:xfrm>
          <a:prstGeom prst="line">
            <a:avLst/>
          </a:prstGeom>
          <a:noFill/>
          <a:ln w="6350">
            <a:solidFill>
              <a:srgbClr val="91A19B"/>
            </a:solidFill>
            <a:prstDash val="solid"/>
          </a:ln>
        </p:spPr>
      </p:sp>
      <p:sp>
        <p:nvSpPr>
          <p:cNvPr id="82" name="KW 1"/>
          <p:cNvSpPr txBox="1"/>
          <p:nvPr/>
        </p:nvSpPr>
        <p:spPr>
          <a:xfrm>
            <a:off x="548640" y="5596128"/>
            <a:ext cx="105549" cy="182880"/>
          </a:xfrm>
          <a:prstGeom prst="rect">
            <a:avLst/>
          </a:prstGeom>
          <a:noFill/>
          <a:ln/>
        </p:spPr>
        <p:txBody>
          <a:bodyPr wrap="square" lIns="0" tIns="0" rIns="0" bIns="0" rtlCol="0" anchor="ctr"/>
          <a:lstStyle/>
          <a:p>
            <a:pPr algn="ctr" indent="0" marL="0">
              <a:buNone/>
            </a:pPr>
            <a:r>
              <a:rPr lang="en-US" sz="550" dirty="0">
                <a:solidFill>
                  <a:srgbClr val="707981"/>
                </a:solidFill>
              </a:rPr>
              <a:t>1</a:t>
            </a:r>
            <a:endParaRPr lang="en-US" sz="550" dirty="0"/>
          </a:p>
        </p:txBody>
      </p:sp>
      <p:sp>
        <p:nvSpPr>
          <p:cNvPr id="83" name="KW Strich 2"/>
          <p:cNvSpPr/>
          <p:nvPr/>
        </p:nvSpPr>
        <p:spPr>
          <a:xfrm>
            <a:off x="654189" y="5596128"/>
            <a:ext cx="0" cy="182880"/>
          </a:xfrm>
          <a:prstGeom prst="line">
            <a:avLst/>
          </a:prstGeom>
          <a:noFill/>
          <a:ln w="6350">
            <a:solidFill>
              <a:srgbClr val="91A19B"/>
            </a:solidFill>
            <a:prstDash val="solid"/>
          </a:ln>
        </p:spPr>
      </p:sp>
      <p:sp>
        <p:nvSpPr>
          <p:cNvPr id="84" name="KW 2"/>
          <p:cNvSpPr txBox="1"/>
          <p:nvPr/>
        </p:nvSpPr>
        <p:spPr>
          <a:xfrm>
            <a:off x="65418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a:t>
            </a:r>
            <a:endParaRPr lang="en-US" sz="550" dirty="0"/>
          </a:p>
        </p:txBody>
      </p:sp>
      <p:sp>
        <p:nvSpPr>
          <p:cNvPr id="85" name="KW Strich 3"/>
          <p:cNvSpPr/>
          <p:nvPr/>
        </p:nvSpPr>
        <p:spPr>
          <a:xfrm>
            <a:off x="838901" y="5596128"/>
            <a:ext cx="0" cy="182880"/>
          </a:xfrm>
          <a:prstGeom prst="line">
            <a:avLst/>
          </a:prstGeom>
          <a:noFill/>
          <a:ln w="6350">
            <a:solidFill>
              <a:srgbClr val="91A19B"/>
            </a:solidFill>
            <a:prstDash val="solid"/>
          </a:ln>
        </p:spPr>
      </p:sp>
      <p:sp>
        <p:nvSpPr>
          <p:cNvPr id="86" name="KW 3"/>
          <p:cNvSpPr txBox="1"/>
          <p:nvPr/>
        </p:nvSpPr>
        <p:spPr>
          <a:xfrm>
            <a:off x="83890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a:t>
            </a:r>
            <a:endParaRPr lang="en-US" sz="550" dirty="0"/>
          </a:p>
        </p:txBody>
      </p:sp>
      <p:sp>
        <p:nvSpPr>
          <p:cNvPr id="87" name="KW Strich 4"/>
          <p:cNvSpPr/>
          <p:nvPr/>
        </p:nvSpPr>
        <p:spPr>
          <a:xfrm>
            <a:off x="1023612" y="5596128"/>
            <a:ext cx="0" cy="182880"/>
          </a:xfrm>
          <a:prstGeom prst="line">
            <a:avLst/>
          </a:prstGeom>
          <a:noFill/>
          <a:ln w="6350">
            <a:solidFill>
              <a:srgbClr val="91A19B"/>
            </a:solidFill>
            <a:prstDash val="solid"/>
          </a:ln>
        </p:spPr>
      </p:sp>
      <p:sp>
        <p:nvSpPr>
          <p:cNvPr id="88" name="KW 4"/>
          <p:cNvSpPr txBox="1"/>
          <p:nvPr/>
        </p:nvSpPr>
        <p:spPr>
          <a:xfrm>
            <a:off x="102361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a:t>
            </a:r>
            <a:endParaRPr lang="en-US" sz="550" dirty="0"/>
          </a:p>
        </p:txBody>
      </p:sp>
      <p:sp>
        <p:nvSpPr>
          <p:cNvPr id="89" name="KW Strich 5"/>
          <p:cNvSpPr/>
          <p:nvPr/>
        </p:nvSpPr>
        <p:spPr>
          <a:xfrm>
            <a:off x="1208323" y="5596128"/>
            <a:ext cx="0" cy="182880"/>
          </a:xfrm>
          <a:prstGeom prst="line">
            <a:avLst/>
          </a:prstGeom>
          <a:noFill/>
          <a:ln w="6350">
            <a:solidFill>
              <a:srgbClr val="91A19B"/>
            </a:solidFill>
            <a:prstDash val="solid"/>
          </a:ln>
        </p:spPr>
      </p:sp>
      <p:sp>
        <p:nvSpPr>
          <p:cNvPr id="90" name="KW 5"/>
          <p:cNvSpPr txBox="1"/>
          <p:nvPr/>
        </p:nvSpPr>
        <p:spPr>
          <a:xfrm>
            <a:off x="120832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a:t>
            </a:r>
            <a:endParaRPr lang="en-US" sz="550" dirty="0"/>
          </a:p>
        </p:txBody>
      </p:sp>
      <p:sp>
        <p:nvSpPr>
          <p:cNvPr id="91" name="KW Strich 6"/>
          <p:cNvSpPr/>
          <p:nvPr/>
        </p:nvSpPr>
        <p:spPr>
          <a:xfrm>
            <a:off x="1393035" y="5596128"/>
            <a:ext cx="0" cy="182880"/>
          </a:xfrm>
          <a:prstGeom prst="line">
            <a:avLst/>
          </a:prstGeom>
          <a:noFill/>
          <a:ln w="6350">
            <a:solidFill>
              <a:srgbClr val="91A19B"/>
            </a:solidFill>
            <a:prstDash val="solid"/>
          </a:ln>
        </p:spPr>
      </p:sp>
      <p:sp>
        <p:nvSpPr>
          <p:cNvPr id="92" name="KW 6"/>
          <p:cNvSpPr txBox="1"/>
          <p:nvPr/>
        </p:nvSpPr>
        <p:spPr>
          <a:xfrm>
            <a:off x="139303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6</a:t>
            </a:r>
            <a:endParaRPr lang="en-US" sz="550" dirty="0"/>
          </a:p>
        </p:txBody>
      </p:sp>
      <p:sp>
        <p:nvSpPr>
          <p:cNvPr id="93" name="KW Strich 7"/>
          <p:cNvSpPr/>
          <p:nvPr/>
        </p:nvSpPr>
        <p:spPr>
          <a:xfrm>
            <a:off x="1577746" y="5596128"/>
            <a:ext cx="0" cy="182880"/>
          </a:xfrm>
          <a:prstGeom prst="line">
            <a:avLst/>
          </a:prstGeom>
          <a:noFill/>
          <a:ln w="6350">
            <a:solidFill>
              <a:srgbClr val="91A19B"/>
            </a:solidFill>
            <a:prstDash val="solid"/>
          </a:ln>
        </p:spPr>
      </p:sp>
      <p:sp>
        <p:nvSpPr>
          <p:cNvPr id="94" name="KW 7"/>
          <p:cNvSpPr txBox="1"/>
          <p:nvPr/>
        </p:nvSpPr>
        <p:spPr>
          <a:xfrm>
            <a:off x="157774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7</a:t>
            </a:r>
            <a:endParaRPr lang="en-US" sz="550" dirty="0"/>
          </a:p>
        </p:txBody>
      </p:sp>
      <p:sp>
        <p:nvSpPr>
          <p:cNvPr id="95" name="KW Strich 8"/>
          <p:cNvSpPr/>
          <p:nvPr/>
        </p:nvSpPr>
        <p:spPr>
          <a:xfrm>
            <a:off x="1762457" y="5596128"/>
            <a:ext cx="0" cy="182880"/>
          </a:xfrm>
          <a:prstGeom prst="line">
            <a:avLst/>
          </a:prstGeom>
          <a:noFill/>
          <a:ln w="6350">
            <a:solidFill>
              <a:srgbClr val="91A19B"/>
            </a:solidFill>
            <a:prstDash val="solid"/>
          </a:ln>
        </p:spPr>
      </p:sp>
      <p:sp>
        <p:nvSpPr>
          <p:cNvPr id="96" name="KW 8"/>
          <p:cNvSpPr txBox="1"/>
          <p:nvPr/>
        </p:nvSpPr>
        <p:spPr>
          <a:xfrm>
            <a:off x="176245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8</a:t>
            </a:r>
            <a:endParaRPr lang="en-US" sz="550" dirty="0"/>
          </a:p>
        </p:txBody>
      </p:sp>
      <p:sp>
        <p:nvSpPr>
          <p:cNvPr id="97" name="KW Strich 9"/>
          <p:cNvSpPr/>
          <p:nvPr/>
        </p:nvSpPr>
        <p:spPr>
          <a:xfrm>
            <a:off x="1947168" y="5596128"/>
            <a:ext cx="0" cy="182880"/>
          </a:xfrm>
          <a:prstGeom prst="line">
            <a:avLst/>
          </a:prstGeom>
          <a:noFill/>
          <a:ln w="6350">
            <a:solidFill>
              <a:srgbClr val="91A19B"/>
            </a:solidFill>
            <a:prstDash val="solid"/>
          </a:ln>
        </p:spPr>
      </p:sp>
      <p:sp>
        <p:nvSpPr>
          <p:cNvPr id="98" name="KW 9"/>
          <p:cNvSpPr txBox="1"/>
          <p:nvPr/>
        </p:nvSpPr>
        <p:spPr>
          <a:xfrm>
            <a:off x="194716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9</a:t>
            </a:r>
            <a:endParaRPr lang="en-US" sz="550" dirty="0"/>
          </a:p>
        </p:txBody>
      </p:sp>
      <p:sp>
        <p:nvSpPr>
          <p:cNvPr id="99" name="KW Strich 10"/>
          <p:cNvSpPr/>
          <p:nvPr/>
        </p:nvSpPr>
        <p:spPr>
          <a:xfrm>
            <a:off x="2131880" y="5596128"/>
            <a:ext cx="0" cy="182880"/>
          </a:xfrm>
          <a:prstGeom prst="line">
            <a:avLst/>
          </a:prstGeom>
          <a:noFill/>
          <a:ln w="6350">
            <a:solidFill>
              <a:srgbClr val="91A19B"/>
            </a:solidFill>
            <a:prstDash val="solid"/>
          </a:ln>
        </p:spPr>
      </p:sp>
      <p:sp>
        <p:nvSpPr>
          <p:cNvPr id="100" name="KW 10"/>
          <p:cNvSpPr txBox="1"/>
          <p:nvPr/>
        </p:nvSpPr>
        <p:spPr>
          <a:xfrm>
            <a:off x="213188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10</a:t>
            </a:r>
            <a:endParaRPr lang="en-US" sz="550" dirty="0"/>
          </a:p>
        </p:txBody>
      </p:sp>
      <p:sp>
        <p:nvSpPr>
          <p:cNvPr id="101" name="KW Strich 11"/>
          <p:cNvSpPr/>
          <p:nvPr/>
        </p:nvSpPr>
        <p:spPr>
          <a:xfrm>
            <a:off x="2316591" y="5596128"/>
            <a:ext cx="0" cy="182880"/>
          </a:xfrm>
          <a:prstGeom prst="line">
            <a:avLst/>
          </a:prstGeom>
          <a:noFill/>
          <a:ln w="6350">
            <a:solidFill>
              <a:srgbClr val="91A19B"/>
            </a:solidFill>
            <a:prstDash val="solid"/>
          </a:ln>
        </p:spPr>
      </p:sp>
      <p:sp>
        <p:nvSpPr>
          <p:cNvPr id="102" name="KW 11"/>
          <p:cNvSpPr txBox="1"/>
          <p:nvPr/>
        </p:nvSpPr>
        <p:spPr>
          <a:xfrm>
            <a:off x="231659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11</a:t>
            </a:r>
            <a:endParaRPr lang="en-US" sz="550" dirty="0"/>
          </a:p>
        </p:txBody>
      </p:sp>
      <p:sp>
        <p:nvSpPr>
          <p:cNvPr id="103" name="KW Strich 12"/>
          <p:cNvSpPr/>
          <p:nvPr/>
        </p:nvSpPr>
        <p:spPr>
          <a:xfrm>
            <a:off x="2501302" y="5596128"/>
            <a:ext cx="0" cy="182880"/>
          </a:xfrm>
          <a:prstGeom prst="line">
            <a:avLst/>
          </a:prstGeom>
          <a:noFill/>
          <a:ln w="6350">
            <a:solidFill>
              <a:srgbClr val="91A19B"/>
            </a:solidFill>
            <a:prstDash val="solid"/>
          </a:ln>
        </p:spPr>
      </p:sp>
      <p:sp>
        <p:nvSpPr>
          <p:cNvPr id="104" name="KW 12"/>
          <p:cNvSpPr txBox="1"/>
          <p:nvPr/>
        </p:nvSpPr>
        <p:spPr>
          <a:xfrm>
            <a:off x="250130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12</a:t>
            </a:r>
            <a:endParaRPr lang="en-US" sz="550" dirty="0"/>
          </a:p>
        </p:txBody>
      </p:sp>
      <p:sp>
        <p:nvSpPr>
          <p:cNvPr id="105" name="KW Strich 13"/>
          <p:cNvSpPr/>
          <p:nvPr/>
        </p:nvSpPr>
        <p:spPr>
          <a:xfrm>
            <a:off x="2686014" y="5596128"/>
            <a:ext cx="0" cy="182880"/>
          </a:xfrm>
          <a:prstGeom prst="line">
            <a:avLst/>
          </a:prstGeom>
          <a:noFill/>
          <a:ln w="6350">
            <a:solidFill>
              <a:srgbClr val="91A19B"/>
            </a:solidFill>
            <a:prstDash val="solid"/>
          </a:ln>
        </p:spPr>
      </p:sp>
      <p:sp>
        <p:nvSpPr>
          <p:cNvPr id="106" name="KW 13"/>
          <p:cNvSpPr txBox="1"/>
          <p:nvPr/>
        </p:nvSpPr>
        <p:spPr>
          <a:xfrm>
            <a:off x="268601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13</a:t>
            </a:r>
            <a:endParaRPr lang="en-US" sz="550" dirty="0"/>
          </a:p>
        </p:txBody>
      </p:sp>
      <p:sp>
        <p:nvSpPr>
          <p:cNvPr id="107" name="KW Strich 14"/>
          <p:cNvSpPr/>
          <p:nvPr/>
        </p:nvSpPr>
        <p:spPr>
          <a:xfrm>
            <a:off x="2870725" y="5596128"/>
            <a:ext cx="0" cy="182880"/>
          </a:xfrm>
          <a:prstGeom prst="line">
            <a:avLst/>
          </a:prstGeom>
          <a:noFill/>
          <a:ln w="6350">
            <a:solidFill>
              <a:srgbClr val="91A19B"/>
            </a:solidFill>
            <a:prstDash val="solid"/>
          </a:ln>
        </p:spPr>
      </p:sp>
      <p:sp>
        <p:nvSpPr>
          <p:cNvPr id="108" name="KW 14"/>
          <p:cNvSpPr txBox="1"/>
          <p:nvPr/>
        </p:nvSpPr>
        <p:spPr>
          <a:xfrm>
            <a:off x="287072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14</a:t>
            </a:r>
            <a:endParaRPr lang="en-US" sz="550" dirty="0"/>
          </a:p>
        </p:txBody>
      </p:sp>
      <p:sp>
        <p:nvSpPr>
          <p:cNvPr id="109" name="KW Strich 15"/>
          <p:cNvSpPr/>
          <p:nvPr/>
        </p:nvSpPr>
        <p:spPr>
          <a:xfrm>
            <a:off x="3055436" y="5596128"/>
            <a:ext cx="0" cy="182880"/>
          </a:xfrm>
          <a:prstGeom prst="line">
            <a:avLst/>
          </a:prstGeom>
          <a:noFill/>
          <a:ln w="6350">
            <a:solidFill>
              <a:srgbClr val="91A19B"/>
            </a:solidFill>
            <a:prstDash val="solid"/>
          </a:ln>
        </p:spPr>
      </p:sp>
      <p:sp>
        <p:nvSpPr>
          <p:cNvPr id="110" name="KW 15"/>
          <p:cNvSpPr txBox="1"/>
          <p:nvPr/>
        </p:nvSpPr>
        <p:spPr>
          <a:xfrm>
            <a:off x="305543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15</a:t>
            </a:r>
            <a:endParaRPr lang="en-US" sz="550" dirty="0"/>
          </a:p>
        </p:txBody>
      </p:sp>
      <p:sp>
        <p:nvSpPr>
          <p:cNvPr id="111" name="KW Strich 16"/>
          <p:cNvSpPr/>
          <p:nvPr/>
        </p:nvSpPr>
        <p:spPr>
          <a:xfrm>
            <a:off x="3240148" y="5596128"/>
            <a:ext cx="0" cy="182880"/>
          </a:xfrm>
          <a:prstGeom prst="line">
            <a:avLst/>
          </a:prstGeom>
          <a:noFill/>
          <a:ln w="6350">
            <a:solidFill>
              <a:srgbClr val="91A19B"/>
            </a:solidFill>
            <a:prstDash val="solid"/>
          </a:ln>
        </p:spPr>
      </p:sp>
      <p:sp>
        <p:nvSpPr>
          <p:cNvPr id="112" name="KW 16"/>
          <p:cNvSpPr txBox="1"/>
          <p:nvPr/>
        </p:nvSpPr>
        <p:spPr>
          <a:xfrm>
            <a:off x="324014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16</a:t>
            </a:r>
            <a:endParaRPr lang="en-US" sz="550" dirty="0"/>
          </a:p>
        </p:txBody>
      </p:sp>
      <p:sp>
        <p:nvSpPr>
          <p:cNvPr id="113" name="KW Strich 17"/>
          <p:cNvSpPr/>
          <p:nvPr/>
        </p:nvSpPr>
        <p:spPr>
          <a:xfrm>
            <a:off x="3424859" y="5596128"/>
            <a:ext cx="0" cy="182880"/>
          </a:xfrm>
          <a:prstGeom prst="line">
            <a:avLst/>
          </a:prstGeom>
          <a:noFill/>
          <a:ln w="6350">
            <a:solidFill>
              <a:srgbClr val="91A19B"/>
            </a:solidFill>
            <a:prstDash val="solid"/>
          </a:ln>
        </p:spPr>
      </p:sp>
      <p:sp>
        <p:nvSpPr>
          <p:cNvPr id="114" name="KW 17"/>
          <p:cNvSpPr txBox="1"/>
          <p:nvPr/>
        </p:nvSpPr>
        <p:spPr>
          <a:xfrm>
            <a:off x="342485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17</a:t>
            </a:r>
            <a:endParaRPr lang="en-US" sz="550" dirty="0"/>
          </a:p>
        </p:txBody>
      </p:sp>
      <p:sp>
        <p:nvSpPr>
          <p:cNvPr id="115" name="KW Strich 18"/>
          <p:cNvSpPr/>
          <p:nvPr/>
        </p:nvSpPr>
        <p:spPr>
          <a:xfrm>
            <a:off x="3609570" y="5596128"/>
            <a:ext cx="0" cy="182880"/>
          </a:xfrm>
          <a:prstGeom prst="line">
            <a:avLst/>
          </a:prstGeom>
          <a:noFill/>
          <a:ln w="6350">
            <a:solidFill>
              <a:srgbClr val="91A19B"/>
            </a:solidFill>
            <a:prstDash val="solid"/>
          </a:ln>
        </p:spPr>
      </p:sp>
      <p:sp>
        <p:nvSpPr>
          <p:cNvPr id="116" name="KW 18"/>
          <p:cNvSpPr txBox="1"/>
          <p:nvPr/>
        </p:nvSpPr>
        <p:spPr>
          <a:xfrm>
            <a:off x="360957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18</a:t>
            </a:r>
            <a:endParaRPr lang="en-US" sz="550" dirty="0"/>
          </a:p>
        </p:txBody>
      </p:sp>
      <p:sp>
        <p:nvSpPr>
          <p:cNvPr id="117" name="KW Strich 19"/>
          <p:cNvSpPr/>
          <p:nvPr/>
        </p:nvSpPr>
        <p:spPr>
          <a:xfrm>
            <a:off x="3794282" y="5596128"/>
            <a:ext cx="0" cy="182880"/>
          </a:xfrm>
          <a:prstGeom prst="line">
            <a:avLst/>
          </a:prstGeom>
          <a:noFill/>
          <a:ln w="6350">
            <a:solidFill>
              <a:srgbClr val="91A19B"/>
            </a:solidFill>
            <a:prstDash val="solid"/>
          </a:ln>
        </p:spPr>
      </p:sp>
      <p:sp>
        <p:nvSpPr>
          <p:cNvPr id="118" name="KW 19"/>
          <p:cNvSpPr txBox="1"/>
          <p:nvPr/>
        </p:nvSpPr>
        <p:spPr>
          <a:xfrm>
            <a:off x="379428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19</a:t>
            </a:r>
            <a:endParaRPr lang="en-US" sz="550" dirty="0"/>
          </a:p>
        </p:txBody>
      </p:sp>
      <p:sp>
        <p:nvSpPr>
          <p:cNvPr id="119" name="KW Strich 20"/>
          <p:cNvSpPr/>
          <p:nvPr/>
        </p:nvSpPr>
        <p:spPr>
          <a:xfrm>
            <a:off x="3978993" y="5596128"/>
            <a:ext cx="0" cy="182880"/>
          </a:xfrm>
          <a:prstGeom prst="line">
            <a:avLst/>
          </a:prstGeom>
          <a:noFill/>
          <a:ln w="6350">
            <a:solidFill>
              <a:srgbClr val="91A19B"/>
            </a:solidFill>
            <a:prstDash val="solid"/>
          </a:ln>
        </p:spPr>
      </p:sp>
      <p:sp>
        <p:nvSpPr>
          <p:cNvPr id="120" name="KW 20"/>
          <p:cNvSpPr txBox="1"/>
          <p:nvPr/>
        </p:nvSpPr>
        <p:spPr>
          <a:xfrm>
            <a:off x="397899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20</a:t>
            </a:r>
            <a:endParaRPr lang="en-US" sz="550" dirty="0"/>
          </a:p>
        </p:txBody>
      </p:sp>
      <p:sp>
        <p:nvSpPr>
          <p:cNvPr id="121" name="KW Strich 21"/>
          <p:cNvSpPr/>
          <p:nvPr/>
        </p:nvSpPr>
        <p:spPr>
          <a:xfrm>
            <a:off x="4163704" y="5596128"/>
            <a:ext cx="0" cy="182880"/>
          </a:xfrm>
          <a:prstGeom prst="line">
            <a:avLst/>
          </a:prstGeom>
          <a:noFill/>
          <a:ln w="6350">
            <a:solidFill>
              <a:srgbClr val="91A19B"/>
            </a:solidFill>
            <a:prstDash val="solid"/>
          </a:ln>
        </p:spPr>
      </p:sp>
      <p:sp>
        <p:nvSpPr>
          <p:cNvPr id="122" name="KW 21"/>
          <p:cNvSpPr txBox="1"/>
          <p:nvPr/>
        </p:nvSpPr>
        <p:spPr>
          <a:xfrm>
            <a:off x="416370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21</a:t>
            </a:r>
            <a:endParaRPr lang="en-US" sz="550" dirty="0"/>
          </a:p>
        </p:txBody>
      </p:sp>
      <p:sp>
        <p:nvSpPr>
          <p:cNvPr id="123" name="KW Strich 22"/>
          <p:cNvSpPr/>
          <p:nvPr/>
        </p:nvSpPr>
        <p:spPr>
          <a:xfrm>
            <a:off x="4348415" y="5596128"/>
            <a:ext cx="0" cy="182880"/>
          </a:xfrm>
          <a:prstGeom prst="line">
            <a:avLst/>
          </a:prstGeom>
          <a:noFill/>
          <a:ln w="6350">
            <a:solidFill>
              <a:srgbClr val="91A19B"/>
            </a:solidFill>
            <a:prstDash val="solid"/>
          </a:ln>
        </p:spPr>
      </p:sp>
      <p:sp>
        <p:nvSpPr>
          <p:cNvPr id="124" name="KW 22"/>
          <p:cNvSpPr txBox="1"/>
          <p:nvPr/>
        </p:nvSpPr>
        <p:spPr>
          <a:xfrm>
            <a:off x="434841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22</a:t>
            </a:r>
            <a:endParaRPr lang="en-US" sz="550" dirty="0"/>
          </a:p>
        </p:txBody>
      </p:sp>
      <p:sp>
        <p:nvSpPr>
          <p:cNvPr id="125" name="KW Strich 23"/>
          <p:cNvSpPr/>
          <p:nvPr/>
        </p:nvSpPr>
        <p:spPr>
          <a:xfrm>
            <a:off x="4533127" y="5596128"/>
            <a:ext cx="0" cy="182880"/>
          </a:xfrm>
          <a:prstGeom prst="line">
            <a:avLst/>
          </a:prstGeom>
          <a:noFill/>
          <a:ln w="6350">
            <a:solidFill>
              <a:srgbClr val="91A19B"/>
            </a:solidFill>
            <a:prstDash val="solid"/>
          </a:ln>
        </p:spPr>
      </p:sp>
      <p:sp>
        <p:nvSpPr>
          <p:cNvPr id="126" name="KW 23"/>
          <p:cNvSpPr txBox="1"/>
          <p:nvPr/>
        </p:nvSpPr>
        <p:spPr>
          <a:xfrm>
            <a:off x="453312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23</a:t>
            </a:r>
            <a:endParaRPr lang="en-US" sz="550" dirty="0"/>
          </a:p>
        </p:txBody>
      </p:sp>
      <p:sp>
        <p:nvSpPr>
          <p:cNvPr id="127" name="KW Strich 24"/>
          <p:cNvSpPr/>
          <p:nvPr/>
        </p:nvSpPr>
        <p:spPr>
          <a:xfrm>
            <a:off x="4717838" y="5596128"/>
            <a:ext cx="0" cy="182880"/>
          </a:xfrm>
          <a:prstGeom prst="line">
            <a:avLst/>
          </a:prstGeom>
          <a:noFill/>
          <a:ln w="6350">
            <a:solidFill>
              <a:srgbClr val="91A19B"/>
            </a:solidFill>
            <a:prstDash val="solid"/>
          </a:ln>
        </p:spPr>
      </p:sp>
      <p:sp>
        <p:nvSpPr>
          <p:cNvPr id="128" name="KW 24"/>
          <p:cNvSpPr txBox="1"/>
          <p:nvPr/>
        </p:nvSpPr>
        <p:spPr>
          <a:xfrm>
            <a:off x="471783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24</a:t>
            </a:r>
            <a:endParaRPr lang="en-US" sz="550" dirty="0"/>
          </a:p>
        </p:txBody>
      </p:sp>
      <p:sp>
        <p:nvSpPr>
          <p:cNvPr id="129" name="KW Strich 25"/>
          <p:cNvSpPr/>
          <p:nvPr/>
        </p:nvSpPr>
        <p:spPr>
          <a:xfrm>
            <a:off x="4902549" y="5596128"/>
            <a:ext cx="0" cy="182880"/>
          </a:xfrm>
          <a:prstGeom prst="line">
            <a:avLst/>
          </a:prstGeom>
          <a:noFill/>
          <a:ln w="6350">
            <a:solidFill>
              <a:srgbClr val="91A19B"/>
            </a:solidFill>
            <a:prstDash val="solid"/>
          </a:ln>
        </p:spPr>
      </p:sp>
      <p:sp>
        <p:nvSpPr>
          <p:cNvPr id="130" name="KW 25"/>
          <p:cNvSpPr txBox="1"/>
          <p:nvPr/>
        </p:nvSpPr>
        <p:spPr>
          <a:xfrm>
            <a:off x="490254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25</a:t>
            </a:r>
            <a:endParaRPr lang="en-US" sz="550" dirty="0"/>
          </a:p>
        </p:txBody>
      </p:sp>
      <p:sp>
        <p:nvSpPr>
          <p:cNvPr id="131" name="KW Strich 26"/>
          <p:cNvSpPr/>
          <p:nvPr/>
        </p:nvSpPr>
        <p:spPr>
          <a:xfrm>
            <a:off x="5087261" y="5596128"/>
            <a:ext cx="0" cy="182880"/>
          </a:xfrm>
          <a:prstGeom prst="line">
            <a:avLst/>
          </a:prstGeom>
          <a:noFill/>
          <a:ln w="6350">
            <a:solidFill>
              <a:srgbClr val="91A19B"/>
            </a:solidFill>
            <a:prstDash val="solid"/>
          </a:ln>
        </p:spPr>
      </p:sp>
      <p:sp>
        <p:nvSpPr>
          <p:cNvPr id="132" name="KW 26"/>
          <p:cNvSpPr txBox="1"/>
          <p:nvPr/>
        </p:nvSpPr>
        <p:spPr>
          <a:xfrm>
            <a:off x="508726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26</a:t>
            </a:r>
            <a:endParaRPr lang="en-US" sz="550" dirty="0"/>
          </a:p>
        </p:txBody>
      </p:sp>
      <p:sp>
        <p:nvSpPr>
          <p:cNvPr id="133" name="KW Strich 27"/>
          <p:cNvSpPr/>
          <p:nvPr/>
        </p:nvSpPr>
        <p:spPr>
          <a:xfrm>
            <a:off x="5271972" y="5596128"/>
            <a:ext cx="0" cy="182880"/>
          </a:xfrm>
          <a:prstGeom prst="line">
            <a:avLst/>
          </a:prstGeom>
          <a:noFill/>
          <a:ln w="6350">
            <a:solidFill>
              <a:srgbClr val="91A19B"/>
            </a:solidFill>
            <a:prstDash val="solid"/>
          </a:ln>
        </p:spPr>
      </p:sp>
      <p:sp>
        <p:nvSpPr>
          <p:cNvPr id="134" name="KW 27"/>
          <p:cNvSpPr txBox="1"/>
          <p:nvPr/>
        </p:nvSpPr>
        <p:spPr>
          <a:xfrm>
            <a:off x="527197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27</a:t>
            </a:r>
            <a:endParaRPr lang="en-US" sz="550" dirty="0"/>
          </a:p>
        </p:txBody>
      </p:sp>
      <p:sp>
        <p:nvSpPr>
          <p:cNvPr id="135" name="KW Strich 28"/>
          <p:cNvSpPr/>
          <p:nvPr/>
        </p:nvSpPr>
        <p:spPr>
          <a:xfrm>
            <a:off x="5456683" y="5596128"/>
            <a:ext cx="0" cy="182880"/>
          </a:xfrm>
          <a:prstGeom prst="line">
            <a:avLst/>
          </a:prstGeom>
          <a:noFill/>
          <a:ln w="6350">
            <a:solidFill>
              <a:srgbClr val="91A19B"/>
            </a:solidFill>
            <a:prstDash val="solid"/>
          </a:ln>
        </p:spPr>
      </p:sp>
      <p:sp>
        <p:nvSpPr>
          <p:cNvPr id="136" name="KW 28"/>
          <p:cNvSpPr txBox="1"/>
          <p:nvPr/>
        </p:nvSpPr>
        <p:spPr>
          <a:xfrm>
            <a:off x="545668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28</a:t>
            </a:r>
            <a:endParaRPr lang="en-US" sz="550" dirty="0"/>
          </a:p>
        </p:txBody>
      </p:sp>
      <p:sp>
        <p:nvSpPr>
          <p:cNvPr id="137" name="KW Strich 29"/>
          <p:cNvSpPr/>
          <p:nvPr/>
        </p:nvSpPr>
        <p:spPr>
          <a:xfrm>
            <a:off x="5641395" y="5596128"/>
            <a:ext cx="0" cy="182880"/>
          </a:xfrm>
          <a:prstGeom prst="line">
            <a:avLst/>
          </a:prstGeom>
          <a:noFill/>
          <a:ln w="6350">
            <a:solidFill>
              <a:srgbClr val="91A19B"/>
            </a:solidFill>
            <a:prstDash val="solid"/>
          </a:ln>
        </p:spPr>
      </p:sp>
      <p:sp>
        <p:nvSpPr>
          <p:cNvPr id="138" name="KW 29"/>
          <p:cNvSpPr txBox="1"/>
          <p:nvPr/>
        </p:nvSpPr>
        <p:spPr>
          <a:xfrm>
            <a:off x="564139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29</a:t>
            </a:r>
            <a:endParaRPr lang="en-US" sz="550" dirty="0"/>
          </a:p>
        </p:txBody>
      </p:sp>
      <p:sp>
        <p:nvSpPr>
          <p:cNvPr id="139" name="KW Strich 30"/>
          <p:cNvSpPr/>
          <p:nvPr/>
        </p:nvSpPr>
        <p:spPr>
          <a:xfrm>
            <a:off x="5826106" y="5596128"/>
            <a:ext cx="0" cy="182880"/>
          </a:xfrm>
          <a:prstGeom prst="line">
            <a:avLst/>
          </a:prstGeom>
          <a:noFill/>
          <a:ln w="6350">
            <a:solidFill>
              <a:srgbClr val="91A19B"/>
            </a:solidFill>
            <a:prstDash val="solid"/>
          </a:ln>
        </p:spPr>
      </p:sp>
      <p:sp>
        <p:nvSpPr>
          <p:cNvPr id="140" name="KW 30"/>
          <p:cNvSpPr txBox="1"/>
          <p:nvPr/>
        </p:nvSpPr>
        <p:spPr>
          <a:xfrm>
            <a:off x="582610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30</a:t>
            </a:r>
            <a:endParaRPr lang="en-US" sz="550" dirty="0"/>
          </a:p>
        </p:txBody>
      </p:sp>
      <p:sp>
        <p:nvSpPr>
          <p:cNvPr id="141" name="KW Strich 31"/>
          <p:cNvSpPr/>
          <p:nvPr/>
        </p:nvSpPr>
        <p:spPr>
          <a:xfrm>
            <a:off x="6010817" y="5596128"/>
            <a:ext cx="0" cy="182880"/>
          </a:xfrm>
          <a:prstGeom prst="line">
            <a:avLst/>
          </a:prstGeom>
          <a:noFill/>
          <a:ln w="6350">
            <a:solidFill>
              <a:srgbClr val="91A19B"/>
            </a:solidFill>
            <a:prstDash val="solid"/>
          </a:ln>
        </p:spPr>
      </p:sp>
      <p:sp>
        <p:nvSpPr>
          <p:cNvPr id="142" name="KW 31"/>
          <p:cNvSpPr txBox="1"/>
          <p:nvPr/>
        </p:nvSpPr>
        <p:spPr>
          <a:xfrm>
            <a:off x="601081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31</a:t>
            </a:r>
            <a:endParaRPr lang="en-US" sz="550" dirty="0"/>
          </a:p>
        </p:txBody>
      </p:sp>
      <p:sp>
        <p:nvSpPr>
          <p:cNvPr id="143" name="KW Strich 32"/>
          <p:cNvSpPr/>
          <p:nvPr/>
        </p:nvSpPr>
        <p:spPr>
          <a:xfrm>
            <a:off x="6195528" y="5596128"/>
            <a:ext cx="0" cy="182880"/>
          </a:xfrm>
          <a:prstGeom prst="line">
            <a:avLst/>
          </a:prstGeom>
          <a:noFill/>
          <a:ln w="6350">
            <a:solidFill>
              <a:srgbClr val="91A19B"/>
            </a:solidFill>
            <a:prstDash val="solid"/>
          </a:ln>
        </p:spPr>
      </p:sp>
      <p:sp>
        <p:nvSpPr>
          <p:cNvPr id="144" name="KW 32"/>
          <p:cNvSpPr txBox="1"/>
          <p:nvPr/>
        </p:nvSpPr>
        <p:spPr>
          <a:xfrm>
            <a:off x="619552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32</a:t>
            </a:r>
            <a:endParaRPr lang="en-US" sz="550" dirty="0"/>
          </a:p>
        </p:txBody>
      </p:sp>
      <p:sp>
        <p:nvSpPr>
          <p:cNvPr id="145" name="KW Strich 33"/>
          <p:cNvSpPr/>
          <p:nvPr/>
        </p:nvSpPr>
        <p:spPr>
          <a:xfrm>
            <a:off x="6380240" y="5596128"/>
            <a:ext cx="0" cy="182880"/>
          </a:xfrm>
          <a:prstGeom prst="line">
            <a:avLst/>
          </a:prstGeom>
          <a:noFill/>
          <a:ln w="6350">
            <a:solidFill>
              <a:srgbClr val="91A19B"/>
            </a:solidFill>
            <a:prstDash val="solid"/>
          </a:ln>
        </p:spPr>
      </p:sp>
      <p:sp>
        <p:nvSpPr>
          <p:cNvPr id="146" name="KW 33"/>
          <p:cNvSpPr txBox="1"/>
          <p:nvPr/>
        </p:nvSpPr>
        <p:spPr>
          <a:xfrm>
            <a:off x="638024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33</a:t>
            </a:r>
            <a:endParaRPr lang="en-US" sz="550" dirty="0"/>
          </a:p>
        </p:txBody>
      </p:sp>
      <p:sp>
        <p:nvSpPr>
          <p:cNvPr id="147" name="KW Strich 34"/>
          <p:cNvSpPr/>
          <p:nvPr/>
        </p:nvSpPr>
        <p:spPr>
          <a:xfrm>
            <a:off x="6564951" y="5596128"/>
            <a:ext cx="0" cy="182880"/>
          </a:xfrm>
          <a:prstGeom prst="line">
            <a:avLst/>
          </a:prstGeom>
          <a:noFill/>
          <a:ln w="6350">
            <a:solidFill>
              <a:srgbClr val="91A19B"/>
            </a:solidFill>
            <a:prstDash val="solid"/>
          </a:ln>
        </p:spPr>
      </p:sp>
      <p:sp>
        <p:nvSpPr>
          <p:cNvPr id="148" name="KW 34"/>
          <p:cNvSpPr txBox="1"/>
          <p:nvPr/>
        </p:nvSpPr>
        <p:spPr>
          <a:xfrm>
            <a:off x="656495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34</a:t>
            </a:r>
            <a:endParaRPr lang="en-US" sz="550" dirty="0"/>
          </a:p>
        </p:txBody>
      </p:sp>
      <p:sp>
        <p:nvSpPr>
          <p:cNvPr id="149" name="KW Strich 35"/>
          <p:cNvSpPr/>
          <p:nvPr/>
        </p:nvSpPr>
        <p:spPr>
          <a:xfrm>
            <a:off x="6749662" y="5596128"/>
            <a:ext cx="0" cy="182880"/>
          </a:xfrm>
          <a:prstGeom prst="line">
            <a:avLst/>
          </a:prstGeom>
          <a:noFill/>
          <a:ln w="6350">
            <a:solidFill>
              <a:srgbClr val="91A19B"/>
            </a:solidFill>
            <a:prstDash val="solid"/>
          </a:ln>
        </p:spPr>
      </p:sp>
      <p:sp>
        <p:nvSpPr>
          <p:cNvPr id="150" name="KW 35"/>
          <p:cNvSpPr txBox="1"/>
          <p:nvPr/>
        </p:nvSpPr>
        <p:spPr>
          <a:xfrm>
            <a:off x="674966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35</a:t>
            </a:r>
            <a:endParaRPr lang="en-US" sz="550" dirty="0"/>
          </a:p>
        </p:txBody>
      </p:sp>
      <p:sp>
        <p:nvSpPr>
          <p:cNvPr id="151" name="KW Strich 36"/>
          <p:cNvSpPr/>
          <p:nvPr/>
        </p:nvSpPr>
        <p:spPr>
          <a:xfrm>
            <a:off x="6934374" y="5596128"/>
            <a:ext cx="0" cy="182880"/>
          </a:xfrm>
          <a:prstGeom prst="line">
            <a:avLst/>
          </a:prstGeom>
          <a:noFill/>
          <a:ln w="6350">
            <a:solidFill>
              <a:srgbClr val="91A19B"/>
            </a:solidFill>
            <a:prstDash val="solid"/>
          </a:ln>
        </p:spPr>
      </p:sp>
      <p:sp>
        <p:nvSpPr>
          <p:cNvPr id="152" name="KW 36"/>
          <p:cNvSpPr txBox="1"/>
          <p:nvPr/>
        </p:nvSpPr>
        <p:spPr>
          <a:xfrm>
            <a:off x="693437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36</a:t>
            </a:r>
            <a:endParaRPr lang="en-US" sz="550" dirty="0"/>
          </a:p>
        </p:txBody>
      </p:sp>
      <p:sp>
        <p:nvSpPr>
          <p:cNvPr id="153" name="KW Strich 37"/>
          <p:cNvSpPr/>
          <p:nvPr/>
        </p:nvSpPr>
        <p:spPr>
          <a:xfrm>
            <a:off x="7119085" y="5596128"/>
            <a:ext cx="0" cy="182880"/>
          </a:xfrm>
          <a:prstGeom prst="line">
            <a:avLst/>
          </a:prstGeom>
          <a:noFill/>
          <a:ln w="6350">
            <a:solidFill>
              <a:srgbClr val="91A19B"/>
            </a:solidFill>
            <a:prstDash val="solid"/>
          </a:ln>
        </p:spPr>
      </p:sp>
      <p:sp>
        <p:nvSpPr>
          <p:cNvPr id="154" name="KW 37"/>
          <p:cNvSpPr txBox="1"/>
          <p:nvPr/>
        </p:nvSpPr>
        <p:spPr>
          <a:xfrm>
            <a:off x="711908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37</a:t>
            </a:r>
            <a:endParaRPr lang="en-US" sz="550" dirty="0"/>
          </a:p>
        </p:txBody>
      </p:sp>
      <p:sp>
        <p:nvSpPr>
          <p:cNvPr id="155" name="KW Strich 38"/>
          <p:cNvSpPr/>
          <p:nvPr/>
        </p:nvSpPr>
        <p:spPr>
          <a:xfrm>
            <a:off x="7303796" y="5596128"/>
            <a:ext cx="0" cy="182880"/>
          </a:xfrm>
          <a:prstGeom prst="line">
            <a:avLst/>
          </a:prstGeom>
          <a:noFill/>
          <a:ln w="6350">
            <a:solidFill>
              <a:srgbClr val="91A19B"/>
            </a:solidFill>
            <a:prstDash val="solid"/>
          </a:ln>
        </p:spPr>
      </p:sp>
      <p:sp>
        <p:nvSpPr>
          <p:cNvPr id="156" name="KW 38"/>
          <p:cNvSpPr txBox="1"/>
          <p:nvPr/>
        </p:nvSpPr>
        <p:spPr>
          <a:xfrm>
            <a:off x="730379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38</a:t>
            </a:r>
            <a:endParaRPr lang="en-US" sz="550" dirty="0"/>
          </a:p>
        </p:txBody>
      </p:sp>
      <p:sp>
        <p:nvSpPr>
          <p:cNvPr id="157" name="KW Strich 39"/>
          <p:cNvSpPr/>
          <p:nvPr/>
        </p:nvSpPr>
        <p:spPr>
          <a:xfrm>
            <a:off x="7488508" y="5596128"/>
            <a:ext cx="0" cy="182880"/>
          </a:xfrm>
          <a:prstGeom prst="line">
            <a:avLst/>
          </a:prstGeom>
          <a:noFill/>
          <a:ln w="6350">
            <a:solidFill>
              <a:srgbClr val="91A19B"/>
            </a:solidFill>
            <a:prstDash val="solid"/>
          </a:ln>
        </p:spPr>
      </p:sp>
      <p:sp>
        <p:nvSpPr>
          <p:cNvPr id="158" name="KW 39"/>
          <p:cNvSpPr txBox="1"/>
          <p:nvPr/>
        </p:nvSpPr>
        <p:spPr>
          <a:xfrm>
            <a:off x="748850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39</a:t>
            </a:r>
            <a:endParaRPr lang="en-US" sz="550" dirty="0"/>
          </a:p>
        </p:txBody>
      </p:sp>
      <p:sp>
        <p:nvSpPr>
          <p:cNvPr id="159" name="KW Strich 40"/>
          <p:cNvSpPr/>
          <p:nvPr/>
        </p:nvSpPr>
        <p:spPr>
          <a:xfrm>
            <a:off x="7673219" y="5596128"/>
            <a:ext cx="0" cy="182880"/>
          </a:xfrm>
          <a:prstGeom prst="line">
            <a:avLst/>
          </a:prstGeom>
          <a:noFill/>
          <a:ln w="6350">
            <a:solidFill>
              <a:srgbClr val="91A19B"/>
            </a:solidFill>
            <a:prstDash val="solid"/>
          </a:ln>
        </p:spPr>
      </p:sp>
      <p:sp>
        <p:nvSpPr>
          <p:cNvPr id="160" name="KW 40"/>
          <p:cNvSpPr txBox="1"/>
          <p:nvPr/>
        </p:nvSpPr>
        <p:spPr>
          <a:xfrm>
            <a:off x="767321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40</a:t>
            </a:r>
            <a:endParaRPr lang="en-US" sz="550" dirty="0"/>
          </a:p>
        </p:txBody>
      </p:sp>
      <p:sp>
        <p:nvSpPr>
          <p:cNvPr id="161" name="KW Strich 41"/>
          <p:cNvSpPr/>
          <p:nvPr/>
        </p:nvSpPr>
        <p:spPr>
          <a:xfrm>
            <a:off x="7857930" y="5596128"/>
            <a:ext cx="0" cy="182880"/>
          </a:xfrm>
          <a:prstGeom prst="line">
            <a:avLst/>
          </a:prstGeom>
          <a:noFill/>
          <a:ln w="6350">
            <a:solidFill>
              <a:srgbClr val="91A19B"/>
            </a:solidFill>
            <a:prstDash val="solid"/>
          </a:ln>
        </p:spPr>
      </p:sp>
      <p:sp>
        <p:nvSpPr>
          <p:cNvPr id="162" name="KW 41"/>
          <p:cNvSpPr txBox="1"/>
          <p:nvPr/>
        </p:nvSpPr>
        <p:spPr>
          <a:xfrm>
            <a:off x="785793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41</a:t>
            </a:r>
            <a:endParaRPr lang="en-US" sz="550" dirty="0"/>
          </a:p>
        </p:txBody>
      </p:sp>
      <p:sp>
        <p:nvSpPr>
          <p:cNvPr id="163" name="KW Strich 42"/>
          <p:cNvSpPr/>
          <p:nvPr/>
        </p:nvSpPr>
        <p:spPr>
          <a:xfrm>
            <a:off x="8042642" y="5596128"/>
            <a:ext cx="0" cy="182880"/>
          </a:xfrm>
          <a:prstGeom prst="line">
            <a:avLst/>
          </a:prstGeom>
          <a:noFill/>
          <a:ln w="6350">
            <a:solidFill>
              <a:srgbClr val="91A19B"/>
            </a:solidFill>
            <a:prstDash val="solid"/>
          </a:ln>
        </p:spPr>
      </p:sp>
      <p:sp>
        <p:nvSpPr>
          <p:cNvPr id="164" name="KW 42"/>
          <p:cNvSpPr txBox="1"/>
          <p:nvPr/>
        </p:nvSpPr>
        <p:spPr>
          <a:xfrm>
            <a:off x="804264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42</a:t>
            </a:r>
            <a:endParaRPr lang="en-US" sz="550" dirty="0"/>
          </a:p>
        </p:txBody>
      </p:sp>
      <p:sp>
        <p:nvSpPr>
          <p:cNvPr id="165" name="KW Strich 43"/>
          <p:cNvSpPr/>
          <p:nvPr/>
        </p:nvSpPr>
        <p:spPr>
          <a:xfrm>
            <a:off x="8227353" y="5596128"/>
            <a:ext cx="0" cy="182880"/>
          </a:xfrm>
          <a:prstGeom prst="line">
            <a:avLst/>
          </a:prstGeom>
          <a:noFill/>
          <a:ln w="6350">
            <a:solidFill>
              <a:srgbClr val="91A19B"/>
            </a:solidFill>
            <a:prstDash val="solid"/>
          </a:ln>
        </p:spPr>
      </p:sp>
      <p:sp>
        <p:nvSpPr>
          <p:cNvPr id="166" name="KW 43"/>
          <p:cNvSpPr txBox="1"/>
          <p:nvPr/>
        </p:nvSpPr>
        <p:spPr>
          <a:xfrm>
            <a:off x="822735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43</a:t>
            </a:r>
            <a:endParaRPr lang="en-US" sz="550" dirty="0"/>
          </a:p>
        </p:txBody>
      </p:sp>
      <p:sp>
        <p:nvSpPr>
          <p:cNvPr id="167" name="KW Strich 44"/>
          <p:cNvSpPr/>
          <p:nvPr/>
        </p:nvSpPr>
        <p:spPr>
          <a:xfrm>
            <a:off x="8412064" y="5596128"/>
            <a:ext cx="0" cy="182880"/>
          </a:xfrm>
          <a:prstGeom prst="line">
            <a:avLst/>
          </a:prstGeom>
          <a:noFill/>
          <a:ln w="6350">
            <a:solidFill>
              <a:srgbClr val="91A19B"/>
            </a:solidFill>
            <a:prstDash val="solid"/>
          </a:ln>
        </p:spPr>
      </p:sp>
      <p:sp>
        <p:nvSpPr>
          <p:cNvPr id="168" name="KW 44"/>
          <p:cNvSpPr txBox="1"/>
          <p:nvPr/>
        </p:nvSpPr>
        <p:spPr>
          <a:xfrm>
            <a:off x="841206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44</a:t>
            </a:r>
            <a:endParaRPr lang="en-US" sz="550" dirty="0"/>
          </a:p>
        </p:txBody>
      </p:sp>
      <p:sp>
        <p:nvSpPr>
          <p:cNvPr id="169" name="KW Strich 45"/>
          <p:cNvSpPr/>
          <p:nvPr/>
        </p:nvSpPr>
        <p:spPr>
          <a:xfrm>
            <a:off x="8596775" y="5596128"/>
            <a:ext cx="0" cy="182880"/>
          </a:xfrm>
          <a:prstGeom prst="line">
            <a:avLst/>
          </a:prstGeom>
          <a:noFill/>
          <a:ln w="6350">
            <a:solidFill>
              <a:srgbClr val="91A19B"/>
            </a:solidFill>
            <a:prstDash val="solid"/>
          </a:ln>
        </p:spPr>
      </p:sp>
      <p:sp>
        <p:nvSpPr>
          <p:cNvPr id="170" name="KW 45"/>
          <p:cNvSpPr txBox="1"/>
          <p:nvPr/>
        </p:nvSpPr>
        <p:spPr>
          <a:xfrm>
            <a:off x="859677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45</a:t>
            </a:r>
            <a:endParaRPr lang="en-US" sz="550" dirty="0"/>
          </a:p>
        </p:txBody>
      </p:sp>
      <p:sp>
        <p:nvSpPr>
          <p:cNvPr id="171" name="KW Strich 46"/>
          <p:cNvSpPr/>
          <p:nvPr/>
        </p:nvSpPr>
        <p:spPr>
          <a:xfrm>
            <a:off x="8781487" y="5596128"/>
            <a:ext cx="0" cy="182880"/>
          </a:xfrm>
          <a:prstGeom prst="line">
            <a:avLst/>
          </a:prstGeom>
          <a:noFill/>
          <a:ln w="6350">
            <a:solidFill>
              <a:srgbClr val="91A19B"/>
            </a:solidFill>
            <a:prstDash val="solid"/>
          </a:ln>
        </p:spPr>
      </p:sp>
      <p:sp>
        <p:nvSpPr>
          <p:cNvPr id="172" name="KW 46"/>
          <p:cNvSpPr txBox="1"/>
          <p:nvPr/>
        </p:nvSpPr>
        <p:spPr>
          <a:xfrm>
            <a:off x="878148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46</a:t>
            </a:r>
            <a:endParaRPr lang="en-US" sz="550" dirty="0"/>
          </a:p>
        </p:txBody>
      </p:sp>
      <p:sp>
        <p:nvSpPr>
          <p:cNvPr id="173" name="KW Strich 47"/>
          <p:cNvSpPr/>
          <p:nvPr/>
        </p:nvSpPr>
        <p:spPr>
          <a:xfrm>
            <a:off x="8966198" y="5596128"/>
            <a:ext cx="0" cy="182880"/>
          </a:xfrm>
          <a:prstGeom prst="line">
            <a:avLst/>
          </a:prstGeom>
          <a:noFill/>
          <a:ln w="6350">
            <a:solidFill>
              <a:srgbClr val="91A19B"/>
            </a:solidFill>
            <a:prstDash val="solid"/>
          </a:ln>
        </p:spPr>
      </p:sp>
      <p:sp>
        <p:nvSpPr>
          <p:cNvPr id="174" name="KW 47"/>
          <p:cNvSpPr txBox="1"/>
          <p:nvPr/>
        </p:nvSpPr>
        <p:spPr>
          <a:xfrm>
            <a:off x="896619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47</a:t>
            </a:r>
            <a:endParaRPr lang="en-US" sz="550" dirty="0"/>
          </a:p>
        </p:txBody>
      </p:sp>
      <p:sp>
        <p:nvSpPr>
          <p:cNvPr id="175" name="KW Strich 48"/>
          <p:cNvSpPr/>
          <p:nvPr/>
        </p:nvSpPr>
        <p:spPr>
          <a:xfrm>
            <a:off x="9150909" y="5596128"/>
            <a:ext cx="0" cy="182880"/>
          </a:xfrm>
          <a:prstGeom prst="line">
            <a:avLst/>
          </a:prstGeom>
          <a:noFill/>
          <a:ln w="6350">
            <a:solidFill>
              <a:srgbClr val="91A19B"/>
            </a:solidFill>
            <a:prstDash val="solid"/>
          </a:ln>
        </p:spPr>
      </p:sp>
      <p:sp>
        <p:nvSpPr>
          <p:cNvPr id="176" name="KW 48"/>
          <p:cNvSpPr txBox="1"/>
          <p:nvPr/>
        </p:nvSpPr>
        <p:spPr>
          <a:xfrm>
            <a:off x="915090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48</a:t>
            </a:r>
            <a:endParaRPr lang="en-US" sz="550" dirty="0"/>
          </a:p>
        </p:txBody>
      </p:sp>
      <p:sp>
        <p:nvSpPr>
          <p:cNvPr id="177" name="KW Strich 49"/>
          <p:cNvSpPr/>
          <p:nvPr/>
        </p:nvSpPr>
        <p:spPr>
          <a:xfrm>
            <a:off x="9335621" y="5596128"/>
            <a:ext cx="0" cy="182880"/>
          </a:xfrm>
          <a:prstGeom prst="line">
            <a:avLst/>
          </a:prstGeom>
          <a:noFill/>
          <a:ln w="6350">
            <a:solidFill>
              <a:srgbClr val="91A19B"/>
            </a:solidFill>
            <a:prstDash val="solid"/>
          </a:ln>
        </p:spPr>
      </p:sp>
      <p:sp>
        <p:nvSpPr>
          <p:cNvPr id="178" name="KW 49"/>
          <p:cNvSpPr txBox="1"/>
          <p:nvPr/>
        </p:nvSpPr>
        <p:spPr>
          <a:xfrm>
            <a:off x="933562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49</a:t>
            </a:r>
            <a:endParaRPr lang="en-US" sz="550" dirty="0"/>
          </a:p>
        </p:txBody>
      </p:sp>
      <p:sp>
        <p:nvSpPr>
          <p:cNvPr id="179" name="KW Strich 50"/>
          <p:cNvSpPr/>
          <p:nvPr/>
        </p:nvSpPr>
        <p:spPr>
          <a:xfrm>
            <a:off x="9520332" y="5596128"/>
            <a:ext cx="0" cy="182880"/>
          </a:xfrm>
          <a:prstGeom prst="line">
            <a:avLst/>
          </a:prstGeom>
          <a:noFill/>
          <a:ln w="6350">
            <a:solidFill>
              <a:srgbClr val="91A19B"/>
            </a:solidFill>
            <a:prstDash val="solid"/>
          </a:ln>
        </p:spPr>
      </p:sp>
      <p:sp>
        <p:nvSpPr>
          <p:cNvPr id="180" name="KW 50"/>
          <p:cNvSpPr txBox="1"/>
          <p:nvPr/>
        </p:nvSpPr>
        <p:spPr>
          <a:xfrm>
            <a:off x="952033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50</a:t>
            </a:r>
            <a:endParaRPr lang="en-US" sz="550" dirty="0"/>
          </a:p>
        </p:txBody>
      </p:sp>
      <p:sp>
        <p:nvSpPr>
          <p:cNvPr id="181" name="KW Strich 51"/>
          <p:cNvSpPr/>
          <p:nvPr/>
        </p:nvSpPr>
        <p:spPr>
          <a:xfrm>
            <a:off x="9705043" y="5596128"/>
            <a:ext cx="0" cy="182880"/>
          </a:xfrm>
          <a:prstGeom prst="line">
            <a:avLst/>
          </a:prstGeom>
          <a:noFill/>
          <a:ln w="6350">
            <a:solidFill>
              <a:srgbClr val="91A19B"/>
            </a:solidFill>
            <a:prstDash val="solid"/>
          </a:ln>
        </p:spPr>
      </p:sp>
      <p:sp>
        <p:nvSpPr>
          <p:cNvPr id="182" name="KW 51"/>
          <p:cNvSpPr txBox="1"/>
          <p:nvPr/>
        </p:nvSpPr>
        <p:spPr>
          <a:xfrm>
            <a:off x="970504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51</a:t>
            </a:r>
            <a:endParaRPr lang="en-US" sz="550" dirty="0"/>
          </a:p>
        </p:txBody>
      </p:sp>
      <p:sp>
        <p:nvSpPr>
          <p:cNvPr id="183" name="KW Strich 52"/>
          <p:cNvSpPr/>
          <p:nvPr/>
        </p:nvSpPr>
        <p:spPr>
          <a:xfrm>
            <a:off x="9889755" y="5596128"/>
            <a:ext cx="0" cy="182880"/>
          </a:xfrm>
          <a:prstGeom prst="line">
            <a:avLst/>
          </a:prstGeom>
          <a:noFill/>
          <a:ln w="6350">
            <a:solidFill>
              <a:srgbClr val="91A19B"/>
            </a:solidFill>
            <a:prstDash val="solid"/>
          </a:ln>
        </p:spPr>
      </p:sp>
      <p:sp>
        <p:nvSpPr>
          <p:cNvPr id="184" name="KW 52"/>
          <p:cNvSpPr txBox="1"/>
          <p:nvPr/>
        </p:nvSpPr>
        <p:spPr>
          <a:xfrm>
            <a:off x="988975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52</a:t>
            </a:r>
            <a:endParaRPr lang="en-US" sz="550" dirty="0"/>
          </a:p>
        </p:txBody>
      </p:sp>
      <p:sp>
        <p:nvSpPr>
          <p:cNvPr id="185" name="KW Strich 53"/>
          <p:cNvSpPr/>
          <p:nvPr/>
        </p:nvSpPr>
        <p:spPr>
          <a:xfrm>
            <a:off x="10074466" y="5596128"/>
            <a:ext cx="0" cy="182880"/>
          </a:xfrm>
          <a:prstGeom prst="line">
            <a:avLst/>
          </a:prstGeom>
          <a:noFill/>
          <a:ln w="6350">
            <a:solidFill>
              <a:srgbClr val="91A19B"/>
            </a:solidFill>
            <a:prstDash val="solid"/>
          </a:ln>
        </p:spPr>
      </p:sp>
      <p:sp>
        <p:nvSpPr>
          <p:cNvPr id="186" name="KW 53"/>
          <p:cNvSpPr txBox="1"/>
          <p:nvPr/>
        </p:nvSpPr>
        <p:spPr>
          <a:xfrm>
            <a:off x="10074466" y="5596128"/>
            <a:ext cx="105549" cy="182880"/>
          </a:xfrm>
          <a:prstGeom prst="rect">
            <a:avLst/>
          </a:prstGeom>
          <a:noFill/>
          <a:ln/>
        </p:spPr>
        <p:txBody>
          <a:bodyPr wrap="square" lIns="0" tIns="0" rIns="0" bIns="0" rtlCol="0" anchor="ctr"/>
          <a:lstStyle/>
          <a:p>
            <a:pPr algn="ctr" indent="0" marL="0">
              <a:buNone/>
            </a:pPr>
            <a:r>
              <a:rPr lang="en-US" sz="550" dirty="0">
                <a:solidFill>
                  <a:srgbClr val="707981"/>
                </a:solidFill>
              </a:rPr>
              <a:t>53</a:t>
            </a:r>
            <a:endParaRPr lang="en-US" sz="550" dirty="0"/>
          </a:p>
        </p:txBody>
      </p:sp>
      <p:sp>
        <p:nvSpPr>
          <p:cNvPr id="187" name="KW Strich Ende"/>
          <p:cNvSpPr/>
          <p:nvPr/>
        </p:nvSpPr>
        <p:spPr>
          <a:xfrm>
            <a:off x="10180015" y="5596128"/>
            <a:ext cx="0" cy="182880"/>
          </a:xfrm>
          <a:prstGeom prst="line">
            <a:avLst/>
          </a:prstGeom>
          <a:noFill/>
          <a:ln w="6350">
            <a:solidFill>
              <a:srgbClr val="91A19B"/>
            </a:solidFill>
            <a:prstDash val="solid"/>
          </a:ln>
        </p:spPr>
      </p:sp>
      <p:sp>
        <p:nvSpPr>
          <p:cNvPr id="188" name="Linie unter den Kalenderwochen"/>
          <p:cNvSpPr/>
          <p:nvPr/>
        </p:nvSpPr>
        <p:spPr>
          <a:xfrm>
            <a:off x="548640" y="5779008"/>
            <a:ext cx="9631375" cy="0"/>
          </a:xfrm>
          <a:prstGeom prst="line">
            <a:avLst/>
          </a:prstGeom>
          <a:noFill/>
          <a:ln w="6350">
            <a:solidFill>
              <a:srgbClr val="91A19B"/>
            </a:solidFill>
            <a:prstDash val="solid"/>
          </a:ln>
        </p:spPr>
      </p:sp>
      <p:sp>
        <p:nvSpPr>
          <p:cNvPr id="189" name="Projektstart"/>
          <p:cNvSpPr/>
          <p:nvPr/>
        </p:nvSpPr>
        <p:spPr>
          <a:xfrm>
            <a:off x="1293495" y="5833872"/>
            <a:ext cx="146304" cy="182880"/>
          </a:xfrm>
          <a:prstGeom prst="chevron">
            <a:avLst/>
          </a:prstGeom>
          <a:solidFill>
            <a:srgbClr val="25C77A"/>
          </a:solidFill>
          <a:ln w="12700">
            <a:solidFill>
              <a:srgbClr val="25C77A"/>
            </a:solidFill>
            <a:prstDash val="solid"/>
          </a:ln>
        </p:spPr>
      </p:sp>
      <p:sp>
        <p:nvSpPr>
          <p:cNvPr id="190" name="Projektende"/>
          <p:cNvSpPr/>
          <p:nvPr/>
        </p:nvSpPr>
        <p:spPr>
          <a:xfrm>
            <a:off x="10033711" y="5833872"/>
            <a:ext cx="146304" cy="182880"/>
          </a:xfrm>
          <a:prstGeom prst="chevron">
            <a:avLst/>
          </a:prstGeom>
          <a:solidFill>
            <a:srgbClr val="25C77A"/>
          </a:solidFill>
          <a:ln w="12700">
            <a:solidFill>
              <a:srgbClr val="25C77A"/>
            </a:solidFill>
            <a:prstDash val="solid"/>
          </a:ln>
        </p:spPr>
      </p:sp>
      <p:sp>
        <p:nvSpPr>
          <p:cNvPr id="191" name="Projektstart Text"/>
          <p:cNvSpPr txBox="1"/>
          <p:nvPr/>
        </p:nvSpPr>
        <p:spPr>
          <a:xfrm>
            <a:off x="543687" y="6035040"/>
            <a:ext cx="1645920" cy="329184"/>
          </a:xfrm>
          <a:prstGeom prst="rect">
            <a:avLst/>
          </a:prstGeom>
          <a:noFill/>
          <a:ln/>
        </p:spPr>
        <p:txBody>
          <a:bodyPr wrap="square" lIns="0" tIns="0" rIns="0" bIns="0" rtlCol="0" anchor="t"/>
          <a:lstStyle/>
          <a:p>
            <a:pPr algn="ctr" indent="0" marL="0">
              <a:lnSpc>
                <a:spcPct val="105000"/>
              </a:lnSpc>
              <a:buNone/>
            </a:pPr>
            <a:r>
              <a:rPr lang="en-US" sz="800" dirty="0">
                <a:solidFill>
                  <a:srgbClr val="111418"/>
                </a:solidFill>
              </a:rPr>
              <a:t>1 February 2026</a:t>
            </a:r>
            <a:endParaRPr lang="en-US" sz="800" dirty="0"/>
          </a:p>
          <a:p>
            <a:pPr algn="ctr" indent="0" marL="0">
              <a:lnSpc>
                <a:spcPct val="105000"/>
              </a:lnSpc>
              <a:buNone/>
            </a:pPr>
            <a:r>
              <a:rPr lang="en-US" sz="800" dirty="0">
                <a:solidFill>
                  <a:srgbClr val="111418"/>
                </a:solidFill>
              </a:rPr>
              <a:t>Project start</a:t>
            </a:r>
            <a:endParaRPr lang="en-US" sz="800" dirty="0"/>
          </a:p>
        </p:txBody>
      </p:sp>
      <p:sp>
        <p:nvSpPr>
          <p:cNvPr id="192" name="Projektende Text"/>
          <p:cNvSpPr txBox="1"/>
          <p:nvPr/>
        </p:nvSpPr>
        <p:spPr>
          <a:xfrm>
            <a:off x="8534095" y="6035040"/>
            <a:ext cx="1645920" cy="329184"/>
          </a:xfrm>
          <a:prstGeom prst="rect">
            <a:avLst/>
          </a:prstGeom>
          <a:noFill/>
          <a:ln/>
        </p:spPr>
        <p:txBody>
          <a:bodyPr wrap="square" lIns="0" tIns="0" rIns="0" bIns="0" rtlCol="0" anchor="t"/>
          <a:lstStyle/>
          <a:p>
            <a:pPr algn="r" indent="0" marL="0">
              <a:lnSpc>
                <a:spcPct val="105000"/>
              </a:lnSpc>
              <a:buNone/>
            </a:pPr>
            <a:r>
              <a:rPr lang="en-US" sz="800" dirty="0">
                <a:solidFill>
                  <a:srgbClr val="111418"/>
                </a:solidFill>
              </a:rPr>
              <a:t>31 December 2026</a:t>
            </a:r>
            <a:endParaRPr lang="en-US" sz="800" dirty="0"/>
          </a:p>
          <a:p>
            <a:pPr algn="r" indent="0" marL="0">
              <a:lnSpc>
                <a:spcPct val="105000"/>
              </a:lnSpc>
              <a:buNone/>
            </a:pPr>
            <a:r>
              <a:rPr lang="en-US" sz="800" dirty="0">
                <a:solidFill>
                  <a:srgbClr val="111418"/>
                </a:solidFill>
              </a:rPr>
              <a:t>Project end</a:t>
            </a:r>
            <a:endParaRPr lang="en-US" sz="800" dirty="0"/>
          </a:p>
        </p:txBody>
      </p:sp>
      <p:sp>
        <p:nvSpPr>
          <p:cNvPr id="193" name="Heute"/>
          <p:cNvSpPr/>
          <p:nvPr/>
        </p:nvSpPr>
        <p:spPr>
          <a:xfrm>
            <a:off x="8061845" y="5861304"/>
            <a:ext cx="146304" cy="128016"/>
          </a:xfrm>
          <a:prstGeom prst="triangle">
            <a:avLst/>
          </a:prstGeom>
          <a:solidFill>
            <a:srgbClr val="25C77A"/>
          </a:solidFill>
          <a:ln w="12700">
            <a:solidFill>
              <a:srgbClr val="25C77A"/>
            </a:solidFill>
            <a:prstDash val="solid"/>
          </a:ln>
        </p:spPr>
      </p:sp>
      <p:sp>
        <p:nvSpPr>
          <p:cNvPr id="194" name="Heute Text"/>
          <p:cNvSpPr txBox="1"/>
          <p:nvPr/>
        </p:nvSpPr>
        <p:spPr>
          <a:xfrm>
            <a:off x="7677797" y="6035040"/>
            <a:ext cx="914400" cy="182880"/>
          </a:xfrm>
          <a:prstGeom prst="rect">
            <a:avLst/>
          </a:prstGeom>
          <a:noFill/>
          <a:ln/>
        </p:spPr>
        <p:txBody>
          <a:bodyPr wrap="square" lIns="0" tIns="0" rIns="0" bIns="0" rtlCol="0" anchor="t"/>
          <a:lstStyle/>
          <a:p>
            <a:pPr algn="ctr" indent="0" marL="0">
              <a:buNone/>
            </a:pPr>
            <a:r>
              <a:rPr lang="en-US" sz="800" dirty="0">
                <a:solidFill>
                  <a:srgbClr val="25C77A"/>
                </a:solidFill>
              </a:rPr>
              <a:t>Today</a:t>
            </a:r>
            <a:endParaRPr lang="en-US" sz="800" dirty="0"/>
          </a:p>
        </p:txBody>
      </p:sp>
      <p:sp>
        <p:nvSpPr>
          <p:cNvPr id="195" name="Meilenstein 1"/>
          <p:cNvSpPr/>
          <p:nvPr/>
        </p:nvSpPr>
        <p:spPr>
          <a:xfrm>
            <a:off x="4851735" y="5861304"/>
            <a:ext cx="128016" cy="128016"/>
          </a:xfrm>
          <a:prstGeom prst="ellipse">
            <a:avLst/>
          </a:prstGeom>
          <a:solidFill>
            <a:srgbClr val="25C77A"/>
          </a:solidFill>
          <a:ln w="12700">
            <a:solidFill>
              <a:srgbClr val="25C77A"/>
            </a:solidFill>
            <a:prstDash val="solid"/>
          </a:ln>
        </p:spPr>
      </p:sp>
      <p:sp>
        <p:nvSpPr>
          <p:cNvPr id="196" name="Meilenstein Text 1"/>
          <p:cNvSpPr txBox="1"/>
          <p:nvPr/>
        </p:nvSpPr>
        <p:spPr>
          <a:xfrm>
            <a:off x="3909903" y="6035040"/>
            <a:ext cx="2011680" cy="182880"/>
          </a:xfrm>
          <a:prstGeom prst="rect">
            <a:avLst/>
          </a:prstGeom>
          <a:noFill/>
          <a:ln/>
        </p:spPr>
        <p:txBody>
          <a:bodyPr wrap="square" lIns="0" tIns="0" rIns="0" bIns="0" rtlCol="0" anchor="t"/>
          <a:lstStyle/>
          <a:p>
            <a:pPr algn="ctr" indent="0" marL="0">
              <a:buNone/>
            </a:pPr>
            <a:r>
              <a:rPr lang="en-US" sz="800" dirty="0">
                <a:solidFill>
                  <a:srgbClr val="111418"/>
                </a:solidFill>
              </a:rPr>
              <a:t>Milestone 1  ·  Concept release</a:t>
            </a:r>
            <a:endParaRPr lang="en-US" sz="800" dirty="0"/>
          </a:p>
        </p:txBody>
      </p:sp>
      <p:sp>
        <p:nvSpPr>
          <p:cNvPr id="197" name="Meilenstein 2"/>
          <p:cNvSpPr/>
          <p:nvPr/>
        </p:nvSpPr>
        <p:spPr>
          <a:xfrm>
            <a:off x="6883559" y="5861304"/>
            <a:ext cx="128016" cy="128016"/>
          </a:xfrm>
          <a:prstGeom prst="ellipse">
            <a:avLst/>
          </a:prstGeom>
          <a:solidFill>
            <a:srgbClr val="25C77A"/>
          </a:solidFill>
          <a:ln w="12700">
            <a:solidFill>
              <a:srgbClr val="25C77A"/>
            </a:solidFill>
            <a:prstDash val="solid"/>
          </a:ln>
        </p:spPr>
      </p:sp>
      <p:sp>
        <p:nvSpPr>
          <p:cNvPr id="198" name="Meilenstein Text 2"/>
          <p:cNvSpPr txBox="1"/>
          <p:nvPr/>
        </p:nvSpPr>
        <p:spPr>
          <a:xfrm>
            <a:off x="5941727" y="6035040"/>
            <a:ext cx="2011680" cy="182880"/>
          </a:xfrm>
          <a:prstGeom prst="rect">
            <a:avLst/>
          </a:prstGeom>
          <a:noFill/>
          <a:ln/>
        </p:spPr>
        <p:txBody>
          <a:bodyPr wrap="square" lIns="0" tIns="0" rIns="0" bIns="0" rtlCol="0" anchor="t"/>
          <a:lstStyle/>
          <a:p>
            <a:pPr algn="ctr" indent="0" marL="0">
              <a:buNone/>
            </a:pPr>
            <a:r>
              <a:rPr lang="en-US" sz="800" dirty="0">
                <a:solidFill>
                  <a:srgbClr val="111418"/>
                </a:solidFill>
              </a:rPr>
              <a:t>Milestone 2  ·  Series release</a:t>
            </a:r>
            <a:endParaRPr lang="en-US" sz="800" dirty="0"/>
          </a:p>
        </p:txBody>
      </p:sp>
      <p:sp>
        <p:nvSpPr>
          <p:cNvPr id="19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15</a:t>
            </a:fld>
            <a:endParaRPr lang="en-US"/>
          </a:p>
        </p:txBody>
      </p:sp>
      <p:sp>
        <p:nvSpPr>
          <p:cNvPr id="20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COMPANY  ·  UNTERNEHMEN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we do</a:t>
            </a:r>
            <a:endParaRPr lang="en-US" sz="3400" dirty="0"/>
          </a:p>
          <a:p>
            <a:pPr algn="l" indent="0" marL="0">
              <a:lnSpc>
                <a:spcPct val="95000"/>
              </a:lnSpc>
              <a:buNone/>
            </a:pPr>
            <a:r>
              <a:rPr lang="en-US" sz="1800" spc="-68" kern="0" dirty="0">
                <a:solidFill>
                  <a:srgbClr val="707981"/>
                </a:solidFill>
              </a:rPr>
              <a:t>Was wir tun</a:t>
            </a:r>
            <a:endParaRPr lang="en-US" sz="3400" dirty="0"/>
          </a:p>
        </p:txBody>
      </p:sp>
      <p:sp>
        <p:nvSpPr>
          <p:cNvPr id="5" name="Text zweisprachig A"/>
          <p:cNvSpPr txBox="1"/>
          <p:nvPr/>
        </p:nvSpPr>
        <p:spPr>
          <a:xfrm>
            <a:off x="548640" y="2606040"/>
            <a:ext cx="6583680" cy="3611880"/>
          </a:xfrm>
          <a:prstGeom prst="rect">
            <a:avLst/>
          </a:prstGeom>
          <a:noFill/>
          <a:ln/>
        </p:spPr>
        <p:txBody>
          <a:bodyPr wrap="square" lIns="0" tIns="0" rIns="0" bIns="0" rtlCol="0" anchor="t"/>
          <a:lstStyle/>
          <a:p>
            <a:pPr indent="0" marL="0">
              <a:lnSpc>
                <a:spcPct val="110000"/>
              </a:lnSpc>
              <a:buNone/>
            </a:pPr>
            <a:r>
              <a:rPr lang="en-US" sz="1300" dirty="0">
                <a:solidFill>
                  <a:srgbClr val="111418"/>
                </a:solidFill>
              </a:rPr>
              <a:t>From the first idea to series production: engineering, simulation, development and prototyping under one roof.</a:t>
            </a:r>
            <a:endParaRPr lang="en-US" sz="1300" dirty="0"/>
          </a:p>
          <a:p>
            <a:pPr indent="0" marL="0">
              <a:lnSpc>
                <a:spcPct val="100000"/>
              </a:lnSpc>
              <a:spcAft>
                <a:spcPts val="1200"/>
              </a:spcAft>
              <a:buNone/>
            </a:pPr>
            <a:r>
              <a:rPr lang="en-US" sz="1100" dirty="0">
                <a:solidFill>
                  <a:srgbClr val="707981"/>
                </a:solidFill>
              </a:rPr>
              <a:t>Von der ersten Idee bis zur fertigen Serienentwicklung: Konstruktion, Simulation, Entwicklung und Prototyping unter einem Dach.</a:t>
            </a:r>
            <a:endParaRPr lang="en-US" sz="1300" dirty="0"/>
          </a:p>
          <a:p>
            <a:pPr marL="342900" indent="-342900">
              <a:lnSpc>
                <a:spcPct val="110000"/>
              </a:lnSpc>
              <a:buSzPct val="100000"/>
              <a:buFont typeface="Inter" pitchFamily="34" charset="0"/>
              <a:buChar char="•"/>
            </a:pPr>
            <a:r>
              <a:rPr lang="en-US" sz="1300" dirty="0">
                <a:solidFill>
                  <a:srgbClr val="111418"/>
                </a:solidFill>
              </a:rPr>
              <a:t>An independent and neutral perspective</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Eine unabhängige und neutrale Sichtweise</a:t>
            </a:r>
            <a:endParaRPr lang="en-US" sz="1300" dirty="0"/>
          </a:p>
          <a:p>
            <a:pPr marL="342900" indent="-342900">
              <a:lnSpc>
                <a:spcPct val="110000"/>
              </a:lnSpc>
              <a:buSzPct val="100000"/>
              <a:buFont typeface="Inter" pitchFamily="34" charset="0"/>
              <a:buChar char="•"/>
            </a:pPr>
            <a:r>
              <a:rPr lang="en-US" sz="1300" dirty="0">
                <a:solidFill>
                  <a:srgbClr val="111418"/>
                </a:solidFill>
              </a:rPr>
              <a:t>Targeted implementation and results</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Eine zielgerichtete Umsetzung und Resultaterreichung</a:t>
            </a:r>
            <a:endParaRPr lang="en-US" sz="1300" dirty="0"/>
          </a:p>
          <a:p>
            <a:pPr marL="342900" indent="-342900">
              <a:lnSpc>
                <a:spcPct val="110000"/>
              </a:lnSpc>
              <a:buSzPct val="100000"/>
              <a:buFont typeface="Inter" pitchFamily="34" charset="0"/>
              <a:buChar char="•"/>
            </a:pPr>
            <a:r>
              <a:rPr lang="en-US" sz="1300" dirty="0">
                <a:solidFill>
                  <a:srgbClr val="111418"/>
                </a:solidFill>
              </a:rPr>
              <a:t>A strong technological and business network</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Einen starken technologischen und betriebswirtschaftlichen Leistungsverbund</a:t>
            </a:r>
            <a:endParaRPr lang="en-US" sz="1300" dirty="0"/>
          </a:p>
          <a:p>
            <a:pPr marL="342900" indent="-342900">
              <a:lnSpc>
                <a:spcPct val="110000"/>
              </a:lnSpc>
              <a:buSzPct val="100000"/>
              <a:buFont typeface="Inter" pitchFamily="34" charset="0"/>
              <a:buChar char="•"/>
            </a:pPr>
            <a:r>
              <a:rPr lang="en-US" sz="1300" dirty="0">
                <a:solidFill>
                  <a:srgbClr val="111418"/>
                </a:solidFill>
              </a:rPr>
              <a:t>Industry-specific application expertise</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Branchenspezifisches Anwendungsfachwissen</a:t>
            </a:r>
            <a:endParaRPr lang="en-US" sz="1300" dirty="0"/>
          </a:p>
        </p:txBody>
      </p:sp>
      <p:sp>
        <p:nvSpPr>
          <p:cNvPr id="6"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800"/>
              </a:spcAft>
              <a:buNone/>
            </a:pPr>
            <a:endParaRPr lang="en-US" sz="14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16</a:t>
            </a:fld>
            <a:endParaRPr lang="en-US"/>
          </a:p>
        </p:txBody>
      </p:sp>
      <p:sp>
        <p:nvSpPr>
          <p:cNvPr id="8"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COMPANY  ·  UNTERNEHMEN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What we do  ·  Was wir tun</a:t>
            </a:r>
            <a:endParaRPr lang="en-US" sz="3400" dirty="0"/>
          </a:p>
        </p:txBody>
      </p:sp>
      <p:sp>
        <p:nvSpPr>
          <p:cNvPr id="5" name="Eyebrow ENGLISH"/>
          <p:cNvSpPr txBox="1"/>
          <p:nvPr/>
        </p:nvSpPr>
        <p:spPr>
          <a:xfrm>
            <a:off x="548640"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ENGLISH</a:t>
            </a:r>
            <a:endParaRPr lang="en-US" sz="1000" dirty="0"/>
          </a:p>
        </p:txBody>
      </p:sp>
      <p:sp>
        <p:nvSpPr>
          <p:cNvPr id="6" name="Eyebrow DEUTSCH"/>
          <p:cNvSpPr txBox="1"/>
          <p:nvPr/>
        </p:nvSpPr>
        <p:spPr>
          <a:xfrm>
            <a:off x="6141568"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DEUTSCH</a:t>
            </a:r>
            <a:endParaRPr lang="en-US" sz="1000" dirty="0"/>
          </a:p>
        </p:txBody>
      </p:sp>
      <p:sp>
        <p:nvSpPr>
          <p:cNvPr id="7" name="Lead 1"/>
          <p:cNvSpPr txBox="1"/>
          <p:nvPr/>
        </p:nvSpPr>
        <p:spPr>
          <a:xfrm>
            <a:off x="548640" y="2926080"/>
            <a:ext cx="5135728" cy="777240"/>
          </a:xfrm>
          <a:prstGeom prst="rect">
            <a:avLst/>
          </a:prstGeom>
          <a:noFill/>
          <a:ln/>
        </p:spPr>
        <p:txBody>
          <a:bodyPr wrap="square" lIns="0" tIns="0" rIns="0" bIns="0" rtlCol="0" anchor="t"/>
          <a:lstStyle/>
          <a:p>
            <a:pPr indent="0" marL="0">
              <a:lnSpc>
                <a:spcPct val="120000"/>
              </a:lnSpc>
              <a:buNone/>
            </a:pPr>
            <a:r>
              <a:rPr lang="en-US" sz="1300" dirty="0">
                <a:solidFill>
                  <a:srgbClr val="111418"/>
                </a:solidFill>
              </a:rPr>
              <a:t>From the first idea to series production: engineering, simulation, development and prototyping under one roof.</a:t>
            </a:r>
            <a:endParaRPr lang="en-US" sz="1300" dirty="0"/>
          </a:p>
        </p:txBody>
      </p:sp>
      <p:sp>
        <p:nvSpPr>
          <p:cNvPr id="8" name="Lead 2"/>
          <p:cNvSpPr txBox="1"/>
          <p:nvPr/>
        </p:nvSpPr>
        <p:spPr>
          <a:xfrm>
            <a:off x="6141568" y="2926080"/>
            <a:ext cx="5135728" cy="777240"/>
          </a:xfrm>
          <a:prstGeom prst="rect">
            <a:avLst/>
          </a:prstGeom>
          <a:noFill/>
          <a:ln/>
        </p:spPr>
        <p:txBody>
          <a:bodyPr wrap="square" lIns="0" tIns="0" rIns="0" bIns="0" rtlCol="0" anchor="t"/>
          <a:lstStyle/>
          <a:p>
            <a:pPr indent="0" marL="0">
              <a:lnSpc>
                <a:spcPct val="120000"/>
              </a:lnSpc>
              <a:buNone/>
            </a:pPr>
            <a:r>
              <a:rPr lang="en-US" sz="1300" dirty="0">
                <a:solidFill>
                  <a:srgbClr val="111418"/>
                </a:solidFill>
              </a:rPr>
              <a:t>Von der ersten Idee bis zur fertigen Serienentwicklung: Konstruktion, Simulation, Entwicklung und Prototyping unter einem Dach.</a:t>
            </a:r>
            <a:endParaRPr lang="en-US" sz="1300" dirty="0"/>
          </a:p>
        </p:txBody>
      </p:sp>
      <p:sp>
        <p:nvSpPr>
          <p:cNvPr id="9" name="Punkt 1 1"/>
          <p:cNvSpPr txBox="1"/>
          <p:nvPr/>
        </p:nvSpPr>
        <p:spPr>
          <a:xfrm>
            <a:off x="548640" y="3749040"/>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An independent and neutral perspective</a:t>
            </a:r>
            <a:endParaRPr lang="en-US" sz="1300" dirty="0"/>
          </a:p>
        </p:txBody>
      </p:sp>
      <p:sp>
        <p:nvSpPr>
          <p:cNvPr id="10" name="Punkt 2 1"/>
          <p:cNvSpPr txBox="1"/>
          <p:nvPr/>
        </p:nvSpPr>
        <p:spPr>
          <a:xfrm>
            <a:off x="6141568" y="3749040"/>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 unabhängige und neutrale Sichtweise</a:t>
            </a:r>
            <a:endParaRPr lang="en-US" sz="1300" dirty="0"/>
          </a:p>
        </p:txBody>
      </p:sp>
      <p:sp>
        <p:nvSpPr>
          <p:cNvPr id="11" name="Punkt 1 2"/>
          <p:cNvSpPr txBox="1"/>
          <p:nvPr/>
        </p:nvSpPr>
        <p:spPr>
          <a:xfrm>
            <a:off x="548640" y="4334256"/>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Targeted implementation and results</a:t>
            </a:r>
            <a:endParaRPr lang="en-US" sz="1300" dirty="0"/>
          </a:p>
        </p:txBody>
      </p:sp>
      <p:sp>
        <p:nvSpPr>
          <p:cNvPr id="12" name="Punkt 2 2"/>
          <p:cNvSpPr txBox="1"/>
          <p:nvPr/>
        </p:nvSpPr>
        <p:spPr>
          <a:xfrm>
            <a:off x="6141568" y="4334256"/>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 zielgerichtete Umsetzung und Resultaterreichung</a:t>
            </a:r>
            <a:endParaRPr lang="en-US" sz="1300" dirty="0"/>
          </a:p>
        </p:txBody>
      </p:sp>
      <p:sp>
        <p:nvSpPr>
          <p:cNvPr id="13" name="Punkt 1 3"/>
          <p:cNvSpPr txBox="1"/>
          <p:nvPr/>
        </p:nvSpPr>
        <p:spPr>
          <a:xfrm>
            <a:off x="548640" y="4919472"/>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A strong technological and business network</a:t>
            </a:r>
            <a:endParaRPr lang="en-US" sz="1300" dirty="0"/>
          </a:p>
        </p:txBody>
      </p:sp>
      <p:sp>
        <p:nvSpPr>
          <p:cNvPr id="14" name="Punkt 2 3"/>
          <p:cNvSpPr txBox="1"/>
          <p:nvPr/>
        </p:nvSpPr>
        <p:spPr>
          <a:xfrm>
            <a:off x="6141568" y="4919472"/>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Einen starken technologischen und betriebswirtschaftlichen Leistungsverbund</a:t>
            </a:r>
            <a:endParaRPr lang="en-US" sz="1300" dirty="0"/>
          </a:p>
        </p:txBody>
      </p:sp>
      <p:sp>
        <p:nvSpPr>
          <p:cNvPr id="15" name="Punkt 1 4"/>
          <p:cNvSpPr txBox="1"/>
          <p:nvPr/>
        </p:nvSpPr>
        <p:spPr>
          <a:xfrm>
            <a:off x="548640" y="5504688"/>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Industry-specific application expertise</a:t>
            </a:r>
            <a:endParaRPr lang="en-US" sz="1300" dirty="0"/>
          </a:p>
        </p:txBody>
      </p:sp>
      <p:sp>
        <p:nvSpPr>
          <p:cNvPr id="16" name="Punkt 2 4"/>
          <p:cNvSpPr txBox="1"/>
          <p:nvPr/>
        </p:nvSpPr>
        <p:spPr>
          <a:xfrm>
            <a:off x="6141568" y="5504688"/>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Branchenspezifisches Anwendungsfachwissen</a:t>
            </a:r>
            <a:endParaRPr lang="en-US" sz="1300" dirty="0"/>
          </a:p>
        </p:txBody>
      </p:sp>
      <p:sp>
        <p:nvSpPr>
          <p:cNvPr id="17" name="Spaltenlinie"/>
          <p:cNvSpPr/>
          <p:nvPr/>
        </p:nvSpPr>
        <p:spPr>
          <a:xfrm>
            <a:off x="5912968" y="2606040"/>
            <a:ext cx="0" cy="3429000"/>
          </a:xfrm>
          <a:prstGeom prst="line">
            <a:avLst/>
          </a:prstGeom>
          <a:noFill/>
          <a:ln w="6350">
            <a:solidFill>
              <a:srgbClr val="A0A1A3"/>
            </a:solidFill>
            <a:prstDash val="solid"/>
          </a:ln>
        </p:spPr>
      </p:sp>
      <p:sp>
        <p:nvSpPr>
          <p:cNvPr id="1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17</a:t>
            </a:fld>
            <a:endParaRPr lang="en-US"/>
          </a:p>
        </p:txBody>
      </p:sp>
      <p:sp>
        <p:nvSpPr>
          <p:cNvPr id="19"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CONCEPT VARIANTS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Sheet metal or injection moulding</a:t>
            </a:r>
            <a:endParaRPr lang="en-US" sz="3400" dirty="0"/>
          </a:p>
        </p:txBody>
      </p:sp>
      <p:sp>
        <p:nvSpPr>
          <p:cNvPr id="5" name="Eyebrow VARIANT A  ·  SHEET METAL"/>
          <p:cNvSpPr txBox="1"/>
          <p:nvPr/>
        </p:nvSpPr>
        <p:spPr>
          <a:xfrm>
            <a:off x="548640"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VARIANT A  ·  SHEET METAL</a:t>
            </a:r>
            <a:endParaRPr lang="en-US" sz="1000" dirty="0"/>
          </a:p>
        </p:txBody>
      </p:sp>
      <p:pic>
        <p:nvPicPr>
          <p:cNvPr id="6" name="Foto VARIANT A  ·  SHEET METAL" descr="p14">    </p:cNvPr>
          <p:cNvPicPr>
            <a:picLocks noChangeAspect="1"/>
          </p:cNvPicPr>
          <p:nvPr/>
        </p:nvPicPr>
        <p:blipFill>
          <a:blip r:embed="rId1"/>
          <a:srcRect l="0" r="0" t="0" b="0"/>
          <a:stretch/>
        </p:blipFill>
        <p:spPr>
          <a:xfrm>
            <a:off x="548640" y="3017520"/>
            <a:ext cx="5135728" cy="1554480"/>
          </a:xfrm>
          <a:prstGeom prst="rect">
            <a:avLst/>
          </a:prstGeom>
        </p:spPr>
      </p:pic>
      <p:sp>
        <p:nvSpPr>
          <p:cNvPr id="7" name="Eckmarker 1"/>
          <p:cNvSpPr/>
          <p:nvPr/>
        </p:nvSpPr>
        <p:spPr>
          <a:xfrm>
            <a:off x="457200" y="2926080"/>
            <a:ext cx="73152" cy="73152"/>
          </a:xfrm>
          <a:prstGeom prst="ellipse">
            <a:avLst/>
          </a:prstGeom>
          <a:solidFill>
            <a:srgbClr val="111418"/>
          </a:solidFill>
          <a:ln w="12700">
            <a:solidFill>
              <a:srgbClr val="111418"/>
            </a:solidFill>
            <a:prstDash val="solid"/>
          </a:ln>
        </p:spPr>
      </p:sp>
      <p:sp>
        <p:nvSpPr>
          <p:cNvPr id="8" name="Eckmarker 2"/>
          <p:cNvSpPr/>
          <p:nvPr/>
        </p:nvSpPr>
        <p:spPr>
          <a:xfrm>
            <a:off x="5702656" y="2926080"/>
            <a:ext cx="73152" cy="73152"/>
          </a:xfrm>
          <a:prstGeom prst="ellipse">
            <a:avLst/>
          </a:prstGeom>
          <a:solidFill>
            <a:srgbClr val="111418"/>
          </a:solidFill>
          <a:ln w="12700">
            <a:solidFill>
              <a:srgbClr val="111418"/>
            </a:solidFill>
            <a:prstDash val="solid"/>
          </a:ln>
        </p:spPr>
      </p:sp>
      <p:sp>
        <p:nvSpPr>
          <p:cNvPr id="9" name="Eckmarker 3"/>
          <p:cNvSpPr/>
          <p:nvPr/>
        </p:nvSpPr>
        <p:spPr>
          <a:xfrm>
            <a:off x="457200" y="4590288"/>
            <a:ext cx="73152" cy="73152"/>
          </a:xfrm>
          <a:prstGeom prst="ellipse">
            <a:avLst/>
          </a:prstGeom>
          <a:solidFill>
            <a:srgbClr val="111418"/>
          </a:solidFill>
          <a:ln w="12700">
            <a:solidFill>
              <a:srgbClr val="111418"/>
            </a:solidFill>
            <a:prstDash val="solid"/>
          </a:ln>
        </p:spPr>
      </p:sp>
      <p:sp>
        <p:nvSpPr>
          <p:cNvPr id="10" name="Eckmarker 4"/>
          <p:cNvSpPr/>
          <p:nvPr/>
        </p:nvSpPr>
        <p:spPr>
          <a:xfrm>
            <a:off x="5702656" y="4590288"/>
            <a:ext cx="73152" cy="73152"/>
          </a:xfrm>
          <a:prstGeom prst="ellipse">
            <a:avLst/>
          </a:prstGeom>
          <a:solidFill>
            <a:srgbClr val="111418"/>
          </a:solidFill>
          <a:ln w="12700">
            <a:solidFill>
              <a:srgbClr val="111418"/>
            </a:solidFill>
            <a:prstDash val="solid"/>
          </a:ln>
        </p:spPr>
      </p:sp>
      <p:sp>
        <p:nvSpPr>
          <p:cNvPr id="11" name="Punkte VARIANT A  ·  SHEET METAL"/>
          <p:cNvSpPr txBox="1"/>
          <p:nvPr/>
        </p:nvSpPr>
        <p:spPr>
          <a:xfrm>
            <a:off x="548640" y="4754880"/>
            <a:ext cx="5135728" cy="1005840"/>
          </a:xfrm>
          <a:prstGeom prst="rect">
            <a:avLst/>
          </a:prstGeom>
          <a:noFill/>
          <a:ln/>
        </p:spPr>
        <p:txBody>
          <a:bodyPr wrap="square" lIns="0" tIns="0" rIns="0" bIns="0" rtlCol="0" anchor="t"/>
          <a:lstStyle/>
          <a:p>
            <a:pPr marL="342900" indent="-342900">
              <a:lnSpc>
                <a:spcPct val="120000"/>
              </a:lnSpc>
              <a:spcAft>
                <a:spcPts val="400"/>
              </a:spcAft>
              <a:buSzPct val="100000"/>
              <a:buFont typeface="Inter" pitchFamily="34" charset="0"/>
              <a:buChar char="•"/>
            </a:pPr>
            <a:r>
              <a:rPr lang="en-US" sz="1200" dirty="0">
                <a:solidFill>
                  <a:srgbClr val="111418"/>
                </a:solidFill>
              </a:rPr>
              <a:t>48 parts, 9 suppliers</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Low tooling cost, high part cost</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31 assembly steps</a:t>
            </a:r>
            <a:endParaRPr lang="en-US" sz="1200" dirty="0"/>
          </a:p>
        </p:txBody>
      </p:sp>
      <p:sp>
        <p:nvSpPr>
          <p:cNvPr id="12" name="Linie Bewertung 1"/>
          <p:cNvSpPr/>
          <p:nvPr/>
        </p:nvSpPr>
        <p:spPr>
          <a:xfrm>
            <a:off x="548640" y="5788152"/>
            <a:ext cx="5135728" cy="0"/>
          </a:xfrm>
          <a:prstGeom prst="line">
            <a:avLst/>
          </a:prstGeom>
          <a:noFill/>
          <a:ln w="6350">
            <a:solidFill>
              <a:srgbClr val="91A19B"/>
            </a:solidFill>
            <a:prstDash val="solid"/>
          </a:ln>
        </p:spPr>
      </p:sp>
      <p:sp>
        <p:nvSpPr>
          <p:cNvPr id="13" name="Bewertung VARIANT A  ·  SHEET METAL"/>
          <p:cNvSpPr txBox="1"/>
          <p:nvPr/>
        </p:nvSpPr>
        <p:spPr>
          <a:xfrm>
            <a:off x="548640" y="5897880"/>
            <a:ext cx="4038448" cy="274320"/>
          </a:xfrm>
          <a:prstGeom prst="rect">
            <a:avLst/>
          </a:prstGeom>
          <a:noFill/>
          <a:ln/>
        </p:spPr>
        <p:txBody>
          <a:bodyPr wrap="square" lIns="0" tIns="0" rIns="0" bIns="0" rtlCol="0" anchor="ctr"/>
          <a:lstStyle/>
          <a:p>
            <a:pPr indent="0" marL="0">
              <a:buNone/>
            </a:pPr>
            <a:r>
              <a:rPr lang="en-US" sz="1000" spc="-20" kern="0" dirty="0">
                <a:solidFill>
                  <a:srgbClr val="111418"/>
                </a:solidFill>
              </a:rPr>
              <a:t>48 parts  ·  CHF 48  ·  tooling CHF 9,000</a:t>
            </a:r>
            <a:endParaRPr lang="en-US" sz="1000" dirty="0"/>
          </a:p>
        </p:txBody>
      </p:sp>
      <p:sp>
        <p:nvSpPr>
          <p:cNvPr id="14" name="Eyebrow VARIANT B  ·  INJECTION MOULDING"/>
          <p:cNvSpPr txBox="1"/>
          <p:nvPr/>
        </p:nvSpPr>
        <p:spPr>
          <a:xfrm>
            <a:off x="6141568"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VARIANT B  ·  INJECTION MOULDING</a:t>
            </a:r>
            <a:endParaRPr lang="en-US" sz="1000" dirty="0"/>
          </a:p>
        </p:txBody>
      </p:sp>
      <p:pic>
        <p:nvPicPr>
          <p:cNvPr id="15" name="Foto VARIANT B  ·  INJECTION MOULDING" descr="p22">    </p:cNvPr>
          <p:cNvPicPr>
            <a:picLocks noChangeAspect="1"/>
          </p:cNvPicPr>
          <p:nvPr/>
        </p:nvPicPr>
        <p:blipFill>
          <a:blip r:embed="rId2"/>
          <a:srcRect l="0" r="0" t="0" b="0"/>
          <a:stretch/>
        </p:blipFill>
        <p:spPr>
          <a:xfrm>
            <a:off x="6141568" y="3017520"/>
            <a:ext cx="5135728" cy="1554480"/>
          </a:xfrm>
          <a:prstGeom prst="rect">
            <a:avLst/>
          </a:prstGeom>
        </p:spPr>
      </p:pic>
      <p:sp>
        <p:nvSpPr>
          <p:cNvPr id="16" name="Eckmarker 1"/>
          <p:cNvSpPr/>
          <p:nvPr/>
        </p:nvSpPr>
        <p:spPr>
          <a:xfrm>
            <a:off x="6050128" y="2926080"/>
            <a:ext cx="73152" cy="73152"/>
          </a:xfrm>
          <a:prstGeom prst="ellipse">
            <a:avLst/>
          </a:prstGeom>
          <a:solidFill>
            <a:srgbClr val="111418"/>
          </a:solidFill>
          <a:ln w="12700">
            <a:solidFill>
              <a:srgbClr val="111418"/>
            </a:solidFill>
            <a:prstDash val="solid"/>
          </a:ln>
        </p:spPr>
      </p:sp>
      <p:sp>
        <p:nvSpPr>
          <p:cNvPr id="17" name="Eckmarker 2"/>
          <p:cNvSpPr/>
          <p:nvPr/>
        </p:nvSpPr>
        <p:spPr>
          <a:xfrm>
            <a:off x="11295583" y="2926080"/>
            <a:ext cx="73152" cy="73152"/>
          </a:xfrm>
          <a:prstGeom prst="ellipse">
            <a:avLst/>
          </a:prstGeom>
          <a:solidFill>
            <a:srgbClr val="111418"/>
          </a:solidFill>
          <a:ln w="12700">
            <a:solidFill>
              <a:srgbClr val="111418"/>
            </a:solidFill>
            <a:prstDash val="solid"/>
          </a:ln>
        </p:spPr>
      </p:sp>
      <p:sp>
        <p:nvSpPr>
          <p:cNvPr id="18" name="Eckmarker 3"/>
          <p:cNvSpPr/>
          <p:nvPr/>
        </p:nvSpPr>
        <p:spPr>
          <a:xfrm>
            <a:off x="6050128" y="4590288"/>
            <a:ext cx="73152" cy="73152"/>
          </a:xfrm>
          <a:prstGeom prst="ellipse">
            <a:avLst/>
          </a:prstGeom>
          <a:solidFill>
            <a:srgbClr val="111418"/>
          </a:solidFill>
          <a:ln w="12700">
            <a:solidFill>
              <a:srgbClr val="111418"/>
            </a:solidFill>
            <a:prstDash val="solid"/>
          </a:ln>
        </p:spPr>
      </p:sp>
      <p:sp>
        <p:nvSpPr>
          <p:cNvPr id="19" name="Eckmarker 4"/>
          <p:cNvSpPr/>
          <p:nvPr/>
        </p:nvSpPr>
        <p:spPr>
          <a:xfrm>
            <a:off x="11295583" y="4590288"/>
            <a:ext cx="73152" cy="73152"/>
          </a:xfrm>
          <a:prstGeom prst="ellipse">
            <a:avLst/>
          </a:prstGeom>
          <a:solidFill>
            <a:srgbClr val="111418"/>
          </a:solidFill>
          <a:ln w="12700">
            <a:solidFill>
              <a:srgbClr val="111418"/>
            </a:solidFill>
            <a:prstDash val="solid"/>
          </a:ln>
        </p:spPr>
      </p:sp>
      <p:sp>
        <p:nvSpPr>
          <p:cNvPr id="20" name="Punkte VARIANT B  ·  INJECTION MOULDING"/>
          <p:cNvSpPr txBox="1"/>
          <p:nvPr/>
        </p:nvSpPr>
        <p:spPr>
          <a:xfrm>
            <a:off x="6141568" y="4754880"/>
            <a:ext cx="5135728" cy="1005840"/>
          </a:xfrm>
          <a:prstGeom prst="rect">
            <a:avLst/>
          </a:prstGeom>
          <a:noFill/>
          <a:ln/>
        </p:spPr>
        <p:txBody>
          <a:bodyPr wrap="square" lIns="0" tIns="0" rIns="0" bIns="0" rtlCol="0" anchor="t"/>
          <a:lstStyle/>
          <a:p>
            <a:pPr marL="342900" indent="-342900">
              <a:lnSpc>
                <a:spcPct val="120000"/>
              </a:lnSpc>
              <a:spcAft>
                <a:spcPts val="400"/>
              </a:spcAft>
              <a:buSzPct val="100000"/>
              <a:buFont typeface="Inter" pitchFamily="34" charset="0"/>
              <a:buChar char="•"/>
            </a:pPr>
            <a:r>
              <a:rPr lang="en-US" sz="1200" dirty="0">
                <a:solidFill>
                  <a:srgbClr val="111418"/>
                </a:solidFill>
              </a:rPr>
              <a:t>30 parts, 5 suppliers</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High tooling cost, low part cost</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17 assembly steps</a:t>
            </a:r>
            <a:endParaRPr lang="en-US" sz="1200" dirty="0"/>
          </a:p>
        </p:txBody>
      </p:sp>
      <p:sp>
        <p:nvSpPr>
          <p:cNvPr id="21" name="Linie Bewertung 2"/>
          <p:cNvSpPr/>
          <p:nvPr/>
        </p:nvSpPr>
        <p:spPr>
          <a:xfrm>
            <a:off x="6141568" y="5788152"/>
            <a:ext cx="5135728" cy="0"/>
          </a:xfrm>
          <a:prstGeom prst="line">
            <a:avLst/>
          </a:prstGeom>
          <a:noFill/>
          <a:ln w="6350">
            <a:solidFill>
              <a:srgbClr val="91A19B"/>
            </a:solidFill>
            <a:prstDash val="solid"/>
          </a:ln>
        </p:spPr>
      </p:sp>
      <p:sp>
        <p:nvSpPr>
          <p:cNvPr id="22" name="Bewertung VARIANT B  ·  INJECTION MOULDING"/>
          <p:cNvSpPr txBox="1"/>
          <p:nvPr/>
        </p:nvSpPr>
        <p:spPr>
          <a:xfrm>
            <a:off x="6141568" y="5897880"/>
            <a:ext cx="4038448" cy="274320"/>
          </a:xfrm>
          <a:prstGeom prst="rect">
            <a:avLst/>
          </a:prstGeom>
          <a:noFill/>
          <a:ln/>
        </p:spPr>
        <p:txBody>
          <a:bodyPr wrap="square" lIns="0" tIns="0" rIns="0" bIns="0" rtlCol="0" anchor="ctr"/>
          <a:lstStyle/>
          <a:p>
            <a:pPr indent="0" marL="0">
              <a:buNone/>
            </a:pPr>
            <a:r>
              <a:rPr lang="en-US" sz="1000" spc="-20" kern="0" dirty="0">
                <a:solidFill>
                  <a:srgbClr val="111418"/>
                </a:solidFill>
              </a:rPr>
              <a:t>30 parts  ·  CHF 31  ·  tooling CHF 42,000</a:t>
            </a:r>
            <a:endParaRPr lang="en-US" sz="1000" dirty="0"/>
          </a:p>
        </p:txBody>
      </p:sp>
      <p:sp>
        <p:nvSpPr>
          <p:cNvPr id="23" name="Label RECOMMENDED"/>
          <p:cNvSpPr/>
          <p:nvPr/>
        </p:nvSpPr>
        <p:spPr>
          <a:xfrm>
            <a:off x="10317175" y="5916168"/>
            <a:ext cx="960120" cy="237744"/>
          </a:xfrm>
          <a:prstGeom prst="rect">
            <a:avLst/>
          </a:prstGeom>
          <a:solidFill>
            <a:srgbClr val="25C77A"/>
          </a:solidFill>
          <a:ln w="6350">
            <a:solidFill>
              <a:srgbClr val="25C77A"/>
            </a:solidFill>
            <a:prstDash val="solid"/>
          </a:ln>
        </p:spPr>
      </p:sp>
      <p:sp>
        <p:nvSpPr>
          <p:cNvPr id="24" name="Label RECOMMENDED Text"/>
          <p:cNvSpPr txBox="1"/>
          <p:nvPr/>
        </p:nvSpPr>
        <p:spPr>
          <a:xfrm>
            <a:off x="10317175" y="5916168"/>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RECOMMENDED</a:t>
            </a:r>
            <a:endParaRPr lang="en-US" sz="750" dirty="0"/>
          </a:p>
        </p:txBody>
      </p:sp>
      <p:sp>
        <p:nvSpPr>
          <p:cNvPr id="2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18</a:t>
            </a:fld>
            <a:endParaRPr lang="en-US"/>
          </a:p>
        </p:txBody>
      </p:sp>
      <p:sp>
        <p:nvSpPr>
          <p:cNvPr id="26"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PROTOTYPE AND TESTS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From sample to functional prototype</a:t>
            </a:r>
            <a:endParaRPr lang="en-US" sz="3400" dirty="0"/>
          </a:p>
        </p:txBody>
      </p:sp>
      <p:pic>
        <p:nvPicPr>
          <p:cNvPr id="5" name="Bild 01" descr="p22">    </p:cNvPr>
          <p:cNvPicPr>
            <a:picLocks noChangeAspect="1"/>
          </p:cNvPicPr>
          <p:nvPr/>
        </p:nvPicPr>
        <p:blipFill>
          <a:blip r:embed="rId1"/>
          <a:srcRect l="0" r="0" t="0" b="0"/>
          <a:stretch/>
        </p:blipFill>
        <p:spPr>
          <a:xfrm>
            <a:off x="548640" y="2606040"/>
            <a:ext cx="3301898" cy="118872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381304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3813048"/>
            <a:ext cx="73152" cy="73152"/>
          </a:xfrm>
          <a:prstGeom prst="ellipse">
            <a:avLst/>
          </a:prstGeom>
          <a:solidFill>
            <a:srgbClr val="111418"/>
          </a:solidFill>
          <a:ln w="12700">
            <a:solidFill>
              <a:srgbClr val="111418"/>
            </a:solidFill>
            <a:prstDash val="solid"/>
          </a:ln>
        </p:spPr>
      </p:sp>
      <p:sp>
        <p:nvSpPr>
          <p:cNvPr id="10" name="Eyebrow 01 //  SHORE HARDNESS SAMPLES"/>
          <p:cNvSpPr txBox="1"/>
          <p:nvPr/>
        </p:nvSpPr>
        <p:spPr>
          <a:xfrm>
            <a:off x="548640"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SHORE HARDNESS SAMPLES</a:t>
            </a:r>
            <a:endParaRPr lang="en-US" sz="1000" dirty="0"/>
          </a:p>
        </p:txBody>
      </p:sp>
      <p:pic>
        <p:nvPicPr>
          <p:cNvPr id="11" name="Bild 02" descr="p03">    </p:cNvPr>
          <p:cNvPicPr>
            <a:picLocks noChangeAspect="1"/>
          </p:cNvPicPr>
          <p:nvPr/>
        </p:nvPicPr>
        <p:blipFill>
          <a:blip r:embed="rId2"/>
          <a:srcRect l="0" r="0" t="0" b="0"/>
          <a:stretch/>
        </p:blipFill>
        <p:spPr>
          <a:xfrm>
            <a:off x="4262018" y="2606040"/>
            <a:ext cx="3301898" cy="1188720"/>
          </a:xfrm>
          <a:prstGeom prst="rect">
            <a:avLst/>
          </a:prstGeom>
        </p:spPr>
      </p:pic>
      <p:sp>
        <p:nvSpPr>
          <p:cNvPr id="12" name="Eckmarker 1"/>
          <p:cNvSpPr/>
          <p:nvPr/>
        </p:nvSpPr>
        <p:spPr>
          <a:xfrm>
            <a:off x="4170578" y="2514600"/>
            <a:ext cx="73152" cy="73152"/>
          </a:xfrm>
          <a:prstGeom prst="ellipse">
            <a:avLst/>
          </a:prstGeom>
          <a:solidFill>
            <a:srgbClr val="111418"/>
          </a:solidFill>
          <a:ln w="12700">
            <a:solidFill>
              <a:srgbClr val="111418"/>
            </a:solidFill>
            <a:prstDash val="solid"/>
          </a:ln>
        </p:spPr>
      </p:sp>
      <p:sp>
        <p:nvSpPr>
          <p:cNvPr id="13" name="Eckmarker 2"/>
          <p:cNvSpPr/>
          <p:nvPr/>
        </p:nvSpPr>
        <p:spPr>
          <a:xfrm>
            <a:off x="7582205" y="2514600"/>
            <a:ext cx="73152" cy="73152"/>
          </a:xfrm>
          <a:prstGeom prst="ellipse">
            <a:avLst/>
          </a:prstGeom>
          <a:solidFill>
            <a:srgbClr val="111418"/>
          </a:solidFill>
          <a:ln w="12700">
            <a:solidFill>
              <a:srgbClr val="111418"/>
            </a:solidFill>
            <a:prstDash val="solid"/>
          </a:ln>
        </p:spPr>
      </p:sp>
      <p:sp>
        <p:nvSpPr>
          <p:cNvPr id="14" name="Eckmarker 3"/>
          <p:cNvSpPr/>
          <p:nvPr/>
        </p:nvSpPr>
        <p:spPr>
          <a:xfrm>
            <a:off x="4170578" y="3813048"/>
            <a:ext cx="73152" cy="73152"/>
          </a:xfrm>
          <a:prstGeom prst="ellipse">
            <a:avLst/>
          </a:prstGeom>
          <a:solidFill>
            <a:srgbClr val="111418"/>
          </a:solidFill>
          <a:ln w="12700">
            <a:solidFill>
              <a:srgbClr val="111418"/>
            </a:solidFill>
            <a:prstDash val="solid"/>
          </a:ln>
        </p:spPr>
      </p:sp>
      <p:sp>
        <p:nvSpPr>
          <p:cNvPr id="15" name="Eckmarker 4"/>
          <p:cNvSpPr/>
          <p:nvPr/>
        </p:nvSpPr>
        <p:spPr>
          <a:xfrm>
            <a:off x="7582205" y="3813048"/>
            <a:ext cx="73152" cy="73152"/>
          </a:xfrm>
          <a:prstGeom prst="ellipse">
            <a:avLst/>
          </a:prstGeom>
          <a:solidFill>
            <a:srgbClr val="111418"/>
          </a:solidFill>
          <a:ln w="12700">
            <a:solidFill>
              <a:srgbClr val="111418"/>
            </a:solidFill>
            <a:prstDash val="solid"/>
          </a:ln>
        </p:spPr>
      </p:sp>
      <p:sp>
        <p:nvSpPr>
          <p:cNvPr id="16" name="Eyebrow 02 //  TURNED PART"/>
          <p:cNvSpPr txBox="1"/>
          <p:nvPr/>
        </p:nvSpPr>
        <p:spPr>
          <a:xfrm>
            <a:off x="4262018"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TURNED PART</a:t>
            </a:r>
            <a:endParaRPr lang="en-US" sz="1000" dirty="0"/>
          </a:p>
        </p:txBody>
      </p:sp>
      <p:pic>
        <p:nvPicPr>
          <p:cNvPr id="17" name="Bild 03" descr="p09">    </p:cNvPr>
          <p:cNvPicPr>
            <a:picLocks noChangeAspect="1"/>
          </p:cNvPicPr>
          <p:nvPr/>
        </p:nvPicPr>
        <p:blipFill>
          <a:blip r:embed="rId3"/>
          <a:srcRect l="0" r="0" t="0" b="0"/>
          <a:stretch/>
        </p:blipFill>
        <p:spPr>
          <a:xfrm>
            <a:off x="7975397" y="2606040"/>
            <a:ext cx="3301898" cy="1188720"/>
          </a:xfrm>
          <a:prstGeom prst="rect">
            <a:avLst/>
          </a:prstGeom>
        </p:spPr>
      </p:pic>
      <p:sp>
        <p:nvSpPr>
          <p:cNvPr id="18" name="Eckmarker 1"/>
          <p:cNvSpPr/>
          <p:nvPr/>
        </p:nvSpPr>
        <p:spPr>
          <a:xfrm>
            <a:off x="7883957" y="2514600"/>
            <a:ext cx="73152" cy="73152"/>
          </a:xfrm>
          <a:prstGeom prst="ellipse">
            <a:avLst/>
          </a:prstGeom>
          <a:solidFill>
            <a:srgbClr val="111418"/>
          </a:solidFill>
          <a:ln w="12700">
            <a:solidFill>
              <a:srgbClr val="111418"/>
            </a:solidFill>
            <a:prstDash val="solid"/>
          </a:ln>
        </p:spPr>
      </p:sp>
      <p:sp>
        <p:nvSpPr>
          <p:cNvPr id="19"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0" name="Eckmarker 3"/>
          <p:cNvSpPr/>
          <p:nvPr/>
        </p:nvSpPr>
        <p:spPr>
          <a:xfrm>
            <a:off x="7883957" y="3813048"/>
            <a:ext cx="73152" cy="73152"/>
          </a:xfrm>
          <a:prstGeom prst="ellipse">
            <a:avLst/>
          </a:prstGeom>
          <a:solidFill>
            <a:srgbClr val="111418"/>
          </a:solidFill>
          <a:ln w="12700">
            <a:solidFill>
              <a:srgbClr val="111418"/>
            </a:solidFill>
            <a:prstDash val="solid"/>
          </a:ln>
        </p:spPr>
      </p:sp>
      <p:sp>
        <p:nvSpPr>
          <p:cNvPr id="21" name="Eckmarker 4"/>
          <p:cNvSpPr/>
          <p:nvPr/>
        </p:nvSpPr>
        <p:spPr>
          <a:xfrm>
            <a:off x="11295583" y="3813048"/>
            <a:ext cx="73152" cy="73152"/>
          </a:xfrm>
          <a:prstGeom prst="ellipse">
            <a:avLst/>
          </a:prstGeom>
          <a:solidFill>
            <a:srgbClr val="111418"/>
          </a:solidFill>
          <a:ln w="12700">
            <a:solidFill>
              <a:srgbClr val="111418"/>
            </a:solidFill>
            <a:prstDash val="solid"/>
          </a:ln>
        </p:spPr>
      </p:sp>
      <p:sp>
        <p:nvSpPr>
          <p:cNvPr id="22" name="Eyebrow 03 //  SUB-ASSEMBLY"/>
          <p:cNvSpPr txBox="1"/>
          <p:nvPr/>
        </p:nvSpPr>
        <p:spPr>
          <a:xfrm>
            <a:off x="7975397"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SUB-ASSEMBLY</a:t>
            </a:r>
            <a:endParaRPr lang="en-US" sz="1000" dirty="0"/>
          </a:p>
        </p:txBody>
      </p:sp>
      <p:pic>
        <p:nvPicPr>
          <p:cNvPr id="23" name="Bild 04" descr="p10">    </p:cNvPr>
          <p:cNvPicPr>
            <a:picLocks noChangeAspect="1"/>
          </p:cNvPicPr>
          <p:nvPr/>
        </p:nvPicPr>
        <p:blipFill>
          <a:blip r:embed="rId4"/>
          <a:srcRect l="0" r="0" t="0" b="0"/>
          <a:stretch/>
        </p:blipFill>
        <p:spPr>
          <a:xfrm>
            <a:off x="548640" y="4572000"/>
            <a:ext cx="3301898" cy="1188720"/>
          </a:xfrm>
          <a:prstGeom prst="rect">
            <a:avLst/>
          </a:prstGeom>
        </p:spPr>
      </p:pic>
      <p:sp>
        <p:nvSpPr>
          <p:cNvPr id="24" name="Eckmarker 1"/>
          <p:cNvSpPr/>
          <p:nvPr/>
        </p:nvSpPr>
        <p:spPr>
          <a:xfrm>
            <a:off x="457200" y="4480560"/>
            <a:ext cx="73152" cy="73152"/>
          </a:xfrm>
          <a:prstGeom prst="ellipse">
            <a:avLst/>
          </a:prstGeom>
          <a:solidFill>
            <a:srgbClr val="111418"/>
          </a:solidFill>
          <a:ln w="12700">
            <a:solidFill>
              <a:srgbClr val="111418"/>
            </a:solidFill>
            <a:prstDash val="solid"/>
          </a:ln>
        </p:spPr>
      </p:sp>
      <p:sp>
        <p:nvSpPr>
          <p:cNvPr id="25" name="Eckmarker 2"/>
          <p:cNvSpPr/>
          <p:nvPr/>
        </p:nvSpPr>
        <p:spPr>
          <a:xfrm>
            <a:off x="3868826" y="4480560"/>
            <a:ext cx="73152" cy="73152"/>
          </a:xfrm>
          <a:prstGeom prst="ellipse">
            <a:avLst/>
          </a:prstGeom>
          <a:solidFill>
            <a:srgbClr val="111418"/>
          </a:solidFill>
          <a:ln w="12700">
            <a:solidFill>
              <a:srgbClr val="111418"/>
            </a:solidFill>
            <a:prstDash val="solid"/>
          </a:ln>
        </p:spPr>
      </p:sp>
      <p:sp>
        <p:nvSpPr>
          <p:cNvPr id="26" name="Eckmarker 3"/>
          <p:cNvSpPr/>
          <p:nvPr/>
        </p:nvSpPr>
        <p:spPr>
          <a:xfrm>
            <a:off x="457200" y="5779008"/>
            <a:ext cx="73152" cy="73152"/>
          </a:xfrm>
          <a:prstGeom prst="ellipse">
            <a:avLst/>
          </a:prstGeom>
          <a:solidFill>
            <a:srgbClr val="111418"/>
          </a:solidFill>
          <a:ln w="12700">
            <a:solidFill>
              <a:srgbClr val="111418"/>
            </a:solidFill>
            <a:prstDash val="solid"/>
          </a:ln>
        </p:spPr>
      </p:sp>
      <p:sp>
        <p:nvSpPr>
          <p:cNvPr id="27" name="Eckmarker 4"/>
          <p:cNvSpPr/>
          <p:nvPr/>
        </p:nvSpPr>
        <p:spPr>
          <a:xfrm>
            <a:off x="3868826" y="5779008"/>
            <a:ext cx="73152" cy="73152"/>
          </a:xfrm>
          <a:prstGeom prst="ellipse">
            <a:avLst/>
          </a:prstGeom>
          <a:solidFill>
            <a:srgbClr val="111418"/>
          </a:solidFill>
          <a:ln w="12700">
            <a:solidFill>
              <a:srgbClr val="111418"/>
            </a:solidFill>
            <a:prstDash val="solid"/>
          </a:ln>
        </p:spPr>
      </p:sp>
      <p:sp>
        <p:nvSpPr>
          <p:cNvPr id="28" name="Eyebrow 04 //  MEASUREMENT"/>
          <p:cNvSpPr txBox="1"/>
          <p:nvPr/>
        </p:nvSpPr>
        <p:spPr>
          <a:xfrm>
            <a:off x="548640"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04 //  MEASUREMENT</a:t>
            </a:r>
            <a:endParaRPr lang="en-US" sz="1000" dirty="0"/>
          </a:p>
        </p:txBody>
      </p:sp>
      <p:pic>
        <p:nvPicPr>
          <p:cNvPr id="29" name="Bild 05" descr="p13">    </p:cNvPr>
          <p:cNvPicPr>
            <a:picLocks noChangeAspect="1"/>
          </p:cNvPicPr>
          <p:nvPr/>
        </p:nvPicPr>
        <p:blipFill>
          <a:blip r:embed="rId5"/>
          <a:srcRect l="0" r="0" t="0" b="0"/>
          <a:stretch/>
        </p:blipFill>
        <p:spPr>
          <a:xfrm>
            <a:off x="4262018" y="4572000"/>
            <a:ext cx="3301898" cy="1188720"/>
          </a:xfrm>
          <a:prstGeom prst="rect">
            <a:avLst/>
          </a:prstGeom>
        </p:spPr>
      </p:pic>
      <p:sp>
        <p:nvSpPr>
          <p:cNvPr id="30" name="Eckmarker 1"/>
          <p:cNvSpPr/>
          <p:nvPr/>
        </p:nvSpPr>
        <p:spPr>
          <a:xfrm>
            <a:off x="4170578" y="4480560"/>
            <a:ext cx="73152" cy="73152"/>
          </a:xfrm>
          <a:prstGeom prst="ellipse">
            <a:avLst/>
          </a:prstGeom>
          <a:solidFill>
            <a:srgbClr val="111418"/>
          </a:solidFill>
          <a:ln w="12700">
            <a:solidFill>
              <a:srgbClr val="111418"/>
            </a:solidFill>
            <a:prstDash val="solid"/>
          </a:ln>
        </p:spPr>
      </p:sp>
      <p:sp>
        <p:nvSpPr>
          <p:cNvPr id="31" name="Eckmarker 2"/>
          <p:cNvSpPr/>
          <p:nvPr/>
        </p:nvSpPr>
        <p:spPr>
          <a:xfrm>
            <a:off x="7582205" y="4480560"/>
            <a:ext cx="73152" cy="73152"/>
          </a:xfrm>
          <a:prstGeom prst="ellipse">
            <a:avLst/>
          </a:prstGeom>
          <a:solidFill>
            <a:srgbClr val="111418"/>
          </a:solidFill>
          <a:ln w="12700">
            <a:solidFill>
              <a:srgbClr val="111418"/>
            </a:solidFill>
            <a:prstDash val="solid"/>
          </a:ln>
        </p:spPr>
      </p:sp>
      <p:sp>
        <p:nvSpPr>
          <p:cNvPr id="32" name="Eckmarker 3"/>
          <p:cNvSpPr/>
          <p:nvPr/>
        </p:nvSpPr>
        <p:spPr>
          <a:xfrm>
            <a:off x="4170578" y="5779008"/>
            <a:ext cx="73152" cy="73152"/>
          </a:xfrm>
          <a:prstGeom prst="ellipse">
            <a:avLst/>
          </a:prstGeom>
          <a:solidFill>
            <a:srgbClr val="111418"/>
          </a:solidFill>
          <a:ln w="12700">
            <a:solidFill>
              <a:srgbClr val="111418"/>
            </a:solidFill>
            <a:prstDash val="solid"/>
          </a:ln>
        </p:spPr>
      </p:sp>
      <p:sp>
        <p:nvSpPr>
          <p:cNvPr id="33" name="Eckmarker 4"/>
          <p:cNvSpPr/>
          <p:nvPr/>
        </p:nvSpPr>
        <p:spPr>
          <a:xfrm>
            <a:off x="7582205" y="5779008"/>
            <a:ext cx="73152" cy="73152"/>
          </a:xfrm>
          <a:prstGeom prst="ellipse">
            <a:avLst/>
          </a:prstGeom>
          <a:solidFill>
            <a:srgbClr val="111418"/>
          </a:solidFill>
          <a:ln w="12700">
            <a:solidFill>
              <a:srgbClr val="111418"/>
            </a:solidFill>
            <a:prstDash val="solid"/>
          </a:ln>
        </p:spPr>
      </p:sp>
      <p:sp>
        <p:nvSpPr>
          <p:cNvPr id="34" name="Eyebrow 05 //  FUNCTIONAL SAMPLE"/>
          <p:cNvSpPr txBox="1"/>
          <p:nvPr/>
        </p:nvSpPr>
        <p:spPr>
          <a:xfrm>
            <a:off x="4262018"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05 //  FUNCTIONAL SAMPLE</a:t>
            </a:r>
            <a:endParaRPr lang="en-US" sz="1000" dirty="0"/>
          </a:p>
        </p:txBody>
      </p:sp>
      <p:pic>
        <p:nvPicPr>
          <p:cNvPr id="35" name="Bild 06" descr="p15">    </p:cNvPr>
          <p:cNvPicPr>
            <a:picLocks noChangeAspect="1"/>
          </p:cNvPicPr>
          <p:nvPr/>
        </p:nvPicPr>
        <p:blipFill>
          <a:blip r:embed="rId6"/>
          <a:srcRect l="0" r="0" t="0" b="0"/>
          <a:stretch/>
        </p:blipFill>
        <p:spPr>
          <a:xfrm>
            <a:off x="7975397" y="4572000"/>
            <a:ext cx="3301898" cy="1188720"/>
          </a:xfrm>
          <a:prstGeom prst="rect">
            <a:avLst/>
          </a:prstGeom>
        </p:spPr>
      </p:pic>
      <p:sp>
        <p:nvSpPr>
          <p:cNvPr id="36" name="Eckmarker 1"/>
          <p:cNvSpPr/>
          <p:nvPr/>
        </p:nvSpPr>
        <p:spPr>
          <a:xfrm>
            <a:off x="7883957" y="4480560"/>
            <a:ext cx="73152" cy="73152"/>
          </a:xfrm>
          <a:prstGeom prst="ellipse">
            <a:avLst/>
          </a:prstGeom>
          <a:solidFill>
            <a:srgbClr val="111418"/>
          </a:solidFill>
          <a:ln w="12700">
            <a:solidFill>
              <a:srgbClr val="111418"/>
            </a:solidFill>
            <a:prstDash val="solid"/>
          </a:ln>
        </p:spPr>
      </p:sp>
      <p:sp>
        <p:nvSpPr>
          <p:cNvPr id="37" name="Eckmarker 2"/>
          <p:cNvSpPr/>
          <p:nvPr/>
        </p:nvSpPr>
        <p:spPr>
          <a:xfrm>
            <a:off x="11295583" y="4480560"/>
            <a:ext cx="73152" cy="73152"/>
          </a:xfrm>
          <a:prstGeom prst="ellipse">
            <a:avLst/>
          </a:prstGeom>
          <a:solidFill>
            <a:srgbClr val="111418"/>
          </a:solidFill>
          <a:ln w="12700">
            <a:solidFill>
              <a:srgbClr val="111418"/>
            </a:solidFill>
            <a:prstDash val="solid"/>
          </a:ln>
        </p:spPr>
      </p:sp>
      <p:sp>
        <p:nvSpPr>
          <p:cNvPr id="38" name="Eckmarker 3"/>
          <p:cNvSpPr/>
          <p:nvPr/>
        </p:nvSpPr>
        <p:spPr>
          <a:xfrm>
            <a:off x="7883957" y="5779008"/>
            <a:ext cx="73152" cy="73152"/>
          </a:xfrm>
          <a:prstGeom prst="ellipse">
            <a:avLst/>
          </a:prstGeom>
          <a:solidFill>
            <a:srgbClr val="111418"/>
          </a:solidFill>
          <a:ln w="12700">
            <a:solidFill>
              <a:srgbClr val="111418"/>
            </a:solidFill>
            <a:prstDash val="solid"/>
          </a:ln>
        </p:spPr>
      </p:sp>
      <p:sp>
        <p:nvSpPr>
          <p:cNvPr id="39" name="Eckmarker 4"/>
          <p:cNvSpPr/>
          <p:nvPr/>
        </p:nvSpPr>
        <p:spPr>
          <a:xfrm>
            <a:off x="11295583" y="5779008"/>
            <a:ext cx="73152" cy="73152"/>
          </a:xfrm>
          <a:prstGeom prst="ellipse">
            <a:avLst/>
          </a:prstGeom>
          <a:solidFill>
            <a:srgbClr val="111418"/>
          </a:solidFill>
          <a:ln w="12700">
            <a:solidFill>
              <a:srgbClr val="111418"/>
            </a:solidFill>
            <a:prstDash val="solid"/>
          </a:ln>
        </p:spPr>
      </p:sp>
      <p:sp>
        <p:nvSpPr>
          <p:cNvPr id="40" name="Eyebrow 06 //  FINAL ASSEMBLY"/>
          <p:cNvSpPr txBox="1"/>
          <p:nvPr/>
        </p:nvSpPr>
        <p:spPr>
          <a:xfrm>
            <a:off x="7975397"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06 //  FINAL ASSEMBLY</a:t>
            </a:r>
            <a:endParaRPr lang="en-US" sz="1000" dirty="0"/>
          </a:p>
        </p:txBody>
      </p:sp>
      <p:sp>
        <p:nvSpPr>
          <p:cNvPr id="4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19</a:t>
            </a:fld>
            <a:endParaRPr lang="en-US"/>
          </a:p>
        </p:txBody>
      </p:sp>
      <p:sp>
        <p:nvSpPr>
          <p:cNvPr id="42"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06 //  CONTACT</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Your contacts</a:t>
            </a:r>
            <a:endParaRPr lang="en-US" sz="3400" dirty="0"/>
          </a:p>
        </p:txBody>
      </p:sp>
      <p:pic>
        <p:nvPicPr>
          <p:cNvPr id="5" name="Porträt Alain Roth" descr="p15">    </p:cNvPr>
          <p:cNvPicPr>
            <a:picLocks noChangeAspect="1"/>
          </p:cNvPicPr>
          <p:nvPr/>
        </p:nvPicPr>
        <p:blipFill>
          <a:blip r:embed="rId1"/>
          <a:srcRect l="0" r="0" t="0" b="0"/>
          <a:stretch/>
        </p:blipFill>
        <p:spPr>
          <a:xfrm>
            <a:off x="548640" y="2606040"/>
            <a:ext cx="2194560" cy="265176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2761488"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5276088"/>
            <a:ext cx="73152" cy="73152"/>
          </a:xfrm>
          <a:prstGeom prst="ellipse">
            <a:avLst/>
          </a:prstGeom>
          <a:solidFill>
            <a:srgbClr val="111418"/>
          </a:solidFill>
          <a:ln w="12700">
            <a:solidFill>
              <a:srgbClr val="111418"/>
            </a:solidFill>
            <a:prstDash val="solid"/>
          </a:ln>
        </p:spPr>
      </p:sp>
      <p:sp>
        <p:nvSpPr>
          <p:cNvPr id="9" name="Eckmarker 4"/>
          <p:cNvSpPr/>
          <p:nvPr/>
        </p:nvSpPr>
        <p:spPr>
          <a:xfrm>
            <a:off x="2761488" y="5276088"/>
            <a:ext cx="73152" cy="73152"/>
          </a:xfrm>
          <a:prstGeom prst="ellipse">
            <a:avLst/>
          </a:prstGeom>
          <a:solidFill>
            <a:srgbClr val="111418"/>
          </a:solidFill>
          <a:ln w="12700">
            <a:solidFill>
              <a:srgbClr val="111418"/>
            </a:solidFill>
            <a:prstDash val="solid"/>
          </a:ln>
        </p:spPr>
      </p:sp>
      <p:sp>
        <p:nvSpPr>
          <p:cNvPr id="10" name="Name Alain Roth"/>
          <p:cNvSpPr txBox="1"/>
          <p:nvPr/>
        </p:nvSpPr>
        <p:spPr>
          <a:xfrm>
            <a:off x="3063240" y="2606040"/>
            <a:ext cx="2651760" cy="411480"/>
          </a:xfrm>
          <a:prstGeom prst="rect">
            <a:avLst/>
          </a:prstGeom>
          <a:noFill/>
          <a:ln/>
        </p:spPr>
        <p:txBody>
          <a:bodyPr wrap="square" lIns="0" tIns="0" rIns="0" bIns="0" rtlCol="0" anchor="ctr"/>
          <a:lstStyle/>
          <a:p>
            <a:pPr indent="0" marL="0">
              <a:buNone/>
            </a:pPr>
            <a:r>
              <a:rPr lang="en-US" sz="2200" spc="-40" kern="0" dirty="0">
                <a:solidFill>
                  <a:srgbClr val="111418"/>
                </a:solidFill>
              </a:rPr>
              <a:t>Alain Roth</a:t>
            </a:r>
            <a:endParaRPr lang="en-US" sz="2200" dirty="0"/>
          </a:p>
        </p:txBody>
      </p:sp>
      <p:sp>
        <p:nvSpPr>
          <p:cNvPr id="11" name="Eyebrow MANAGING DIRECTOR  ·  DEVELOPMENT"/>
          <p:cNvSpPr txBox="1"/>
          <p:nvPr/>
        </p:nvSpPr>
        <p:spPr>
          <a:xfrm>
            <a:off x="3063240" y="3063240"/>
            <a:ext cx="2651760" cy="256032"/>
          </a:xfrm>
          <a:prstGeom prst="rect">
            <a:avLst/>
          </a:prstGeom>
          <a:noFill/>
          <a:ln/>
        </p:spPr>
        <p:txBody>
          <a:bodyPr wrap="square" lIns="0" tIns="0" rIns="0" bIns="0" rtlCol="0" anchor="ctr"/>
          <a:lstStyle/>
          <a:p>
            <a:pPr indent="0" marL="0">
              <a:buNone/>
            </a:pPr>
            <a:r>
              <a:rPr lang="en-US" sz="1000" spc="-30" kern="0" dirty="0">
                <a:solidFill>
                  <a:srgbClr val="707981"/>
                </a:solidFill>
              </a:rPr>
              <a:t>MANAGING DIRECTOR  ·  DEVELOPMENT</a:t>
            </a:r>
            <a:endParaRPr lang="en-US" sz="1000" dirty="0"/>
          </a:p>
        </p:txBody>
      </p:sp>
      <p:sp>
        <p:nvSpPr>
          <p:cNvPr id="12" name="Linie Alain Roth"/>
          <p:cNvSpPr/>
          <p:nvPr/>
        </p:nvSpPr>
        <p:spPr>
          <a:xfrm>
            <a:off x="3063240" y="3429000"/>
            <a:ext cx="2651760" cy="0"/>
          </a:xfrm>
          <a:prstGeom prst="line">
            <a:avLst/>
          </a:prstGeom>
          <a:noFill/>
          <a:ln w="6350">
            <a:solidFill>
              <a:srgbClr val="91A19B"/>
            </a:solidFill>
            <a:prstDash val="solid"/>
          </a:ln>
        </p:spPr>
      </p:sp>
      <p:sp>
        <p:nvSpPr>
          <p:cNvPr id="13" name="Kontakt Alain Roth"/>
          <p:cNvSpPr txBox="1"/>
          <p:nvPr/>
        </p:nvSpPr>
        <p:spPr>
          <a:xfrm>
            <a:off x="3063240" y="3566160"/>
            <a:ext cx="2651760" cy="640080"/>
          </a:xfrm>
          <a:prstGeom prst="rect">
            <a:avLst/>
          </a:prstGeom>
          <a:noFill/>
          <a:ln/>
        </p:spPr>
        <p:txBody>
          <a:bodyPr wrap="square" lIns="0" tIns="0" rIns="0" bIns="0" rtlCol="0" anchor="t"/>
          <a:lstStyle/>
          <a:p>
            <a:pPr indent="0" marL="0">
              <a:lnSpc>
                <a:spcPct val="130000"/>
              </a:lnSpc>
              <a:buNone/>
            </a:pPr>
            <a:r>
              <a:rPr lang="en-US" sz="1200" dirty="0">
                <a:solidFill>
                  <a:srgbClr val="111418"/>
                </a:solidFill>
              </a:rPr>
              <a:t>+41 71 855 88 55</a:t>
            </a:r>
            <a:endParaRPr lang="en-US" sz="1200" dirty="0"/>
          </a:p>
          <a:p>
            <a:pPr indent="0" marL="0">
              <a:lnSpc>
                <a:spcPct val="130000"/>
              </a:lnSpc>
              <a:buNone/>
            </a:pPr>
            <a:r>
              <a:rPr lang="en-US" sz="1200" dirty="0">
                <a:solidFill>
                  <a:srgbClr val="25C77A"/>
                </a:solidFill>
              </a:rPr>
              <a:t>alain.roth@iro.swiss</a:t>
            </a:r>
            <a:endParaRPr lang="en-US" sz="1200" dirty="0"/>
          </a:p>
        </p:txBody>
      </p:sp>
      <p:sp>
        <p:nvSpPr>
          <p:cNvPr id="14" name="Adresse Alain Roth"/>
          <p:cNvSpPr txBox="1"/>
          <p:nvPr/>
        </p:nvSpPr>
        <p:spPr>
          <a:xfrm>
            <a:off x="3063240" y="4297680"/>
            <a:ext cx="2651760" cy="274320"/>
          </a:xfrm>
          <a:prstGeom prst="rect">
            <a:avLst/>
          </a:prstGeom>
          <a:noFill/>
          <a:ln/>
        </p:spPr>
        <p:txBody>
          <a:bodyPr wrap="square" lIns="0" tIns="0" rIns="0" bIns="0" rtlCol="0" anchor="t"/>
          <a:lstStyle/>
          <a:p>
            <a:pPr indent="0" marL="0">
              <a:buNone/>
            </a:pPr>
            <a:r>
              <a:rPr lang="en-US" sz="1000" dirty="0">
                <a:solidFill>
                  <a:srgbClr val="707981"/>
                </a:solidFill>
              </a:rPr>
              <a:t>Hafenstrasse 62  ·  CH-8590 Romanshorn</a:t>
            </a:r>
            <a:endParaRPr lang="en-US" sz="1000" dirty="0"/>
          </a:p>
        </p:txBody>
      </p:sp>
      <p:pic>
        <p:nvPicPr>
          <p:cNvPr id="15" name="Porträt Firstname Lastname" descr="p10">    </p:cNvPr>
          <p:cNvPicPr>
            <a:picLocks noChangeAspect="1"/>
          </p:cNvPicPr>
          <p:nvPr/>
        </p:nvPicPr>
        <p:blipFill>
          <a:blip r:embed="rId2"/>
          <a:srcRect l="0" r="0" t="0" b="0"/>
          <a:stretch/>
        </p:blipFill>
        <p:spPr>
          <a:xfrm>
            <a:off x="6108192" y="2606040"/>
            <a:ext cx="2194560" cy="2651760"/>
          </a:xfrm>
          <a:prstGeom prst="rect">
            <a:avLst/>
          </a:prstGeom>
        </p:spPr>
      </p:pic>
      <p:sp>
        <p:nvSpPr>
          <p:cNvPr id="16" name="Eckmarker 1"/>
          <p:cNvSpPr/>
          <p:nvPr/>
        </p:nvSpPr>
        <p:spPr>
          <a:xfrm>
            <a:off x="6016752" y="2514600"/>
            <a:ext cx="73152" cy="73152"/>
          </a:xfrm>
          <a:prstGeom prst="ellipse">
            <a:avLst/>
          </a:prstGeom>
          <a:solidFill>
            <a:srgbClr val="111418"/>
          </a:solidFill>
          <a:ln w="12700">
            <a:solidFill>
              <a:srgbClr val="111418"/>
            </a:solidFill>
            <a:prstDash val="solid"/>
          </a:ln>
        </p:spPr>
      </p:sp>
      <p:sp>
        <p:nvSpPr>
          <p:cNvPr id="17" name="Eckmarker 2"/>
          <p:cNvSpPr/>
          <p:nvPr/>
        </p:nvSpPr>
        <p:spPr>
          <a:xfrm>
            <a:off x="8321040" y="2514600"/>
            <a:ext cx="73152" cy="73152"/>
          </a:xfrm>
          <a:prstGeom prst="ellipse">
            <a:avLst/>
          </a:prstGeom>
          <a:solidFill>
            <a:srgbClr val="111418"/>
          </a:solidFill>
          <a:ln w="12700">
            <a:solidFill>
              <a:srgbClr val="111418"/>
            </a:solidFill>
            <a:prstDash val="solid"/>
          </a:ln>
        </p:spPr>
      </p:sp>
      <p:sp>
        <p:nvSpPr>
          <p:cNvPr id="18" name="Eckmarker 3"/>
          <p:cNvSpPr/>
          <p:nvPr/>
        </p:nvSpPr>
        <p:spPr>
          <a:xfrm>
            <a:off x="6016752" y="5276088"/>
            <a:ext cx="73152" cy="73152"/>
          </a:xfrm>
          <a:prstGeom prst="ellipse">
            <a:avLst/>
          </a:prstGeom>
          <a:solidFill>
            <a:srgbClr val="111418"/>
          </a:solidFill>
          <a:ln w="12700">
            <a:solidFill>
              <a:srgbClr val="111418"/>
            </a:solidFill>
            <a:prstDash val="solid"/>
          </a:ln>
        </p:spPr>
      </p:sp>
      <p:sp>
        <p:nvSpPr>
          <p:cNvPr id="19" name="Eckmarker 4"/>
          <p:cNvSpPr/>
          <p:nvPr/>
        </p:nvSpPr>
        <p:spPr>
          <a:xfrm>
            <a:off x="8321040" y="5276088"/>
            <a:ext cx="73152" cy="73152"/>
          </a:xfrm>
          <a:prstGeom prst="ellipse">
            <a:avLst/>
          </a:prstGeom>
          <a:solidFill>
            <a:srgbClr val="111418"/>
          </a:solidFill>
          <a:ln w="12700">
            <a:solidFill>
              <a:srgbClr val="111418"/>
            </a:solidFill>
            <a:prstDash val="solid"/>
          </a:ln>
        </p:spPr>
      </p:sp>
      <p:sp>
        <p:nvSpPr>
          <p:cNvPr id="20" name="Name Firstname Lastname"/>
          <p:cNvSpPr txBox="1"/>
          <p:nvPr/>
        </p:nvSpPr>
        <p:spPr>
          <a:xfrm>
            <a:off x="8622792" y="2606040"/>
            <a:ext cx="2651760" cy="411480"/>
          </a:xfrm>
          <a:prstGeom prst="rect">
            <a:avLst/>
          </a:prstGeom>
          <a:noFill/>
          <a:ln/>
        </p:spPr>
        <p:txBody>
          <a:bodyPr wrap="square" lIns="0" tIns="0" rIns="0" bIns="0" rtlCol="0" anchor="ctr"/>
          <a:lstStyle/>
          <a:p>
            <a:pPr indent="0" marL="0">
              <a:buNone/>
            </a:pPr>
            <a:r>
              <a:rPr lang="en-US" sz="2200" spc="-40" kern="0" dirty="0">
                <a:solidFill>
                  <a:srgbClr val="111418"/>
                </a:solidFill>
              </a:rPr>
              <a:t>Firstname Lastname</a:t>
            </a:r>
            <a:endParaRPr lang="en-US" sz="2200" dirty="0"/>
          </a:p>
        </p:txBody>
      </p:sp>
      <p:sp>
        <p:nvSpPr>
          <p:cNvPr id="21" name="Eyebrow PROJECT LEAD  ·  DESIGN"/>
          <p:cNvSpPr txBox="1"/>
          <p:nvPr/>
        </p:nvSpPr>
        <p:spPr>
          <a:xfrm>
            <a:off x="8622792" y="3063240"/>
            <a:ext cx="2651760" cy="256032"/>
          </a:xfrm>
          <a:prstGeom prst="rect">
            <a:avLst/>
          </a:prstGeom>
          <a:noFill/>
          <a:ln/>
        </p:spPr>
        <p:txBody>
          <a:bodyPr wrap="square" lIns="0" tIns="0" rIns="0" bIns="0" rtlCol="0" anchor="ctr"/>
          <a:lstStyle/>
          <a:p>
            <a:pPr indent="0" marL="0">
              <a:buNone/>
            </a:pPr>
            <a:r>
              <a:rPr lang="en-US" sz="1000" spc="-30" kern="0" dirty="0">
                <a:solidFill>
                  <a:srgbClr val="707981"/>
                </a:solidFill>
              </a:rPr>
              <a:t>PROJECT LEAD  ·  DESIGN</a:t>
            </a:r>
            <a:endParaRPr lang="en-US" sz="1000" dirty="0"/>
          </a:p>
        </p:txBody>
      </p:sp>
      <p:sp>
        <p:nvSpPr>
          <p:cNvPr id="22" name="Linie Firstname Lastname"/>
          <p:cNvSpPr/>
          <p:nvPr/>
        </p:nvSpPr>
        <p:spPr>
          <a:xfrm>
            <a:off x="8622792" y="3429000"/>
            <a:ext cx="2651760" cy="0"/>
          </a:xfrm>
          <a:prstGeom prst="line">
            <a:avLst/>
          </a:prstGeom>
          <a:noFill/>
          <a:ln w="6350">
            <a:solidFill>
              <a:srgbClr val="91A19B"/>
            </a:solidFill>
            <a:prstDash val="solid"/>
          </a:ln>
        </p:spPr>
      </p:sp>
      <p:sp>
        <p:nvSpPr>
          <p:cNvPr id="23" name="Kontakt Firstname Lastname"/>
          <p:cNvSpPr txBox="1"/>
          <p:nvPr/>
        </p:nvSpPr>
        <p:spPr>
          <a:xfrm>
            <a:off x="8622792" y="3566160"/>
            <a:ext cx="2651760" cy="640080"/>
          </a:xfrm>
          <a:prstGeom prst="rect">
            <a:avLst/>
          </a:prstGeom>
          <a:noFill/>
          <a:ln/>
        </p:spPr>
        <p:txBody>
          <a:bodyPr wrap="square" lIns="0" tIns="0" rIns="0" bIns="0" rtlCol="0" anchor="t"/>
          <a:lstStyle/>
          <a:p>
            <a:pPr indent="0" marL="0">
              <a:lnSpc>
                <a:spcPct val="130000"/>
              </a:lnSpc>
              <a:buNone/>
            </a:pPr>
            <a:r>
              <a:rPr lang="en-US" sz="1200" dirty="0">
                <a:solidFill>
                  <a:srgbClr val="111418"/>
                </a:solidFill>
              </a:rPr>
              <a:t>+41 71 855 88 55</a:t>
            </a:r>
            <a:endParaRPr lang="en-US" sz="1200" dirty="0"/>
          </a:p>
          <a:p>
            <a:pPr indent="0" marL="0">
              <a:lnSpc>
                <a:spcPct val="130000"/>
              </a:lnSpc>
              <a:buNone/>
            </a:pPr>
            <a:r>
              <a:rPr lang="en-US" sz="1200" dirty="0">
                <a:solidFill>
                  <a:srgbClr val="25C77A"/>
                </a:solidFill>
              </a:rPr>
              <a:t>firstname.lastname@iro.swiss</a:t>
            </a:r>
            <a:endParaRPr lang="en-US" sz="1200" dirty="0"/>
          </a:p>
        </p:txBody>
      </p:sp>
      <p:sp>
        <p:nvSpPr>
          <p:cNvPr id="24" name="Adresse Firstname Lastname"/>
          <p:cNvSpPr txBox="1"/>
          <p:nvPr/>
        </p:nvSpPr>
        <p:spPr>
          <a:xfrm>
            <a:off x="8622792" y="4297680"/>
            <a:ext cx="2651760" cy="274320"/>
          </a:xfrm>
          <a:prstGeom prst="rect">
            <a:avLst/>
          </a:prstGeom>
          <a:noFill/>
          <a:ln/>
        </p:spPr>
        <p:txBody>
          <a:bodyPr wrap="square" lIns="0" tIns="0" rIns="0" bIns="0" rtlCol="0" anchor="t"/>
          <a:lstStyle/>
          <a:p>
            <a:pPr indent="0" marL="0">
              <a:buNone/>
            </a:pPr>
            <a:r>
              <a:rPr lang="en-US" sz="1000" dirty="0">
                <a:solidFill>
                  <a:srgbClr val="707981"/>
                </a:solidFill>
              </a:rPr>
              <a:t>Hafenstrasse 62  ·  CH-8590 Romanshorn</a:t>
            </a:r>
            <a:endParaRPr lang="en-US" sz="1000" dirty="0"/>
          </a:p>
        </p:txBody>
      </p:sp>
      <p:sp>
        <p:nvSpPr>
          <p:cNvPr id="2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20</a:t>
            </a:fld>
            <a:endParaRPr lang="en-US"/>
          </a:p>
        </p:txBody>
      </p:sp>
      <p:sp>
        <p:nvSpPr>
          <p:cNvPr id="26"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PROTOTYPE AND TESTS  ·  RELEASE STATUS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Three parts, three release states</a:t>
            </a:r>
            <a:endParaRPr lang="en-US" sz="3400" dirty="0"/>
          </a:p>
        </p:txBody>
      </p:sp>
      <p:pic>
        <p:nvPicPr>
          <p:cNvPr id="5" name="Bild 1" descr="p22">    </p:cNvPr>
          <p:cNvPicPr>
            <a:picLocks noChangeAspect="1"/>
          </p:cNvPicPr>
          <p:nvPr/>
        </p:nvPicPr>
        <p:blipFill>
          <a:blip r:embed="rId1"/>
          <a:srcRect l="0" r="0" t="0" b="0"/>
          <a:stretch/>
        </p:blipFill>
        <p:spPr>
          <a:xfrm>
            <a:off x="548640" y="2606040"/>
            <a:ext cx="3301898" cy="182880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445312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4453128"/>
            <a:ext cx="73152" cy="73152"/>
          </a:xfrm>
          <a:prstGeom prst="ellipse">
            <a:avLst/>
          </a:prstGeom>
          <a:solidFill>
            <a:srgbClr val="111418"/>
          </a:solidFill>
          <a:ln w="12700">
            <a:solidFill>
              <a:srgbClr val="111418"/>
            </a:solidFill>
            <a:prstDash val="solid"/>
          </a:ln>
        </p:spPr>
      </p:sp>
      <p:sp>
        <p:nvSpPr>
          <p:cNvPr id="10" name="Label CONFIDENTIAL"/>
          <p:cNvSpPr/>
          <p:nvPr/>
        </p:nvSpPr>
        <p:spPr>
          <a:xfrm>
            <a:off x="685800" y="2743200"/>
            <a:ext cx="960120" cy="237744"/>
          </a:xfrm>
          <a:prstGeom prst="rect">
            <a:avLst/>
          </a:prstGeom>
          <a:solidFill>
            <a:srgbClr val="B8463A"/>
          </a:solidFill>
          <a:ln w="6350">
            <a:solidFill>
              <a:srgbClr val="B8463A"/>
            </a:solidFill>
            <a:prstDash val="solid"/>
          </a:ln>
        </p:spPr>
      </p:sp>
      <p:sp>
        <p:nvSpPr>
          <p:cNvPr id="11" name="Label CONFIDENTIAL Text"/>
          <p:cNvSpPr txBox="1"/>
          <p:nvPr/>
        </p:nvSpPr>
        <p:spPr>
          <a:xfrm>
            <a:off x="685800"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FFFFFF"/>
                </a:solidFill>
              </a:rPr>
              <a:t>CONFIDENTIAL</a:t>
            </a:r>
            <a:endParaRPr lang="en-US" sz="750" dirty="0"/>
          </a:p>
        </p:txBody>
      </p:sp>
      <p:sp>
        <p:nvSpPr>
          <p:cNvPr id="12" name="Eyebrow 01 //  SHORE SAMPLES  ·  DO NOT DISTRIBUTE"/>
          <p:cNvSpPr txBox="1"/>
          <p:nvPr/>
        </p:nvSpPr>
        <p:spPr>
          <a:xfrm>
            <a:off x="548640"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SHORE SAMPLES  ·  DO NOT DISTRIBUTE</a:t>
            </a:r>
            <a:endParaRPr lang="en-US" sz="1000" dirty="0"/>
          </a:p>
        </p:txBody>
      </p:sp>
      <p:pic>
        <p:nvPicPr>
          <p:cNvPr id="13" name="Bild 2" descr="p03">    </p:cNvPr>
          <p:cNvPicPr>
            <a:picLocks noChangeAspect="1"/>
          </p:cNvPicPr>
          <p:nvPr/>
        </p:nvPicPr>
        <p:blipFill>
          <a:blip r:embed="rId2"/>
          <a:srcRect l="0" r="0" t="0" b="0"/>
          <a:stretch/>
        </p:blipFill>
        <p:spPr>
          <a:xfrm>
            <a:off x="4262018" y="2606040"/>
            <a:ext cx="3301898" cy="1828800"/>
          </a:xfrm>
          <a:prstGeom prst="rect">
            <a:avLst/>
          </a:prstGeom>
        </p:spPr>
      </p:pic>
      <p:sp>
        <p:nvSpPr>
          <p:cNvPr id="14" name="Eckmarker 1"/>
          <p:cNvSpPr/>
          <p:nvPr/>
        </p:nvSpPr>
        <p:spPr>
          <a:xfrm>
            <a:off x="4170578" y="2514600"/>
            <a:ext cx="73152" cy="73152"/>
          </a:xfrm>
          <a:prstGeom prst="ellipse">
            <a:avLst/>
          </a:prstGeom>
          <a:solidFill>
            <a:srgbClr val="111418"/>
          </a:solidFill>
          <a:ln w="12700">
            <a:solidFill>
              <a:srgbClr val="111418"/>
            </a:solidFill>
            <a:prstDash val="solid"/>
          </a:ln>
        </p:spPr>
      </p:sp>
      <p:sp>
        <p:nvSpPr>
          <p:cNvPr id="15" name="Eckmarker 2"/>
          <p:cNvSpPr/>
          <p:nvPr/>
        </p:nvSpPr>
        <p:spPr>
          <a:xfrm>
            <a:off x="7582205" y="2514600"/>
            <a:ext cx="73152" cy="73152"/>
          </a:xfrm>
          <a:prstGeom prst="ellipse">
            <a:avLst/>
          </a:prstGeom>
          <a:solidFill>
            <a:srgbClr val="111418"/>
          </a:solidFill>
          <a:ln w="12700">
            <a:solidFill>
              <a:srgbClr val="111418"/>
            </a:solidFill>
            <a:prstDash val="solid"/>
          </a:ln>
        </p:spPr>
      </p:sp>
      <p:sp>
        <p:nvSpPr>
          <p:cNvPr id="16" name="Eckmarker 3"/>
          <p:cNvSpPr/>
          <p:nvPr/>
        </p:nvSpPr>
        <p:spPr>
          <a:xfrm>
            <a:off x="4170578" y="4453128"/>
            <a:ext cx="73152" cy="73152"/>
          </a:xfrm>
          <a:prstGeom prst="ellipse">
            <a:avLst/>
          </a:prstGeom>
          <a:solidFill>
            <a:srgbClr val="111418"/>
          </a:solidFill>
          <a:ln w="12700">
            <a:solidFill>
              <a:srgbClr val="111418"/>
            </a:solidFill>
            <a:prstDash val="solid"/>
          </a:ln>
        </p:spPr>
      </p:sp>
      <p:sp>
        <p:nvSpPr>
          <p:cNvPr id="17" name="Eckmarker 4"/>
          <p:cNvSpPr/>
          <p:nvPr/>
        </p:nvSpPr>
        <p:spPr>
          <a:xfrm>
            <a:off x="7582205" y="4453128"/>
            <a:ext cx="73152" cy="73152"/>
          </a:xfrm>
          <a:prstGeom prst="ellipse">
            <a:avLst/>
          </a:prstGeom>
          <a:solidFill>
            <a:srgbClr val="111418"/>
          </a:solidFill>
          <a:ln w="12700">
            <a:solidFill>
              <a:srgbClr val="111418"/>
            </a:solidFill>
            <a:prstDash val="solid"/>
          </a:ln>
        </p:spPr>
      </p:sp>
      <p:sp>
        <p:nvSpPr>
          <p:cNvPr id="18" name="Label UNDER REVIEW"/>
          <p:cNvSpPr/>
          <p:nvPr/>
        </p:nvSpPr>
        <p:spPr>
          <a:xfrm>
            <a:off x="4399178" y="2743200"/>
            <a:ext cx="960120" cy="237744"/>
          </a:xfrm>
          <a:prstGeom prst="rect">
            <a:avLst/>
          </a:prstGeom>
          <a:solidFill>
            <a:srgbClr val="E2A33D"/>
          </a:solidFill>
          <a:ln w="6350">
            <a:solidFill>
              <a:srgbClr val="E2A33D"/>
            </a:solidFill>
            <a:prstDash val="solid"/>
          </a:ln>
        </p:spPr>
      </p:sp>
      <p:sp>
        <p:nvSpPr>
          <p:cNvPr id="19" name="Label UNDER REVIEW Text"/>
          <p:cNvSpPr txBox="1"/>
          <p:nvPr/>
        </p:nvSpPr>
        <p:spPr>
          <a:xfrm>
            <a:off x="4399178"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UNDER REVIEW</a:t>
            </a:r>
            <a:endParaRPr lang="en-US" sz="750" dirty="0"/>
          </a:p>
        </p:txBody>
      </p:sp>
      <p:sp>
        <p:nvSpPr>
          <p:cNvPr id="20" name="Eyebrow 02 //  TURNED PART  ·  DIMENSIONS UNDER REVIEW"/>
          <p:cNvSpPr txBox="1"/>
          <p:nvPr/>
        </p:nvSpPr>
        <p:spPr>
          <a:xfrm>
            <a:off x="4262018"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TURNED PART  ·  DIMENSIONS UNDER REVIEW</a:t>
            </a:r>
            <a:endParaRPr lang="en-US" sz="1000" dirty="0"/>
          </a:p>
        </p:txBody>
      </p:sp>
      <p:pic>
        <p:nvPicPr>
          <p:cNvPr id="21" name="Bild 3" descr="p13">    </p:cNvPr>
          <p:cNvPicPr>
            <a:picLocks noChangeAspect="1"/>
          </p:cNvPicPr>
          <p:nvPr/>
        </p:nvPicPr>
        <p:blipFill>
          <a:blip r:embed="rId3"/>
          <a:srcRect l="0" r="0" t="0" b="0"/>
          <a:stretch/>
        </p:blipFill>
        <p:spPr>
          <a:xfrm>
            <a:off x="7975397" y="2606040"/>
            <a:ext cx="3301898" cy="1828800"/>
          </a:xfrm>
          <a:prstGeom prst="rect">
            <a:avLst/>
          </a:prstGeom>
        </p:spPr>
      </p:pic>
      <p:sp>
        <p:nvSpPr>
          <p:cNvPr id="22" name="Eckmarker 1"/>
          <p:cNvSpPr/>
          <p:nvPr/>
        </p:nvSpPr>
        <p:spPr>
          <a:xfrm>
            <a:off x="7883957" y="2514600"/>
            <a:ext cx="73152" cy="73152"/>
          </a:xfrm>
          <a:prstGeom prst="ellipse">
            <a:avLst/>
          </a:prstGeom>
          <a:solidFill>
            <a:srgbClr val="111418"/>
          </a:solidFill>
          <a:ln w="12700">
            <a:solidFill>
              <a:srgbClr val="111418"/>
            </a:solidFill>
            <a:prstDash val="solid"/>
          </a:ln>
        </p:spPr>
      </p:sp>
      <p:sp>
        <p:nvSpPr>
          <p:cNvPr id="23"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4" name="Eckmarker 3"/>
          <p:cNvSpPr/>
          <p:nvPr/>
        </p:nvSpPr>
        <p:spPr>
          <a:xfrm>
            <a:off x="7883957" y="4453128"/>
            <a:ext cx="73152" cy="73152"/>
          </a:xfrm>
          <a:prstGeom prst="ellipse">
            <a:avLst/>
          </a:prstGeom>
          <a:solidFill>
            <a:srgbClr val="111418"/>
          </a:solidFill>
          <a:ln w="12700">
            <a:solidFill>
              <a:srgbClr val="111418"/>
            </a:solidFill>
            <a:prstDash val="solid"/>
          </a:ln>
        </p:spPr>
      </p:sp>
      <p:sp>
        <p:nvSpPr>
          <p:cNvPr id="25" name="Eckmarker 4"/>
          <p:cNvSpPr/>
          <p:nvPr/>
        </p:nvSpPr>
        <p:spPr>
          <a:xfrm>
            <a:off x="11295583" y="4453128"/>
            <a:ext cx="73152" cy="73152"/>
          </a:xfrm>
          <a:prstGeom prst="ellipse">
            <a:avLst/>
          </a:prstGeom>
          <a:solidFill>
            <a:srgbClr val="111418"/>
          </a:solidFill>
          <a:ln w="12700">
            <a:solidFill>
              <a:srgbClr val="111418"/>
            </a:solidFill>
            <a:prstDash val="solid"/>
          </a:ln>
        </p:spPr>
      </p:sp>
      <p:sp>
        <p:nvSpPr>
          <p:cNvPr id="26" name="Label RELEASED"/>
          <p:cNvSpPr/>
          <p:nvPr/>
        </p:nvSpPr>
        <p:spPr>
          <a:xfrm>
            <a:off x="8112557" y="2743200"/>
            <a:ext cx="960120" cy="237744"/>
          </a:xfrm>
          <a:prstGeom prst="rect">
            <a:avLst/>
          </a:prstGeom>
          <a:solidFill>
            <a:srgbClr val="B7F3D0"/>
          </a:solidFill>
          <a:ln w="6350">
            <a:solidFill>
              <a:srgbClr val="B7F3D0"/>
            </a:solidFill>
            <a:prstDash val="solid"/>
          </a:ln>
        </p:spPr>
      </p:sp>
      <p:sp>
        <p:nvSpPr>
          <p:cNvPr id="27" name="Label RELEASED Text"/>
          <p:cNvSpPr txBox="1"/>
          <p:nvPr/>
        </p:nvSpPr>
        <p:spPr>
          <a:xfrm>
            <a:off x="8112557"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RELEASED</a:t>
            </a:r>
            <a:endParaRPr lang="en-US" sz="750" dirty="0"/>
          </a:p>
        </p:txBody>
      </p:sp>
      <p:sp>
        <p:nvSpPr>
          <p:cNvPr id="28" name="Eyebrow 03 //  FUNCTIONAL SAMPLE  ·  RELEASED 12 OCT"/>
          <p:cNvSpPr txBox="1"/>
          <p:nvPr/>
        </p:nvSpPr>
        <p:spPr>
          <a:xfrm>
            <a:off x="7975397"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FUNCTIONAL SAMPLE  ·  RELEASED 12 OCT</a:t>
            </a:r>
            <a:endParaRPr lang="en-US" sz="1000" dirty="0"/>
          </a:p>
        </p:txBody>
      </p:sp>
      <p:sp>
        <p:nvSpPr>
          <p:cNvPr id="29" name="Linie Erklärung"/>
          <p:cNvSpPr/>
          <p:nvPr/>
        </p:nvSpPr>
        <p:spPr>
          <a:xfrm>
            <a:off x="548640" y="5029200"/>
            <a:ext cx="10728655" cy="0"/>
          </a:xfrm>
          <a:prstGeom prst="line">
            <a:avLst/>
          </a:prstGeom>
          <a:noFill/>
          <a:ln w="6350">
            <a:solidFill>
              <a:srgbClr val="91A19B"/>
            </a:solidFill>
            <a:prstDash val="solid"/>
          </a:ln>
        </p:spPr>
      </p:sp>
      <p:sp>
        <p:nvSpPr>
          <p:cNvPr id="30" name="Erklärung Kennzeichnung"/>
          <p:cNvSpPr txBox="1"/>
          <p:nvPr/>
        </p:nvSpPr>
        <p:spPr>
          <a:xfrm>
            <a:off x="548640" y="5120640"/>
            <a:ext cx="10728655" cy="731520"/>
          </a:xfrm>
          <a:prstGeom prst="rect">
            <a:avLst/>
          </a:prstGeom>
          <a:noFill/>
          <a:ln/>
        </p:spPr>
        <p:txBody>
          <a:bodyPr wrap="square" lIns="0" tIns="0" rIns="0" bIns="0" rtlCol="0" anchor="t"/>
          <a:lstStyle/>
          <a:p>
            <a:pPr indent="0" marL="0">
              <a:lnSpc>
                <a:spcPct val="120000"/>
              </a:lnSpc>
              <a:buNone/>
            </a:pPr>
            <a:r>
              <a:rPr lang="en-US" sz="950" dirty="0">
                <a:solidFill>
                  <a:srgbClr val="111418"/>
                </a:solidFill>
              </a:rPr>
              <a:t>Red means attention and prohibition, amber means under review, green means released. </a:t>
            </a:r>
            <a:pPr indent="0" marL="0">
              <a:lnSpc>
                <a:spcPct val="120000"/>
              </a:lnSpc>
              <a:buNone/>
            </a:pPr>
            <a:r>
              <a:rPr lang="en-US" sz="950" dirty="0">
                <a:solidFill>
                  <a:srgbClr val="707981"/>
                </a:solidFill>
              </a:rPr>
              <a:t>The label at the top right applies to the whole slide, the labels on the pictures apply to the individual item. The short form of the protection notice sits below the label.</a:t>
            </a:r>
            <a:endParaRPr lang="en-US" sz="950" dirty="0"/>
          </a:p>
        </p:txBody>
      </p:sp>
      <p:sp>
        <p:nvSpPr>
          <p:cNvPr id="3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21</a:t>
            </a:fld>
            <a:endParaRPr lang="en-US"/>
          </a:p>
        </p:txBody>
      </p:sp>
      <p:sp>
        <p:nvSpPr>
          <p:cNvPr id="32"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2" name=""/>
        <p:cNvGrpSpPr/>
        <p:nvPr/>
      </p:nvGrpSpPr>
      <p:grpSpPr>
        <a:xfrm>
          <a:off x="0" y="0"/>
          <a:ext cx="0" cy="0"/>
          <a:chOff x="0" y="0"/>
          <a:chExt cx="0" cy="0"/>
        </a:xfrm>
      </p:grpSpPr>
      <p:sp>
        <p:nvSpPr>
          <p:cNvPr id="3" name="Text 0"/>
          <p:cNvSpPr/>
          <p:nvPr>
            <p:ph idx="101" type="title" hasCustomPrompt="1"/>
          </p:nvPr>
        </p:nvSpPr>
        <p:spPr>
          <a:xfrm>
            <a:off x="548640" y="1481328"/>
            <a:ext cx="10332720" cy="109728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Let us talk about your project.</a:t>
            </a:r>
            <a:endParaRPr lang="en-US" sz="4400" dirty="0"/>
          </a:p>
        </p:txBody>
      </p:sp>
      <p:pic>
        <p:nvPicPr>
          <p:cNvPr id="4" name="Logo-Kachel" descr="tile-mint">    </p:cNvPr>
          <p:cNvPicPr>
            <a:picLocks noChangeAspect="1"/>
          </p:cNvPicPr>
          <p:nvPr/>
        </p:nvPicPr>
        <p:blipFill>
          <a:blip r:embed="rId1"/>
          <a:stretch>
            <a:fillRect/>
          </a:stretch>
        </p:blipFill>
        <p:spPr>
          <a:xfrm>
            <a:off x="548640" y="2834640"/>
            <a:ext cx="1234440" cy="1234440"/>
          </a:xfrm>
          <a:prstGeom prst="rect">
            <a:avLst/>
          </a:prstGeom>
        </p:spPr>
      </p:pic>
      <p:pic>
        <p:nvPicPr>
          <p:cNvPr id="5" name="Badge NAFEMS" descr="badge-nafems-grey">    </p:cNvPr>
          <p:cNvPicPr>
            <a:picLocks noChangeAspect="1"/>
          </p:cNvPicPr>
          <p:nvPr/>
        </p:nvPicPr>
        <p:blipFill>
          <a:blip r:embed="rId2"/>
          <a:stretch>
            <a:fillRect/>
          </a:stretch>
        </p:blipFill>
        <p:spPr>
          <a:xfrm>
            <a:off x="548640" y="4434840"/>
            <a:ext cx="804672" cy="731520"/>
          </a:xfrm>
          <a:prstGeom prst="rect">
            <a:avLst/>
          </a:prstGeom>
        </p:spPr>
      </p:pic>
      <p:pic>
        <p:nvPicPr>
          <p:cNvPr id="6" name="Badge Lehrbetrieb" descr="badge-lehrbetrieb-grey">    </p:cNvPr>
          <p:cNvPicPr>
            <a:picLocks noChangeAspect="1"/>
          </p:cNvPicPr>
          <p:nvPr/>
        </p:nvPicPr>
        <p:blipFill>
          <a:blip r:embed="rId3"/>
          <a:stretch>
            <a:fillRect/>
          </a:stretch>
        </p:blipFill>
        <p:spPr>
          <a:xfrm>
            <a:off x="1508760" y="4434840"/>
            <a:ext cx="731520" cy="731520"/>
          </a:xfrm>
          <a:prstGeom prst="rect">
            <a:avLst/>
          </a:prstGeom>
        </p:spPr>
      </p:pic>
      <p:sp>
        <p:nvSpPr>
          <p:cNvPr id="7" name="Link EXPERTISE"/>
          <p:cNvSpPr txBox="1"/>
          <p:nvPr/>
        </p:nvSpPr>
        <p:spPr>
          <a:xfrm>
            <a:off x="3017520" y="2834640"/>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EXPERTISE</a:t>
            </a:r>
            <a:endParaRPr lang="en-US" sz="1100" dirty="0"/>
          </a:p>
        </p:txBody>
      </p:sp>
      <p:sp>
        <p:nvSpPr>
          <p:cNvPr id="8" name="Link COMPANY"/>
          <p:cNvSpPr txBox="1"/>
          <p:nvPr/>
        </p:nvSpPr>
        <p:spPr>
          <a:xfrm>
            <a:off x="3017520" y="3218688"/>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COMPANY</a:t>
            </a:r>
            <a:endParaRPr lang="en-US" sz="1100" dirty="0"/>
          </a:p>
        </p:txBody>
      </p:sp>
      <p:sp>
        <p:nvSpPr>
          <p:cNvPr id="9" name="Link SERVICES"/>
          <p:cNvSpPr txBox="1"/>
          <p:nvPr/>
        </p:nvSpPr>
        <p:spPr>
          <a:xfrm>
            <a:off x="3017520" y="3602736"/>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SERVICES</a:t>
            </a:r>
            <a:endParaRPr lang="en-US" sz="1100" dirty="0"/>
          </a:p>
        </p:txBody>
      </p:sp>
      <p:sp>
        <p:nvSpPr>
          <p:cNvPr id="10" name="Link TEAM"/>
          <p:cNvSpPr txBox="1"/>
          <p:nvPr/>
        </p:nvSpPr>
        <p:spPr>
          <a:xfrm>
            <a:off x="5120640" y="2834640"/>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TEAM</a:t>
            </a:r>
            <a:endParaRPr lang="en-US" sz="1100" dirty="0"/>
          </a:p>
        </p:txBody>
      </p:sp>
      <p:sp>
        <p:nvSpPr>
          <p:cNvPr id="11" name="Link CAREERS"/>
          <p:cNvSpPr txBox="1"/>
          <p:nvPr/>
        </p:nvSpPr>
        <p:spPr>
          <a:xfrm>
            <a:off x="5120640" y="3218688"/>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CAREERS</a:t>
            </a:r>
            <a:endParaRPr lang="en-US" sz="1100" dirty="0"/>
          </a:p>
        </p:txBody>
      </p:sp>
      <p:sp>
        <p:nvSpPr>
          <p:cNvPr id="12" name="Link CONTACT"/>
          <p:cNvSpPr txBox="1"/>
          <p:nvPr/>
        </p:nvSpPr>
        <p:spPr>
          <a:xfrm>
            <a:off x="5120640" y="3602736"/>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CONTACT</a:t>
            </a:r>
            <a:endParaRPr lang="en-US" sz="1100" dirty="0"/>
          </a:p>
        </p:txBody>
      </p:sp>
      <p:sp>
        <p:nvSpPr>
          <p:cNvPr id="13" name="Adresse"/>
          <p:cNvSpPr txBox="1"/>
          <p:nvPr/>
        </p:nvSpPr>
        <p:spPr>
          <a:xfrm>
            <a:off x="7589520" y="2834640"/>
            <a:ext cx="3687775" cy="1645920"/>
          </a:xfrm>
          <a:prstGeom prst="rect">
            <a:avLst/>
          </a:prstGeom>
          <a:noFill/>
          <a:ln/>
        </p:spPr>
        <p:txBody>
          <a:bodyPr wrap="square" lIns="0" tIns="0" rIns="0" bIns="0" rtlCol="0" anchor="t"/>
          <a:lstStyle/>
          <a:p>
            <a:pPr indent="0" marL="0">
              <a:lnSpc>
                <a:spcPct val="125000"/>
              </a:lnSpc>
              <a:buNone/>
            </a:pPr>
            <a:r>
              <a:rPr lang="en-US" sz="1200" dirty="0">
                <a:solidFill>
                  <a:srgbClr val="E7FFF2"/>
                </a:solidFill>
              </a:rPr>
              <a:t>IdeeRoth AG</a:t>
            </a:r>
            <a:endParaRPr lang="en-US" sz="1200" dirty="0"/>
          </a:p>
          <a:p>
            <a:pPr indent="0" marL="0">
              <a:lnSpc>
                <a:spcPct val="125000"/>
              </a:lnSpc>
              <a:buNone/>
            </a:pPr>
            <a:r>
              <a:rPr lang="en-US" sz="1200" dirty="0">
                <a:solidFill>
                  <a:srgbClr val="E7FFF2"/>
                </a:solidFill>
              </a:rPr>
              <a:t>Hafenstrasse 62</a:t>
            </a:r>
            <a:endParaRPr lang="en-US" sz="1200" dirty="0"/>
          </a:p>
          <a:p>
            <a:pPr indent="0" marL="0">
              <a:lnSpc>
                <a:spcPct val="125000"/>
              </a:lnSpc>
              <a:spcAft>
                <a:spcPts val="800"/>
              </a:spcAft>
              <a:buNone/>
            </a:pPr>
            <a:r>
              <a:rPr lang="en-US" sz="1200" dirty="0">
                <a:solidFill>
                  <a:srgbClr val="E7FFF2"/>
                </a:solidFill>
              </a:rPr>
              <a:t>CH-8590 Romanshorn</a:t>
            </a:r>
            <a:endParaRPr lang="en-US" sz="1200" dirty="0"/>
          </a:p>
          <a:p>
            <a:pPr indent="0" marL="0">
              <a:lnSpc>
                <a:spcPct val="125000"/>
              </a:lnSpc>
              <a:buNone/>
            </a:pPr>
            <a:r>
              <a:rPr lang="en-US" sz="1200" dirty="0">
                <a:solidFill>
                  <a:srgbClr val="E7FFF2"/>
                </a:solidFill>
              </a:rPr>
              <a:t>+41 71 855 88 55</a:t>
            </a:r>
            <a:endParaRPr lang="en-US" sz="1200" dirty="0"/>
          </a:p>
          <a:p>
            <a:pPr indent="0" marL="0">
              <a:lnSpc>
                <a:spcPct val="125000"/>
              </a:lnSpc>
              <a:buNone/>
            </a:pPr>
            <a:r>
              <a:rPr lang="en-US" sz="1200" dirty="0">
                <a:solidFill>
                  <a:srgbClr val="B7F3D0"/>
                </a:solidFill>
              </a:rPr>
              <a:t>info@iro.swiss</a:t>
            </a:r>
            <a:endParaRPr lang="en-US" sz="1200" dirty="0"/>
          </a:p>
        </p:txBody>
      </p:sp>
      <p:sp>
        <p:nvSpPr>
          <p:cNvPr id="14"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22</a:t>
            </a:fld>
            <a:endParaRPr lang="en-US"/>
          </a:p>
        </p:txBody>
      </p:sp>
      <p:sp>
        <p:nvSpPr>
          <p:cNvPr id="15"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TEMPLATE  ·  GRAPHIC ELEMENTS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Building blocks for your own slides</a:t>
            </a:r>
            <a:endParaRPr lang="en-US" sz="3400" dirty="0"/>
          </a:p>
        </p:txBody>
      </p:sp>
      <p:sp>
        <p:nvSpPr>
          <p:cNvPr id="5" name="Eyebrow 01 //  TEXT FIELDS"/>
          <p:cNvSpPr txBox="1"/>
          <p:nvPr/>
        </p:nvSpPr>
        <p:spPr>
          <a:xfrm>
            <a:off x="548640"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TEXT FIELDS</a:t>
            </a:r>
            <a:endParaRPr lang="en-US" sz="1000" dirty="0"/>
          </a:p>
        </p:txBody>
      </p:sp>
      <p:sp>
        <p:nvSpPr>
          <p:cNvPr id="6" name="Textfeld mit Rahmen"/>
          <p:cNvSpPr/>
          <p:nvPr/>
        </p:nvSpPr>
        <p:spPr>
          <a:xfrm>
            <a:off x="548640" y="3017520"/>
            <a:ext cx="3332378" cy="822960"/>
          </a:xfrm>
          <a:prstGeom prst="rect">
            <a:avLst/>
          </a:prstGeom>
          <a:solidFill>
            <a:srgbClr val="FFFFFF">
              <a:alpha val="35000"/>
            </a:srgbClr>
          </a:solidFill>
          <a:ln w="6350">
            <a:solidFill>
              <a:srgbClr val="91A19B"/>
            </a:solidFill>
            <a:prstDash val="solid"/>
          </a:ln>
        </p:spPr>
      </p:sp>
      <p:sp>
        <p:nvSpPr>
          <p:cNvPr id="7" name="Textfeld Text"/>
          <p:cNvSpPr txBox="1"/>
          <p:nvPr/>
        </p:nvSpPr>
        <p:spPr>
          <a:xfrm>
            <a:off x="731520" y="310896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111418"/>
                </a:solidFill>
              </a:rPr>
              <a:t>Text field with a thin frame for notes, assumptions or quotations from documents.</a:t>
            </a:r>
            <a:endParaRPr lang="en-US" sz="1100" dirty="0"/>
          </a:p>
        </p:txBody>
      </p:sp>
      <p:sp>
        <p:nvSpPr>
          <p:cNvPr id="8" name="Hervorhebung"/>
          <p:cNvSpPr/>
          <p:nvPr/>
        </p:nvSpPr>
        <p:spPr>
          <a:xfrm>
            <a:off x="548640" y="4023360"/>
            <a:ext cx="3332378" cy="822960"/>
          </a:xfrm>
          <a:prstGeom prst="rect">
            <a:avLst/>
          </a:prstGeom>
          <a:solidFill>
            <a:srgbClr val="B7F3D0"/>
          </a:solidFill>
          <a:ln w="12700">
            <a:solidFill>
              <a:srgbClr val="B7F3D0"/>
            </a:solidFill>
            <a:prstDash val="solid"/>
          </a:ln>
        </p:spPr>
      </p:sp>
      <p:sp>
        <p:nvSpPr>
          <p:cNvPr id="9" name="Hervorhebung Text"/>
          <p:cNvSpPr txBox="1"/>
          <p:nvPr/>
        </p:nvSpPr>
        <p:spPr>
          <a:xfrm>
            <a:off x="731520" y="411480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111418"/>
                </a:solidFill>
              </a:rPr>
              <a:t>Highlight on Fresh Mint for the most important point of a slide, one per slide.</a:t>
            </a:r>
            <a:endParaRPr lang="en-US" sz="1100" dirty="0"/>
          </a:p>
        </p:txBody>
      </p:sp>
      <p:sp>
        <p:nvSpPr>
          <p:cNvPr id="10" name="Kernaussage"/>
          <p:cNvSpPr/>
          <p:nvPr/>
        </p:nvSpPr>
        <p:spPr>
          <a:xfrm>
            <a:off x="548640" y="5029200"/>
            <a:ext cx="3332378" cy="822960"/>
          </a:xfrm>
          <a:prstGeom prst="rect">
            <a:avLst/>
          </a:prstGeom>
          <a:solidFill>
            <a:srgbClr val="111418"/>
          </a:solidFill>
          <a:ln w="12700">
            <a:solidFill>
              <a:srgbClr val="111418"/>
            </a:solidFill>
            <a:prstDash val="solid"/>
          </a:ln>
        </p:spPr>
      </p:sp>
      <p:sp>
        <p:nvSpPr>
          <p:cNvPr id="11" name="Kernaussage Text"/>
          <p:cNvSpPr txBox="1"/>
          <p:nvPr/>
        </p:nvSpPr>
        <p:spPr>
          <a:xfrm>
            <a:off x="731520" y="512064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E7FFF2"/>
                </a:solidFill>
              </a:rPr>
              <a:t>Key message on Carbon Black, text in Ice Mint, number or keyword in Signal Green.</a:t>
            </a:r>
            <a:endParaRPr lang="en-US" sz="1100" dirty="0"/>
          </a:p>
        </p:txBody>
      </p:sp>
      <p:sp>
        <p:nvSpPr>
          <p:cNvPr id="12" name="Eyebrow 02 //  LINES, ARROWS, MARKERS"/>
          <p:cNvSpPr txBox="1"/>
          <p:nvPr/>
        </p:nvSpPr>
        <p:spPr>
          <a:xfrm>
            <a:off x="4246778"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LINES, ARROWS, MARKERS</a:t>
            </a:r>
            <a:endParaRPr lang="en-US" sz="1000" dirty="0"/>
          </a:p>
        </p:txBody>
      </p:sp>
      <p:sp>
        <p:nvSpPr>
          <p:cNvPr id="13" name="Pfeil 1"/>
          <p:cNvSpPr/>
          <p:nvPr/>
        </p:nvSpPr>
        <p:spPr>
          <a:xfrm>
            <a:off x="4246778" y="3200400"/>
            <a:ext cx="1869338" cy="0"/>
          </a:xfrm>
          <a:prstGeom prst="line">
            <a:avLst/>
          </a:prstGeom>
          <a:noFill/>
          <a:ln w="12700">
            <a:solidFill>
              <a:srgbClr val="111418"/>
            </a:solidFill>
            <a:prstDash val="solid"/>
            <a:tailEnd type="triangle"/>
          </a:ln>
        </p:spPr>
      </p:sp>
      <p:sp>
        <p:nvSpPr>
          <p:cNvPr id="14" name="Pfeil Text 1"/>
          <p:cNvSpPr txBox="1"/>
          <p:nvPr/>
        </p:nvSpPr>
        <p:spPr>
          <a:xfrm>
            <a:off x="6207557" y="3081528"/>
            <a:ext cx="1371600" cy="237744"/>
          </a:xfrm>
          <a:prstGeom prst="rect">
            <a:avLst/>
          </a:prstGeom>
          <a:noFill/>
          <a:ln/>
        </p:spPr>
        <p:txBody>
          <a:bodyPr wrap="square" lIns="0" tIns="0" rIns="0" bIns="0" rtlCol="0" anchor="ctr"/>
          <a:lstStyle/>
          <a:p>
            <a:pPr indent="0" marL="0">
              <a:buNone/>
            </a:pPr>
            <a:r>
              <a:rPr lang="en-US" sz="900" dirty="0">
                <a:solidFill>
                  <a:srgbClr val="707981"/>
                </a:solidFill>
              </a:rPr>
              <a:t>Arrow, sequence</a:t>
            </a:r>
            <a:endParaRPr lang="en-US" sz="900" dirty="0"/>
          </a:p>
        </p:txBody>
      </p:sp>
      <p:sp>
        <p:nvSpPr>
          <p:cNvPr id="15" name="Pfeil 2"/>
          <p:cNvSpPr/>
          <p:nvPr/>
        </p:nvSpPr>
        <p:spPr>
          <a:xfrm>
            <a:off x="4246778" y="3566160"/>
            <a:ext cx="1869338" cy="0"/>
          </a:xfrm>
          <a:prstGeom prst="line">
            <a:avLst/>
          </a:prstGeom>
          <a:noFill/>
          <a:ln w="15875">
            <a:solidFill>
              <a:srgbClr val="25C77A"/>
            </a:solidFill>
            <a:prstDash val="solid"/>
            <a:tailEnd type="triangle"/>
          </a:ln>
        </p:spPr>
      </p:sp>
      <p:sp>
        <p:nvSpPr>
          <p:cNvPr id="16" name="Pfeil Text 2"/>
          <p:cNvSpPr txBox="1"/>
          <p:nvPr/>
        </p:nvSpPr>
        <p:spPr>
          <a:xfrm>
            <a:off x="6207557" y="3447288"/>
            <a:ext cx="1371600" cy="237744"/>
          </a:xfrm>
          <a:prstGeom prst="rect">
            <a:avLst/>
          </a:prstGeom>
          <a:noFill/>
          <a:ln/>
        </p:spPr>
        <p:txBody>
          <a:bodyPr wrap="square" lIns="0" tIns="0" rIns="0" bIns="0" rtlCol="0" anchor="ctr"/>
          <a:lstStyle/>
          <a:p>
            <a:pPr indent="0" marL="0">
              <a:buNone/>
            </a:pPr>
            <a:r>
              <a:rPr lang="en-US" sz="900" dirty="0">
                <a:solidFill>
                  <a:srgbClr val="707981"/>
                </a:solidFill>
              </a:rPr>
              <a:t>Arrow, emphasis</a:t>
            </a:r>
            <a:endParaRPr lang="en-US" sz="900" dirty="0"/>
          </a:p>
        </p:txBody>
      </p:sp>
      <p:sp>
        <p:nvSpPr>
          <p:cNvPr id="17" name="Pfeil 3"/>
          <p:cNvSpPr/>
          <p:nvPr/>
        </p:nvSpPr>
        <p:spPr>
          <a:xfrm>
            <a:off x="4246778" y="3931920"/>
            <a:ext cx="1869338" cy="0"/>
          </a:xfrm>
          <a:prstGeom prst="line">
            <a:avLst/>
          </a:prstGeom>
          <a:noFill/>
          <a:ln w="12700">
            <a:solidFill>
              <a:srgbClr val="707981"/>
            </a:solidFill>
            <a:prstDash val="solid"/>
            <a:tailEnd type="triangle"/>
          </a:ln>
        </p:spPr>
      </p:sp>
      <p:sp>
        <p:nvSpPr>
          <p:cNvPr id="18" name="Pfeil Text 3"/>
          <p:cNvSpPr txBox="1"/>
          <p:nvPr/>
        </p:nvSpPr>
        <p:spPr>
          <a:xfrm>
            <a:off x="6207557" y="3813048"/>
            <a:ext cx="1371600" cy="237744"/>
          </a:xfrm>
          <a:prstGeom prst="rect">
            <a:avLst/>
          </a:prstGeom>
          <a:noFill/>
          <a:ln/>
        </p:spPr>
        <p:txBody>
          <a:bodyPr wrap="square" lIns="0" tIns="0" rIns="0" bIns="0" rtlCol="0" anchor="ctr"/>
          <a:lstStyle/>
          <a:p>
            <a:pPr indent="0" marL="0">
              <a:buNone/>
            </a:pPr>
            <a:r>
              <a:rPr lang="en-US" sz="900" dirty="0">
                <a:solidFill>
                  <a:srgbClr val="707981"/>
                </a:solidFill>
              </a:rPr>
              <a:t>Arrow, option</a:t>
            </a:r>
            <a:endParaRPr lang="en-US" sz="900" dirty="0"/>
          </a:p>
        </p:txBody>
      </p:sp>
      <p:sp>
        <p:nvSpPr>
          <p:cNvPr id="19" name="Linie Beispiel"/>
          <p:cNvSpPr/>
          <p:nvPr/>
        </p:nvSpPr>
        <p:spPr>
          <a:xfrm>
            <a:off x="4246778" y="4343400"/>
            <a:ext cx="1869338" cy="0"/>
          </a:xfrm>
          <a:prstGeom prst="line">
            <a:avLst/>
          </a:prstGeom>
          <a:noFill/>
          <a:ln w="6350">
            <a:solidFill>
              <a:srgbClr val="91A19B"/>
            </a:solidFill>
            <a:prstDash val="solid"/>
          </a:ln>
        </p:spPr>
      </p:sp>
      <p:sp>
        <p:nvSpPr>
          <p:cNvPr id="20" name="Linie Text"/>
          <p:cNvSpPr txBox="1"/>
          <p:nvPr/>
        </p:nvSpPr>
        <p:spPr>
          <a:xfrm>
            <a:off x="6207557" y="4224528"/>
            <a:ext cx="1371600" cy="237744"/>
          </a:xfrm>
          <a:prstGeom prst="rect">
            <a:avLst/>
          </a:prstGeom>
          <a:noFill/>
          <a:ln/>
        </p:spPr>
        <p:txBody>
          <a:bodyPr wrap="square" lIns="0" tIns="0" rIns="0" bIns="0" rtlCol="0" anchor="ctr"/>
          <a:lstStyle/>
          <a:p>
            <a:pPr indent="0" marL="0">
              <a:buNone/>
            </a:pPr>
            <a:r>
              <a:rPr lang="en-US" sz="900" dirty="0">
                <a:solidFill>
                  <a:srgbClr val="707981"/>
                </a:solidFill>
              </a:rPr>
              <a:t>Line, divider</a:t>
            </a:r>
            <a:endParaRPr lang="en-US" sz="900" dirty="0"/>
          </a:p>
        </p:txBody>
      </p:sp>
      <p:sp>
        <p:nvSpPr>
          <p:cNvPr id="21" name="Bildplatz"/>
          <p:cNvSpPr/>
          <p:nvPr/>
        </p:nvSpPr>
        <p:spPr>
          <a:xfrm>
            <a:off x="4246778" y="4709160"/>
            <a:ext cx="1188720" cy="777240"/>
          </a:xfrm>
          <a:prstGeom prst="rect">
            <a:avLst/>
          </a:prstGeom>
          <a:solidFill>
            <a:srgbClr val="C4C8CC"/>
          </a:solidFill>
          <a:ln w="12700">
            <a:solidFill>
              <a:srgbClr val="C4C8CC"/>
            </a:solidFill>
            <a:prstDash val="solid"/>
          </a:ln>
        </p:spPr>
      </p:sp>
      <p:sp>
        <p:nvSpPr>
          <p:cNvPr id="22" name="Eckmarker 1"/>
          <p:cNvSpPr/>
          <p:nvPr/>
        </p:nvSpPr>
        <p:spPr>
          <a:xfrm>
            <a:off x="4155338" y="4617720"/>
            <a:ext cx="73152" cy="73152"/>
          </a:xfrm>
          <a:prstGeom prst="ellipse">
            <a:avLst/>
          </a:prstGeom>
          <a:solidFill>
            <a:srgbClr val="111418"/>
          </a:solidFill>
          <a:ln w="12700">
            <a:solidFill>
              <a:srgbClr val="111418"/>
            </a:solidFill>
            <a:prstDash val="solid"/>
          </a:ln>
        </p:spPr>
      </p:sp>
      <p:sp>
        <p:nvSpPr>
          <p:cNvPr id="23" name="Eckmarker 2"/>
          <p:cNvSpPr/>
          <p:nvPr/>
        </p:nvSpPr>
        <p:spPr>
          <a:xfrm>
            <a:off x="5453786" y="4617720"/>
            <a:ext cx="73152" cy="73152"/>
          </a:xfrm>
          <a:prstGeom prst="ellipse">
            <a:avLst/>
          </a:prstGeom>
          <a:solidFill>
            <a:srgbClr val="111418"/>
          </a:solidFill>
          <a:ln w="12700">
            <a:solidFill>
              <a:srgbClr val="111418"/>
            </a:solidFill>
            <a:prstDash val="solid"/>
          </a:ln>
        </p:spPr>
      </p:sp>
      <p:sp>
        <p:nvSpPr>
          <p:cNvPr id="24" name="Eckmarker 3"/>
          <p:cNvSpPr/>
          <p:nvPr/>
        </p:nvSpPr>
        <p:spPr>
          <a:xfrm>
            <a:off x="4155338" y="5504688"/>
            <a:ext cx="73152" cy="73152"/>
          </a:xfrm>
          <a:prstGeom prst="ellipse">
            <a:avLst/>
          </a:prstGeom>
          <a:solidFill>
            <a:srgbClr val="111418"/>
          </a:solidFill>
          <a:ln w="12700">
            <a:solidFill>
              <a:srgbClr val="111418"/>
            </a:solidFill>
            <a:prstDash val="solid"/>
          </a:ln>
        </p:spPr>
      </p:sp>
      <p:sp>
        <p:nvSpPr>
          <p:cNvPr id="25" name="Eckmarker 4"/>
          <p:cNvSpPr/>
          <p:nvPr/>
        </p:nvSpPr>
        <p:spPr>
          <a:xfrm>
            <a:off x="5453786" y="5504688"/>
            <a:ext cx="73152" cy="73152"/>
          </a:xfrm>
          <a:prstGeom prst="ellipse">
            <a:avLst/>
          </a:prstGeom>
          <a:solidFill>
            <a:srgbClr val="111418"/>
          </a:solidFill>
          <a:ln w="12700">
            <a:solidFill>
              <a:srgbClr val="111418"/>
            </a:solidFill>
            <a:prstDash val="solid"/>
          </a:ln>
        </p:spPr>
      </p:sp>
      <p:sp>
        <p:nvSpPr>
          <p:cNvPr id="26" name="Eckmarker Text"/>
          <p:cNvSpPr txBox="1"/>
          <p:nvPr/>
        </p:nvSpPr>
        <p:spPr>
          <a:xfrm>
            <a:off x="5709818" y="4754880"/>
            <a:ext cx="1869338" cy="731520"/>
          </a:xfrm>
          <a:prstGeom prst="rect">
            <a:avLst/>
          </a:prstGeom>
          <a:noFill/>
          <a:ln/>
        </p:spPr>
        <p:txBody>
          <a:bodyPr wrap="square" lIns="0" tIns="0" rIns="0" bIns="0" rtlCol="0" anchor="t"/>
          <a:lstStyle/>
          <a:p>
            <a:pPr indent="0" marL="0">
              <a:lnSpc>
                <a:spcPct val="120000"/>
              </a:lnSpc>
              <a:buNone/>
            </a:pPr>
            <a:r>
              <a:rPr lang="en-US" sz="900" dirty="0">
                <a:solidFill>
                  <a:srgbClr val="707981"/>
                </a:solidFill>
              </a:rPr>
              <a:t>Round corner markers around photos, sketches and screenshots</a:t>
            </a:r>
            <a:endParaRPr lang="en-US" sz="900" dirty="0"/>
          </a:p>
        </p:txBody>
      </p:sp>
      <p:sp>
        <p:nvSpPr>
          <p:cNvPr id="27" name="Aufzählung Beispiel"/>
          <p:cNvSpPr txBox="1"/>
          <p:nvPr/>
        </p:nvSpPr>
        <p:spPr>
          <a:xfrm>
            <a:off x="4246778" y="5669280"/>
            <a:ext cx="3332378" cy="50292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000" dirty="0">
                <a:solidFill>
                  <a:srgbClr val="111418"/>
                </a:solidFill>
              </a:rPr>
              <a:t>Dot instead of square as bullet</a:t>
            </a:r>
            <a:endParaRPr lang="en-US" sz="1000" dirty="0"/>
          </a:p>
          <a:p>
            <a:pPr marL="342900" indent="-342900">
              <a:lnSpc>
                <a:spcPct val="115000"/>
              </a:lnSpc>
              <a:spcAft>
                <a:spcPts val="400"/>
              </a:spcAft>
              <a:buSzPct val="100000"/>
              <a:buFont typeface="Inter" pitchFamily="34" charset="0"/>
              <a:buChar char="•"/>
            </a:pPr>
            <a:r>
              <a:rPr lang="en-US" sz="1000" dirty="0">
                <a:solidFill>
                  <a:srgbClr val="111418"/>
                </a:solidFill>
              </a:rPr>
              <a:t>Same dot in every list</a:t>
            </a:r>
            <a:endParaRPr lang="en-US" sz="1000" dirty="0"/>
          </a:p>
        </p:txBody>
      </p:sp>
      <p:sp>
        <p:nvSpPr>
          <p:cNvPr id="28" name="Eyebrow 03 //  STATUS AND RELEASE (TRAFFIC LIGHT)"/>
          <p:cNvSpPr txBox="1"/>
          <p:nvPr/>
        </p:nvSpPr>
        <p:spPr>
          <a:xfrm>
            <a:off x="7944917"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STATUS AND RELEASE (TRAFFIC LIGHT)</a:t>
            </a:r>
            <a:endParaRPr lang="en-US" sz="1000" dirty="0"/>
          </a:p>
        </p:txBody>
      </p:sp>
      <p:sp>
        <p:nvSpPr>
          <p:cNvPr id="29" name="Label DONE"/>
          <p:cNvSpPr/>
          <p:nvPr/>
        </p:nvSpPr>
        <p:spPr>
          <a:xfrm>
            <a:off x="7944917" y="3063240"/>
            <a:ext cx="1051560" cy="237744"/>
          </a:xfrm>
          <a:prstGeom prst="rect">
            <a:avLst/>
          </a:prstGeom>
          <a:solidFill>
            <a:srgbClr val="111418"/>
          </a:solidFill>
          <a:ln w="6350">
            <a:solidFill>
              <a:srgbClr val="111418"/>
            </a:solidFill>
            <a:prstDash val="solid"/>
          </a:ln>
        </p:spPr>
      </p:sp>
      <p:sp>
        <p:nvSpPr>
          <p:cNvPr id="30" name="Label DONE Text"/>
          <p:cNvSpPr txBox="1"/>
          <p:nvPr/>
        </p:nvSpPr>
        <p:spPr>
          <a:xfrm>
            <a:off x="7944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E7FFF2"/>
                </a:solidFill>
              </a:rPr>
              <a:t>DONE</a:t>
            </a:r>
            <a:endParaRPr lang="en-US" sz="750" dirty="0"/>
          </a:p>
        </p:txBody>
      </p:sp>
      <p:sp>
        <p:nvSpPr>
          <p:cNvPr id="31" name="Label ACTIVE"/>
          <p:cNvSpPr/>
          <p:nvPr/>
        </p:nvSpPr>
        <p:spPr>
          <a:xfrm>
            <a:off x="9087917" y="3063240"/>
            <a:ext cx="1051560" cy="237744"/>
          </a:xfrm>
          <a:prstGeom prst="rect">
            <a:avLst/>
          </a:prstGeom>
          <a:solidFill>
            <a:srgbClr val="25C77A"/>
          </a:solidFill>
          <a:ln w="6350">
            <a:solidFill>
              <a:srgbClr val="25C77A"/>
            </a:solidFill>
            <a:prstDash val="solid"/>
          </a:ln>
        </p:spPr>
      </p:sp>
      <p:sp>
        <p:nvSpPr>
          <p:cNvPr id="32" name="Label ACTIVE Text"/>
          <p:cNvSpPr txBox="1"/>
          <p:nvPr/>
        </p:nvSpPr>
        <p:spPr>
          <a:xfrm>
            <a:off x="9087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ACTIVE</a:t>
            </a:r>
            <a:endParaRPr lang="en-US" sz="750" dirty="0"/>
          </a:p>
        </p:txBody>
      </p:sp>
      <p:sp>
        <p:nvSpPr>
          <p:cNvPr id="33" name="Label OPEN"/>
          <p:cNvSpPr/>
          <p:nvPr/>
        </p:nvSpPr>
        <p:spPr>
          <a:xfrm>
            <a:off x="10230917" y="3063240"/>
            <a:ext cx="1051560" cy="237744"/>
          </a:xfrm>
          <a:prstGeom prst="rect">
            <a:avLst/>
          </a:prstGeom>
          <a:solidFill>
            <a:srgbClr val="E7FFF2"/>
          </a:solidFill>
          <a:ln w="6350">
            <a:solidFill>
              <a:srgbClr val="91A19B"/>
            </a:solidFill>
            <a:prstDash val="solid"/>
          </a:ln>
        </p:spPr>
      </p:sp>
      <p:sp>
        <p:nvSpPr>
          <p:cNvPr id="34" name="Label OPEN Text"/>
          <p:cNvSpPr txBox="1"/>
          <p:nvPr/>
        </p:nvSpPr>
        <p:spPr>
          <a:xfrm>
            <a:off x="10230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707981"/>
                </a:solidFill>
              </a:rPr>
              <a:t>OPEN</a:t>
            </a:r>
            <a:endParaRPr lang="en-US" sz="750" dirty="0"/>
          </a:p>
        </p:txBody>
      </p:sp>
      <p:sp>
        <p:nvSpPr>
          <p:cNvPr id="35" name="Status Erklärung"/>
          <p:cNvSpPr txBox="1"/>
          <p:nvPr/>
        </p:nvSpPr>
        <p:spPr>
          <a:xfrm>
            <a:off x="7944917" y="3383280"/>
            <a:ext cx="3332378" cy="237744"/>
          </a:xfrm>
          <a:prstGeom prst="rect">
            <a:avLst/>
          </a:prstGeom>
          <a:noFill/>
          <a:ln/>
        </p:spPr>
        <p:txBody>
          <a:bodyPr wrap="square" lIns="0" tIns="0" rIns="0" bIns="0" rtlCol="0" anchor="ctr"/>
          <a:lstStyle/>
          <a:p>
            <a:pPr indent="0" marL="0">
              <a:buNone/>
            </a:pPr>
            <a:r>
              <a:rPr lang="en-US" sz="900" dirty="0">
                <a:solidFill>
                  <a:srgbClr val="707981"/>
                </a:solidFill>
              </a:rPr>
              <a:t>Task status: done, active, open (brand colours)</a:t>
            </a:r>
            <a:endParaRPr lang="en-US" sz="900" dirty="0"/>
          </a:p>
        </p:txBody>
      </p:sp>
      <p:sp>
        <p:nvSpPr>
          <p:cNvPr id="36" name="Label CONFIDENTIAL"/>
          <p:cNvSpPr/>
          <p:nvPr/>
        </p:nvSpPr>
        <p:spPr>
          <a:xfrm>
            <a:off x="7944917" y="3794760"/>
            <a:ext cx="1051560" cy="237744"/>
          </a:xfrm>
          <a:prstGeom prst="rect">
            <a:avLst/>
          </a:prstGeom>
          <a:solidFill>
            <a:srgbClr val="B8463A"/>
          </a:solidFill>
          <a:ln w="6350">
            <a:solidFill>
              <a:srgbClr val="B8463A"/>
            </a:solidFill>
            <a:prstDash val="solid"/>
          </a:ln>
        </p:spPr>
      </p:sp>
      <p:sp>
        <p:nvSpPr>
          <p:cNvPr id="37" name="Label CONFIDENTIAL Text"/>
          <p:cNvSpPr txBox="1"/>
          <p:nvPr/>
        </p:nvSpPr>
        <p:spPr>
          <a:xfrm>
            <a:off x="7944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FFFFFF"/>
                </a:solidFill>
              </a:rPr>
              <a:t>CONFIDENTIAL</a:t>
            </a:r>
            <a:endParaRPr lang="en-US" sz="750" dirty="0"/>
          </a:p>
        </p:txBody>
      </p:sp>
      <p:sp>
        <p:nvSpPr>
          <p:cNvPr id="38" name="Label UNDER REVIEW"/>
          <p:cNvSpPr/>
          <p:nvPr/>
        </p:nvSpPr>
        <p:spPr>
          <a:xfrm>
            <a:off x="9087917" y="3794760"/>
            <a:ext cx="1051560" cy="237744"/>
          </a:xfrm>
          <a:prstGeom prst="rect">
            <a:avLst/>
          </a:prstGeom>
          <a:solidFill>
            <a:srgbClr val="E2A33D"/>
          </a:solidFill>
          <a:ln w="6350">
            <a:solidFill>
              <a:srgbClr val="E2A33D"/>
            </a:solidFill>
            <a:prstDash val="solid"/>
          </a:ln>
        </p:spPr>
      </p:sp>
      <p:sp>
        <p:nvSpPr>
          <p:cNvPr id="39" name="Label UNDER REVIEW Text"/>
          <p:cNvSpPr txBox="1"/>
          <p:nvPr/>
        </p:nvSpPr>
        <p:spPr>
          <a:xfrm>
            <a:off x="9087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UNDER REVIEW</a:t>
            </a:r>
            <a:endParaRPr lang="en-US" sz="750" dirty="0"/>
          </a:p>
        </p:txBody>
      </p:sp>
      <p:sp>
        <p:nvSpPr>
          <p:cNvPr id="40" name="Label RELEASED"/>
          <p:cNvSpPr/>
          <p:nvPr/>
        </p:nvSpPr>
        <p:spPr>
          <a:xfrm>
            <a:off x="10230917" y="3794760"/>
            <a:ext cx="1051560" cy="237744"/>
          </a:xfrm>
          <a:prstGeom prst="rect">
            <a:avLst/>
          </a:prstGeom>
          <a:solidFill>
            <a:srgbClr val="B7F3D0"/>
          </a:solidFill>
          <a:ln w="6350">
            <a:solidFill>
              <a:srgbClr val="B7F3D0"/>
            </a:solidFill>
            <a:prstDash val="solid"/>
          </a:ln>
        </p:spPr>
      </p:sp>
      <p:sp>
        <p:nvSpPr>
          <p:cNvPr id="41" name="Label RELEASED Text"/>
          <p:cNvSpPr txBox="1"/>
          <p:nvPr/>
        </p:nvSpPr>
        <p:spPr>
          <a:xfrm>
            <a:off x="10230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RELEASED</a:t>
            </a:r>
            <a:endParaRPr lang="en-US" sz="750" dirty="0"/>
          </a:p>
        </p:txBody>
      </p:sp>
      <p:sp>
        <p:nvSpPr>
          <p:cNvPr id="42" name="Ampel Erklärung"/>
          <p:cNvSpPr txBox="1"/>
          <p:nvPr/>
        </p:nvSpPr>
        <p:spPr>
          <a:xfrm>
            <a:off x="7944917" y="4114800"/>
            <a:ext cx="3332378" cy="548640"/>
          </a:xfrm>
          <a:prstGeom prst="rect">
            <a:avLst/>
          </a:prstGeom>
          <a:noFill/>
          <a:ln/>
        </p:spPr>
        <p:txBody>
          <a:bodyPr wrap="square" lIns="0" tIns="0" rIns="0" bIns="0" rtlCol="0" anchor="t"/>
          <a:lstStyle/>
          <a:p>
            <a:pPr indent="0" marL="0">
              <a:lnSpc>
                <a:spcPct val="120000"/>
              </a:lnSpc>
              <a:buNone/>
            </a:pPr>
            <a:r>
              <a:rPr lang="en-US" sz="900" dirty="0">
                <a:solidFill>
                  <a:srgbClr val="707981"/>
                </a:solidFill>
              </a:rPr>
              <a:t>Release status as traffic light: red = attention, prohibition, confidential; amber = under review, preliminary; green = released. Labels only, never content.</a:t>
            </a:r>
            <a:endParaRPr lang="en-US" sz="900" dirty="0"/>
          </a:p>
        </p:txBody>
      </p:sp>
      <p:sp>
        <p:nvSpPr>
          <p:cNvPr id="43" name="Label INTERNAL"/>
          <p:cNvSpPr/>
          <p:nvPr/>
        </p:nvSpPr>
        <p:spPr>
          <a:xfrm>
            <a:off x="7944917" y="4892040"/>
            <a:ext cx="1051560" cy="237744"/>
          </a:xfrm>
          <a:prstGeom prst="rect">
            <a:avLst/>
          </a:prstGeom>
          <a:solidFill>
            <a:srgbClr val="E7FFF2"/>
          </a:solidFill>
          <a:ln w="6350">
            <a:solidFill>
              <a:srgbClr val="111418"/>
            </a:solidFill>
            <a:prstDash val="solid"/>
          </a:ln>
        </p:spPr>
      </p:sp>
      <p:sp>
        <p:nvSpPr>
          <p:cNvPr id="44" name="Label INTERNAL Text"/>
          <p:cNvSpPr txBox="1"/>
          <p:nvPr/>
        </p:nvSpPr>
        <p:spPr>
          <a:xfrm>
            <a:off x="7944917" y="48920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INTERNAL</a:t>
            </a:r>
            <a:endParaRPr lang="en-US" sz="750" dirty="0"/>
          </a:p>
        </p:txBody>
      </p:sp>
      <p:sp>
        <p:nvSpPr>
          <p:cNvPr id="45" name="Label DRAFT"/>
          <p:cNvSpPr/>
          <p:nvPr/>
        </p:nvSpPr>
        <p:spPr>
          <a:xfrm>
            <a:off x="9087917" y="4892040"/>
            <a:ext cx="1051560" cy="237744"/>
          </a:xfrm>
          <a:prstGeom prst="rect">
            <a:avLst/>
          </a:prstGeom>
          <a:solidFill>
            <a:srgbClr val="E7FFF2"/>
          </a:solidFill>
          <a:ln w="6350">
            <a:solidFill>
              <a:srgbClr val="111418"/>
            </a:solidFill>
            <a:prstDash val="solid"/>
          </a:ln>
        </p:spPr>
      </p:sp>
      <p:sp>
        <p:nvSpPr>
          <p:cNvPr id="46" name="Label DRAFT Text"/>
          <p:cNvSpPr txBox="1"/>
          <p:nvPr/>
        </p:nvSpPr>
        <p:spPr>
          <a:xfrm>
            <a:off x="9087917" y="48920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DRAFT</a:t>
            </a:r>
            <a:endParaRPr lang="en-US" sz="750" dirty="0"/>
          </a:p>
        </p:txBody>
      </p:sp>
      <p:sp>
        <p:nvSpPr>
          <p:cNvPr id="47" name="Neutral Erklärung"/>
          <p:cNvSpPr txBox="1"/>
          <p:nvPr/>
        </p:nvSpPr>
        <p:spPr>
          <a:xfrm>
            <a:off x="7944917" y="5212080"/>
            <a:ext cx="3332378" cy="237744"/>
          </a:xfrm>
          <a:prstGeom prst="rect">
            <a:avLst/>
          </a:prstGeom>
          <a:noFill/>
          <a:ln/>
        </p:spPr>
        <p:txBody>
          <a:bodyPr wrap="square" lIns="0" tIns="0" rIns="0" bIns="0" rtlCol="0" anchor="ctr"/>
          <a:lstStyle/>
          <a:p>
            <a:pPr indent="0" marL="0">
              <a:buNone/>
            </a:pPr>
            <a:r>
              <a:rPr lang="en-US" sz="900" dirty="0">
                <a:solidFill>
                  <a:srgbClr val="707981"/>
                </a:solidFill>
              </a:rPr>
              <a:t>Neutral labels without traffic-light meaning</a:t>
            </a:r>
            <a:endParaRPr lang="en-US" sz="900" dirty="0"/>
          </a:p>
        </p:txBody>
      </p:sp>
      <p:sp>
        <p:nvSpPr>
          <p:cNvPr id="48" name="Pfeil-Link"/>
          <p:cNvSpPr txBox="1"/>
          <p:nvPr/>
        </p:nvSpPr>
        <p:spPr>
          <a:xfrm>
            <a:off x="7944917" y="5623560"/>
            <a:ext cx="3332378" cy="274320"/>
          </a:xfrm>
          <a:prstGeom prst="rect">
            <a:avLst/>
          </a:prstGeom>
          <a:noFill/>
          <a:ln/>
        </p:spPr>
        <p:txBody>
          <a:bodyPr wrap="square" lIns="0" tIns="0" rIns="0" bIns="0" rtlCol="0" anchor="ctr"/>
          <a:lstStyle/>
          <a:p>
            <a:pPr indent="0" marL="0">
              <a:buNone/>
            </a:pPr>
            <a:r>
              <a:rPr lang="en-US" sz="1000" spc="-30" kern="0" dirty="0">
                <a:solidFill>
                  <a:srgbClr val="111418"/>
                </a:solidFill>
              </a:rPr>
              <a:t>TO THE SIMULATION  →</a:t>
            </a:r>
            <a:endParaRPr lang="en-US" sz="1000" dirty="0"/>
          </a:p>
        </p:txBody>
      </p:sp>
      <p:sp>
        <p:nvSpPr>
          <p:cNvPr id="49" name="Pfeil-Link Text"/>
          <p:cNvSpPr txBox="1"/>
          <p:nvPr/>
        </p:nvSpPr>
        <p:spPr>
          <a:xfrm>
            <a:off x="7944917" y="5897880"/>
            <a:ext cx="3332378" cy="237744"/>
          </a:xfrm>
          <a:prstGeom prst="rect">
            <a:avLst/>
          </a:prstGeom>
          <a:noFill/>
          <a:ln/>
        </p:spPr>
        <p:txBody>
          <a:bodyPr wrap="square" lIns="0" tIns="0" rIns="0" bIns="0" rtlCol="0" anchor="ctr"/>
          <a:lstStyle/>
          <a:p>
            <a:pPr indent="0" marL="0">
              <a:buNone/>
            </a:pPr>
            <a:r>
              <a:rPr lang="en-US" sz="900" dirty="0">
                <a:solidFill>
                  <a:srgbClr val="707981"/>
                </a:solidFill>
              </a:rPr>
              <a:t>Arrow link as reference to another slide</a:t>
            </a:r>
            <a:endParaRPr lang="en-US" sz="900" dirty="0"/>
          </a:p>
        </p:txBody>
      </p:sp>
      <p:sp>
        <p:nvSpPr>
          <p:cNvPr id="5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23</a:t>
            </a:fld>
            <a:endParaRPr lang="en-US"/>
          </a:p>
        </p:txBody>
      </p:sp>
      <p:sp>
        <p:nvSpPr>
          <p:cNvPr id="51"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TEMPLATE  ·  COLOURS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Colour concept: brand, ground, status</a:t>
            </a:r>
            <a:endParaRPr lang="en-US" sz="3400" dirty="0"/>
          </a:p>
        </p:txBody>
      </p:sp>
      <p:sp>
        <p:nvSpPr>
          <p:cNvPr id="5" name="Muster Carbon Black"/>
          <p:cNvSpPr/>
          <p:nvPr/>
        </p:nvSpPr>
        <p:spPr>
          <a:xfrm>
            <a:off x="548640" y="2514600"/>
            <a:ext cx="1635709" cy="685800"/>
          </a:xfrm>
          <a:prstGeom prst="rect">
            <a:avLst/>
          </a:prstGeom>
          <a:solidFill>
            <a:srgbClr val="111418"/>
          </a:solidFill>
          <a:ln w="6350">
            <a:solidFill>
              <a:srgbClr val="91A19B"/>
            </a:solidFill>
            <a:prstDash val="solid"/>
          </a:ln>
        </p:spPr>
      </p:sp>
      <p:sp>
        <p:nvSpPr>
          <p:cNvPr id="6" name="Farbname Carbon Black"/>
          <p:cNvSpPr txBox="1"/>
          <p:nvPr/>
        </p:nvSpPr>
        <p:spPr>
          <a:xfrm>
            <a:off x="548640"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Carbon Black</a:t>
            </a:r>
            <a:endParaRPr lang="en-US" sz="1200" dirty="0"/>
          </a:p>
        </p:txBody>
      </p:sp>
      <p:sp>
        <p:nvSpPr>
          <p:cNvPr id="7" name="Rolle Carbon Black"/>
          <p:cNvSpPr txBox="1"/>
          <p:nvPr/>
        </p:nvSpPr>
        <p:spPr>
          <a:xfrm>
            <a:off x="548640"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DARK GROUND  ·  TEXT ON LIGHT</a:t>
            </a:r>
            <a:endParaRPr lang="en-US" sz="750" dirty="0"/>
          </a:p>
        </p:txBody>
      </p:sp>
      <p:sp>
        <p:nvSpPr>
          <p:cNvPr id="8" name="Farbwerte Carbon Black"/>
          <p:cNvSpPr txBox="1"/>
          <p:nvPr/>
        </p:nvSpPr>
        <p:spPr>
          <a:xfrm>
            <a:off x="548640"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#111418</a:t>
            </a:r>
            <a:endParaRPr lang="en-US" sz="800" dirty="0"/>
          </a:p>
          <a:p>
            <a:pPr indent="0" marL="0">
              <a:lnSpc>
                <a:spcPct val="125000"/>
              </a:lnSpc>
              <a:buNone/>
            </a:pPr>
            <a:r>
              <a:rPr lang="en-US" sz="800" dirty="0">
                <a:solidFill>
                  <a:srgbClr val="111418"/>
                </a:solidFill>
              </a:rPr>
              <a:t>RGB  17 · 20 · 24</a:t>
            </a:r>
            <a:endParaRPr lang="en-US" sz="800" dirty="0"/>
          </a:p>
          <a:p>
            <a:pPr indent="0" marL="0">
              <a:lnSpc>
                <a:spcPct val="125000"/>
              </a:lnSpc>
              <a:buNone/>
            </a:pPr>
            <a:r>
              <a:rPr lang="en-US" sz="800" dirty="0">
                <a:solidFill>
                  <a:srgbClr val="111418"/>
                </a:solidFill>
              </a:rPr>
              <a:t>CMYK  29 · 17 · 0 · 91</a:t>
            </a:r>
            <a:endParaRPr lang="en-US" sz="800" dirty="0"/>
          </a:p>
          <a:p>
            <a:pPr indent="0" marL="0">
              <a:lnSpc>
                <a:spcPct val="125000"/>
              </a:lnSpc>
              <a:buNone/>
            </a:pPr>
            <a:r>
              <a:rPr lang="en-US" sz="800" dirty="0">
                <a:solidFill>
                  <a:srgbClr val="111418"/>
                </a:solidFill>
              </a:rPr>
              <a:t>HSL  214° · 17 % · 8 %</a:t>
            </a:r>
            <a:endParaRPr lang="en-US" sz="800" dirty="0"/>
          </a:p>
        </p:txBody>
      </p:sp>
      <p:sp>
        <p:nvSpPr>
          <p:cNvPr id="9" name="Muster Ice Mint"/>
          <p:cNvSpPr/>
          <p:nvPr/>
        </p:nvSpPr>
        <p:spPr>
          <a:xfrm>
            <a:off x="2367229" y="2514600"/>
            <a:ext cx="1635709" cy="685800"/>
          </a:xfrm>
          <a:prstGeom prst="rect">
            <a:avLst/>
          </a:prstGeom>
          <a:solidFill>
            <a:srgbClr val="E7FFF2"/>
          </a:solidFill>
          <a:ln w="6350">
            <a:solidFill>
              <a:srgbClr val="91A19B"/>
            </a:solidFill>
            <a:prstDash val="solid"/>
          </a:ln>
        </p:spPr>
      </p:sp>
      <p:sp>
        <p:nvSpPr>
          <p:cNvPr id="10" name="Farbname Ice Mint"/>
          <p:cNvSpPr txBox="1"/>
          <p:nvPr/>
        </p:nvSpPr>
        <p:spPr>
          <a:xfrm>
            <a:off x="2367229"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Ice Mint</a:t>
            </a:r>
            <a:endParaRPr lang="en-US" sz="1200" dirty="0"/>
          </a:p>
        </p:txBody>
      </p:sp>
      <p:sp>
        <p:nvSpPr>
          <p:cNvPr id="11" name="Rolle Ice Mint"/>
          <p:cNvSpPr txBox="1"/>
          <p:nvPr/>
        </p:nvSpPr>
        <p:spPr>
          <a:xfrm>
            <a:off x="2367229"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MINT GROUND  ·  TEXT ON DARK</a:t>
            </a:r>
            <a:endParaRPr lang="en-US" sz="750" dirty="0"/>
          </a:p>
        </p:txBody>
      </p:sp>
      <p:sp>
        <p:nvSpPr>
          <p:cNvPr id="12" name="Farbwerte Ice Mint"/>
          <p:cNvSpPr txBox="1"/>
          <p:nvPr/>
        </p:nvSpPr>
        <p:spPr>
          <a:xfrm>
            <a:off x="2367229"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#E7FFF2</a:t>
            </a:r>
            <a:endParaRPr lang="en-US" sz="800" dirty="0"/>
          </a:p>
          <a:p>
            <a:pPr indent="0" marL="0">
              <a:lnSpc>
                <a:spcPct val="125000"/>
              </a:lnSpc>
              <a:buNone/>
            </a:pPr>
            <a:r>
              <a:rPr lang="en-US" sz="800" dirty="0">
                <a:solidFill>
                  <a:srgbClr val="111418"/>
                </a:solidFill>
              </a:rPr>
              <a:t>RGB  231 · 255 · 242</a:t>
            </a:r>
            <a:endParaRPr lang="en-US" sz="800" dirty="0"/>
          </a:p>
          <a:p>
            <a:pPr indent="0" marL="0">
              <a:lnSpc>
                <a:spcPct val="125000"/>
              </a:lnSpc>
              <a:buNone/>
            </a:pPr>
            <a:r>
              <a:rPr lang="en-US" sz="800" dirty="0">
                <a:solidFill>
                  <a:srgbClr val="111418"/>
                </a:solidFill>
              </a:rPr>
              <a:t>CMYK  9 · 0 · 5 · 0</a:t>
            </a:r>
            <a:endParaRPr lang="en-US" sz="800" dirty="0"/>
          </a:p>
          <a:p>
            <a:pPr indent="0" marL="0">
              <a:lnSpc>
                <a:spcPct val="125000"/>
              </a:lnSpc>
              <a:buNone/>
            </a:pPr>
            <a:r>
              <a:rPr lang="en-US" sz="800" dirty="0">
                <a:solidFill>
                  <a:srgbClr val="111418"/>
                </a:solidFill>
              </a:rPr>
              <a:t>HSL  148° · 100 % · 95 %</a:t>
            </a:r>
            <a:endParaRPr lang="en-US" sz="800" dirty="0"/>
          </a:p>
        </p:txBody>
      </p:sp>
      <p:sp>
        <p:nvSpPr>
          <p:cNvPr id="13" name="Muster Signal Green"/>
          <p:cNvSpPr/>
          <p:nvPr/>
        </p:nvSpPr>
        <p:spPr>
          <a:xfrm>
            <a:off x="4185818" y="2514600"/>
            <a:ext cx="1635709" cy="685800"/>
          </a:xfrm>
          <a:prstGeom prst="rect">
            <a:avLst/>
          </a:prstGeom>
          <a:solidFill>
            <a:srgbClr val="25C77A"/>
          </a:solidFill>
          <a:ln w="6350">
            <a:solidFill>
              <a:srgbClr val="91A19B"/>
            </a:solidFill>
            <a:prstDash val="solid"/>
          </a:ln>
        </p:spPr>
      </p:sp>
      <p:sp>
        <p:nvSpPr>
          <p:cNvPr id="14" name="Farbname Signal Green"/>
          <p:cNvSpPr txBox="1"/>
          <p:nvPr/>
        </p:nvSpPr>
        <p:spPr>
          <a:xfrm>
            <a:off x="4185818"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Signal Green</a:t>
            </a:r>
            <a:endParaRPr lang="en-US" sz="1200" dirty="0"/>
          </a:p>
        </p:txBody>
      </p:sp>
      <p:sp>
        <p:nvSpPr>
          <p:cNvPr id="15" name="Rolle Signal Green"/>
          <p:cNvSpPr txBox="1"/>
          <p:nvPr/>
        </p:nvSpPr>
        <p:spPr>
          <a:xfrm>
            <a:off x="4185818"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ONE ACCENT PER SLIDE</a:t>
            </a:r>
            <a:endParaRPr lang="en-US" sz="750" dirty="0"/>
          </a:p>
        </p:txBody>
      </p:sp>
      <p:sp>
        <p:nvSpPr>
          <p:cNvPr id="16" name="Farbwerte Signal Green"/>
          <p:cNvSpPr txBox="1"/>
          <p:nvPr/>
        </p:nvSpPr>
        <p:spPr>
          <a:xfrm>
            <a:off x="4185818"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#25C77A</a:t>
            </a:r>
            <a:endParaRPr lang="en-US" sz="800" dirty="0"/>
          </a:p>
          <a:p>
            <a:pPr indent="0" marL="0">
              <a:lnSpc>
                <a:spcPct val="125000"/>
              </a:lnSpc>
              <a:buNone/>
            </a:pPr>
            <a:r>
              <a:rPr lang="en-US" sz="800" dirty="0">
                <a:solidFill>
                  <a:srgbClr val="111418"/>
                </a:solidFill>
              </a:rPr>
              <a:t>RGB  37 · 199 · 122</a:t>
            </a:r>
            <a:endParaRPr lang="en-US" sz="800" dirty="0"/>
          </a:p>
          <a:p>
            <a:pPr indent="0" marL="0">
              <a:lnSpc>
                <a:spcPct val="125000"/>
              </a:lnSpc>
              <a:buNone/>
            </a:pPr>
            <a:r>
              <a:rPr lang="en-US" sz="800" dirty="0">
                <a:solidFill>
                  <a:srgbClr val="111418"/>
                </a:solidFill>
              </a:rPr>
              <a:t>CMYK  81 · 0 · 39 · 22</a:t>
            </a:r>
            <a:endParaRPr lang="en-US" sz="800" dirty="0"/>
          </a:p>
          <a:p>
            <a:pPr indent="0" marL="0">
              <a:lnSpc>
                <a:spcPct val="125000"/>
              </a:lnSpc>
              <a:buNone/>
            </a:pPr>
            <a:r>
              <a:rPr lang="en-US" sz="800" dirty="0">
                <a:solidFill>
                  <a:srgbClr val="111418"/>
                </a:solidFill>
              </a:rPr>
              <a:t>HSL  151° · 69 % · 46 %</a:t>
            </a:r>
            <a:endParaRPr lang="en-US" sz="800" dirty="0"/>
          </a:p>
        </p:txBody>
      </p:sp>
      <p:sp>
        <p:nvSpPr>
          <p:cNvPr id="17" name="Muster Fresh Mint"/>
          <p:cNvSpPr/>
          <p:nvPr/>
        </p:nvSpPr>
        <p:spPr>
          <a:xfrm>
            <a:off x="6004408" y="2514600"/>
            <a:ext cx="1635709" cy="685800"/>
          </a:xfrm>
          <a:prstGeom prst="rect">
            <a:avLst/>
          </a:prstGeom>
          <a:solidFill>
            <a:srgbClr val="B7F3D0"/>
          </a:solidFill>
          <a:ln w="6350">
            <a:solidFill>
              <a:srgbClr val="91A19B"/>
            </a:solidFill>
            <a:prstDash val="solid"/>
          </a:ln>
        </p:spPr>
      </p:sp>
      <p:sp>
        <p:nvSpPr>
          <p:cNvPr id="18" name="Farbname Fresh Mint"/>
          <p:cNvSpPr txBox="1"/>
          <p:nvPr/>
        </p:nvSpPr>
        <p:spPr>
          <a:xfrm>
            <a:off x="6004408"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Fresh Mint</a:t>
            </a:r>
            <a:endParaRPr lang="en-US" sz="1200" dirty="0"/>
          </a:p>
        </p:txBody>
      </p:sp>
      <p:sp>
        <p:nvSpPr>
          <p:cNvPr id="19" name="Rolle Fresh Mint"/>
          <p:cNvSpPr txBox="1"/>
          <p:nvPr/>
        </p:nvSpPr>
        <p:spPr>
          <a:xfrm>
            <a:off x="6004408"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SECOND HIGHLIGHT  ·  LINKS</a:t>
            </a:r>
            <a:endParaRPr lang="en-US" sz="750" dirty="0"/>
          </a:p>
        </p:txBody>
      </p:sp>
      <p:sp>
        <p:nvSpPr>
          <p:cNvPr id="20" name="Farbwerte Fresh Mint"/>
          <p:cNvSpPr txBox="1"/>
          <p:nvPr/>
        </p:nvSpPr>
        <p:spPr>
          <a:xfrm>
            <a:off x="6004408"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#B7F3D0</a:t>
            </a:r>
            <a:endParaRPr lang="en-US" sz="800" dirty="0"/>
          </a:p>
          <a:p>
            <a:pPr indent="0" marL="0">
              <a:lnSpc>
                <a:spcPct val="125000"/>
              </a:lnSpc>
              <a:buNone/>
            </a:pPr>
            <a:r>
              <a:rPr lang="en-US" sz="800" dirty="0">
                <a:solidFill>
                  <a:srgbClr val="111418"/>
                </a:solidFill>
              </a:rPr>
              <a:t>RGB  183 · 243 · 208</a:t>
            </a:r>
            <a:endParaRPr lang="en-US" sz="800" dirty="0"/>
          </a:p>
          <a:p>
            <a:pPr indent="0" marL="0">
              <a:lnSpc>
                <a:spcPct val="125000"/>
              </a:lnSpc>
              <a:buNone/>
            </a:pPr>
            <a:r>
              <a:rPr lang="en-US" sz="800" dirty="0">
                <a:solidFill>
                  <a:srgbClr val="111418"/>
                </a:solidFill>
              </a:rPr>
              <a:t>CMYK  25 · 0 · 14 · 5</a:t>
            </a:r>
            <a:endParaRPr lang="en-US" sz="800" dirty="0"/>
          </a:p>
          <a:p>
            <a:pPr indent="0" marL="0">
              <a:lnSpc>
                <a:spcPct val="125000"/>
              </a:lnSpc>
              <a:buNone/>
            </a:pPr>
            <a:r>
              <a:rPr lang="en-US" sz="800" dirty="0">
                <a:solidFill>
                  <a:srgbClr val="111418"/>
                </a:solidFill>
              </a:rPr>
              <a:t>HSL  145° · 71 % · 84 %</a:t>
            </a:r>
            <a:endParaRPr lang="en-US" sz="800" dirty="0"/>
          </a:p>
        </p:txBody>
      </p:sp>
      <p:sp>
        <p:nvSpPr>
          <p:cNvPr id="21" name="Muster Steel Gray"/>
          <p:cNvSpPr/>
          <p:nvPr/>
        </p:nvSpPr>
        <p:spPr>
          <a:xfrm>
            <a:off x="7822997" y="2514600"/>
            <a:ext cx="1635709" cy="685800"/>
          </a:xfrm>
          <a:prstGeom prst="rect">
            <a:avLst/>
          </a:prstGeom>
          <a:solidFill>
            <a:srgbClr val="707981"/>
          </a:solidFill>
          <a:ln w="6350">
            <a:solidFill>
              <a:srgbClr val="91A19B"/>
            </a:solidFill>
            <a:prstDash val="solid"/>
          </a:ln>
        </p:spPr>
      </p:sp>
      <p:sp>
        <p:nvSpPr>
          <p:cNvPr id="22" name="Farbname Steel Gray"/>
          <p:cNvSpPr txBox="1"/>
          <p:nvPr/>
        </p:nvSpPr>
        <p:spPr>
          <a:xfrm>
            <a:off x="7822997"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Steel Gray</a:t>
            </a:r>
            <a:endParaRPr lang="en-US" sz="1200" dirty="0"/>
          </a:p>
        </p:txBody>
      </p:sp>
      <p:sp>
        <p:nvSpPr>
          <p:cNvPr id="23" name="Rolle Steel Gray"/>
          <p:cNvSpPr txBox="1"/>
          <p:nvPr/>
        </p:nvSpPr>
        <p:spPr>
          <a:xfrm>
            <a:off x="7822997"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SECONDARY TEXT  ·  LABELS  ·  INACTIVE</a:t>
            </a:r>
            <a:endParaRPr lang="en-US" sz="750" dirty="0"/>
          </a:p>
        </p:txBody>
      </p:sp>
      <p:sp>
        <p:nvSpPr>
          <p:cNvPr id="24" name="Farbwerte Steel Gray"/>
          <p:cNvSpPr txBox="1"/>
          <p:nvPr/>
        </p:nvSpPr>
        <p:spPr>
          <a:xfrm>
            <a:off x="7822997"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#707981</a:t>
            </a:r>
            <a:endParaRPr lang="en-US" sz="800" dirty="0"/>
          </a:p>
          <a:p>
            <a:pPr indent="0" marL="0">
              <a:lnSpc>
                <a:spcPct val="125000"/>
              </a:lnSpc>
              <a:buNone/>
            </a:pPr>
            <a:r>
              <a:rPr lang="en-US" sz="800" dirty="0">
                <a:solidFill>
                  <a:srgbClr val="111418"/>
                </a:solidFill>
              </a:rPr>
              <a:t>RGB  112 · 121 · 129</a:t>
            </a:r>
            <a:endParaRPr lang="en-US" sz="800" dirty="0"/>
          </a:p>
          <a:p>
            <a:pPr indent="0" marL="0">
              <a:lnSpc>
                <a:spcPct val="125000"/>
              </a:lnSpc>
              <a:buNone/>
            </a:pPr>
            <a:r>
              <a:rPr lang="en-US" sz="800" dirty="0">
                <a:solidFill>
                  <a:srgbClr val="111418"/>
                </a:solidFill>
              </a:rPr>
              <a:t>CMYK  13 · 6 · 0 · 49</a:t>
            </a:r>
            <a:endParaRPr lang="en-US" sz="800" dirty="0"/>
          </a:p>
          <a:p>
            <a:pPr indent="0" marL="0">
              <a:lnSpc>
                <a:spcPct val="125000"/>
              </a:lnSpc>
              <a:buNone/>
            </a:pPr>
            <a:r>
              <a:rPr lang="en-US" sz="800" dirty="0">
                <a:solidFill>
                  <a:srgbClr val="111418"/>
                </a:solidFill>
              </a:rPr>
              <a:t>HSL  208° · 7 % · 47 %</a:t>
            </a:r>
            <a:endParaRPr lang="en-US" sz="800" dirty="0"/>
          </a:p>
        </p:txBody>
      </p:sp>
      <p:sp>
        <p:nvSpPr>
          <p:cNvPr id="25" name="Muster Light Gray"/>
          <p:cNvSpPr/>
          <p:nvPr/>
        </p:nvSpPr>
        <p:spPr>
          <a:xfrm>
            <a:off x="9641586" y="2514600"/>
            <a:ext cx="1635709" cy="685800"/>
          </a:xfrm>
          <a:prstGeom prst="rect">
            <a:avLst/>
          </a:prstGeom>
          <a:solidFill>
            <a:srgbClr val="C4C8CC"/>
          </a:solidFill>
          <a:ln w="6350">
            <a:solidFill>
              <a:srgbClr val="91A19B"/>
            </a:solidFill>
            <a:prstDash val="solid"/>
          </a:ln>
        </p:spPr>
      </p:sp>
      <p:sp>
        <p:nvSpPr>
          <p:cNvPr id="26" name="Farbname Light Gray"/>
          <p:cNvSpPr txBox="1"/>
          <p:nvPr/>
        </p:nvSpPr>
        <p:spPr>
          <a:xfrm>
            <a:off x="9641586"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Light Gray</a:t>
            </a:r>
            <a:endParaRPr lang="en-US" sz="1200" dirty="0"/>
          </a:p>
        </p:txBody>
      </p:sp>
      <p:sp>
        <p:nvSpPr>
          <p:cNvPr id="27" name="Rolle Light Gray"/>
          <p:cNvSpPr txBox="1"/>
          <p:nvPr/>
        </p:nvSpPr>
        <p:spPr>
          <a:xfrm>
            <a:off x="9641586"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PLACEHOLDERS  ·  AS-IS VALUES</a:t>
            </a:r>
            <a:endParaRPr lang="en-US" sz="750" dirty="0"/>
          </a:p>
        </p:txBody>
      </p:sp>
      <p:sp>
        <p:nvSpPr>
          <p:cNvPr id="28" name="Farbwerte Light Gray"/>
          <p:cNvSpPr txBox="1"/>
          <p:nvPr/>
        </p:nvSpPr>
        <p:spPr>
          <a:xfrm>
            <a:off x="9641586"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#C4C8CC</a:t>
            </a:r>
            <a:endParaRPr lang="en-US" sz="800" dirty="0"/>
          </a:p>
          <a:p>
            <a:pPr indent="0" marL="0">
              <a:lnSpc>
                <a:spcPct val="125000"/>
              </a:lnSpc>
              <a:buNone/>
            </a:pPr>
            <a:r>
              <a:rPr lang="en-US" sz="800" dirty="0">
                <a:solidFill>
                  <a:srgbClr val="111418"/>
                </a:solidFill>
              </a:rPr>
              <a:t>RGB  196 · 200 · 204</a:t>
            </a:r>
            <a:endParaRPr lang="en-US" sz="800" dirty="0"/>
          </a:p>
          <a:p>
            <a:pPr indent="0" marL="0">
              <a:lnSpc>
                <a:spcPct val="125000"/>
              </a:lnSpc>
              <a:buNone/>
            </a:pPr>
            <a:r>
              <a:rPr lang="en-US" sz="800" dirty="0">
                <a:solidFill>
                  <a:srgbClr val="111418"/>
                </a:solidFill>
              </a:rPr>
              <a:t>CMYK  4 · 2 · 0 · 20</a:t>
            </a:r>
            <a:endParaRPr lang="en-US" sz="800" dirty="0"/>
          </a:p>
          <a:p>
            <a:pPr indent="0" marL="0">
              <a:lnSpc>
                <a:spcPct val="125000"/>
              </a:lnSpc>
              <a:buNone/>
            </a:pPr>
            <a:r>
              <a:rPr lang="en-US" sz="800" dirty="0">
                <a:solidFill>
                  <a:srgbClr val="111418"/>
                </a:solidFill>
              </a:rPr>
              <a:t>HSL  210° · 7 % · 78 %</a:t>
            </a:r>
            <a:endParaRPr lang="en-US" sz="800" dirty="0"/>
          </a:p>
        </p:txBody>
      </p:sp>
      <p:sp>
        <p:nvSpPr>
          <p:cNvPr id="29" name="Linie Status"/>
          <p:cNvSpPr/>
          <p:nvPr/>
        </p:nvSpPr>
        <p:spPr>
          <a:xfrm>
            <a:off x="548640" y="4754880"/>
            <a:ext cx="10728655" cy="0"/>
          </a:xfrm>
          <a:prstGeom prst="line">
            <a:avLst/>
          </a:prstGeom>
          <a:noFill/>
          <a:ln w="6350">
            <a:solidFill>
              <a:srgbClr val="91A19B"/>
            </a:solidFill>
            <a:prstDash val="solid"/>
          </a:ln>
        </p:spPr>
      </p:sp>
      <p:sp>
        <p:nvSpPr>
          <p:cNvPr id="30" name="Eyebrow GROUND COLOURS"/>
          <p:cNvSpPr txBox="1"/>
          <p:nvPr/>
        </p:nvSpPr>
        <p:spPr>
          <a:xfrm>
            <a:off x="548640" y="4846320"/>
            <a:ext cx="4572000" cy="256032"/>
          </a:xfrm>
          <a:prstGeom prst="rect">
            <a:avLst/>
          </a:prstGeom>
          <a:noFill/>
          <a:ln/>
        </p:spPr>
        <p:txBody>
          <a:bodyPr wrap="square" lIns="0" tIns="0" rIns="0" bIns="0" rtlCol="0" anchor="ctr"/>
          <a:lstStyle/>
          <a:p>
            <a:pPr indent="0" marL="0">
              <a:buNone/>
            </a:pPr>
            <a:r>
              <a:rPr lang="en-US" sz="1000" spc="-30" kern="0" dirty="0">
                <a:solidFill>
                  <a:srgbClr val="707981"/>
                </a:solidFill>
              </a:rPr>
              <a:t>GROUND COLOURS</a:t>
            </a:r>
            <a:endParaRPr lang="en-US" sz="1000" dirty="0"/>
          </a:p>
        </p:txBody>
      </p:sp>
      <p:sp>
        <p:nvSpPr>
          <p:cNvPr id="31" name="Grund White"/>
          <p:cNvSpPr/>
          <p:nvPr/>
        </p:nvSpPr>
        <p:spPr>
          <a:xfrm>
            <a:off x="548640" y="5166360"/>
            <a:ext cx="502920" cy="502920"/>
          </a:xfrm>
          <a:prstGeom prst="rect">
            <a:avLst/>
          </a:prstGeom>
          <a:solidFill>
            <a:srgbClr val="FFFFFF"/>
          </a:solidFill>
          <a:ln w="6350">
            <a:solidFill>
              <a:srgbClr val="91A19B"/>
            </a:solidFill>
            <a:prstDash val="solid"/>
          </a:ln>
        </p:spPr>
      </p:sp>
      <p:sp>
        <p:nvSpPr>
          <p:cNvPr id="32" name="Grund Text White"/>
          <p:cNvSpPr txBox="1"/>
          <p:nvPr/>
        </p:nvSpPr>
        <p:spPr>
          <a:xfrm>
            <a:off x="11430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White</a:t>
            </a:r>
            <a:endParaRPr lang="en-US" sz="1000" dirty="0"/>
          </a:p>
          <a:p>
            <a:pPr indent="0" marL="0">
              <a:lnSpc>
                <a:spcPct val="115000"/>
              </a:lnSpc>
              <a:buNone/>
            </a:pPr>
            <a:r>
              <a:rPr lang="en-US" sz="750" dirty="0">
                <a:solidFill>
                  <a:srgbClr val="707981"/>
                </a:solidFill>
              </a:rPr>
              <a:t>Documents, print, dense content</a:t>
            </a:r>
            <a:endParaRPr lang="en-US" sz="1000" dirty="0"/>
          </a:p>
        </p:txBody>
      </p:sp>
      <p:sp>
        <p:nvSpPr>
          <p:cNvPr id="33" name="Grund Mint"/>
          <p:cNvSpPr/>
          <p:nvPr/>
        </p:nvSpPr>
        <p:spPr>
          <a:xfrm>
            <a:off x="2377440" y="5166360"/>
            <a:ext cx="502920" cy="502920"/>
          </a:xfrm>
          <a:prstGeom prst="rect">
            <a:avLst/>
          </a:prstGeom>
          <a:solidFill>
            <a:srgbClr val="E7FFF2"/>
          </a:solidFill>
          <a:ln w="6350">
            <a:solidFill>
              <a:srgbClr val="91A19B"/>
            </a:solidFill>
            <a:prstDash val="solid"/>
          </a:ln>
        </p:spPr>
      </p:sp>
      <p:sp>
        <p:nvSpPr>
          <p:cNvPr id="34" name="Grund Text Mint"/>
          <p:cNvSpPr txBox="1"/>
          <p:nvPr/>
        </p:nvSpPr>
        <p:spPr>
          <a:xfrm>
            <a:off x="29718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Mint</a:t>
            </a:r>
            <a:endParaRPr lang="en-US" sz="1000" dirty="0"/>
          </a:p>
          <a:p>
            <a:pPr indent="0" marL="0">
              <a:lnSpc>
                <a:spcPct val="115000"/>
              </a:lnSpc>
              <a:buNone/>
            </a:pPr>
            <a:r>
              <a:rPr lang="en-US" sz="750" dirty="0">
                <a:solidFill>
                  <a:srgbClr val="707981"/>
                </a:solidFill>
              </a:rPr>
              <a:t>Presentation on screen</a:t>
            </a:r>
            <a:endParaRPr lang="en-US" sz="1000" dirty="0"/>
          </a:p>
        </p:txBody>
      </p:sp>
      <p:sp>
        <p:nvSpPr>
          <p:cNvPr id="35" name="Grund Dark"/>
          <p:cNvSpPr/>
          <p:nvPr/>
        </p:nvSpPr>
        <p:spPr>
          <a:xfrm>
            <a:off x="4206240" y="5166360"/>
            <a:ext cx="502920" cy="502920"/>
          </a:xfrm>
          <a:prstGeom prst="rect">
            <a:avLst/>
          </a:prstGeom>
          <a:solidFill>
            <a:srgbClr val="111418"/>
          </a:solidFill>
          <a:ln w="6350">
            <a:solidFill>
              <a:srgbClr val="91A19B"/>
            </a:solidFill>
            <a:prstDash val="solid"/>
          </a:ln>
        </p:spPr>
      </p:sp>
      <p:sp>
        <p:nvSpPr>
          <p:cNvPr id="36" name="Grund Text Dark"/>
          <p:cNvSpPr txBox="1"/>
          <p:nvPr/>
        </p:nvSpPr>
        <p:spPr>
          <a:xfrm>
            <a:off x="48006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Dark</a:t>
            </a:r>
            <a:endParaRPr lang="en-US" sz="1000" dirty="0"/>
          </a:p>
          <a:p>
            <a:pPr indent="0" marL="0">
              <a:lnSpc>
                <a:spcPct val="115000"/>
              </a:lnSpc>
              <a:buNone/>
            </a:pPr>
            <a:r>
              <a:rPr lang="en-US" sz="750" dirty="0">
                <a:solidFill>
                  <a:srgbClr val="707981"/>
                </a:solidFill>
              </a:rPr>
              <a:t>Title, chapter, quote, closing</a:t>
            </a:r>
            <a:endParaRPr lang="en-US" sz="1000" dirty="0"/>
          </a:p>
        </p:txBody>
      </p:sp>
      <p:sp>
        <p:nvSpPr>
          <p:cNvPr id="37" name="Eyebrow STATUS COLOURS (LABELS ONLY)"/>
          <p:cNvSpPr txBox="1"/>
          <p:nvPr/>
        </p:nvSpPr>
        <p:spPr>
          <a:xfrm>
            <a:off x="6126480" y="4846320"/>
            <a:ext cx="4572000" cy="256032"/>
          </a:xfrm>
          <a:prstGeom prst="rect">
            <a:avLst/>
          </a:prstGeom>
          <a:noFill/>
          <a:ln/>
        </p:spPr>
        <p:txBody>
          <a:bodyPr wrap="square" lIns="0" tIns="0" rIns="0" bIns="0" rtlCol="0" anchor="ctr"/>
          <a:lstStyle/>
          <a:p>
            <a:pPr indent="0" marL="0">
              <a:buNone/>
            </a:pPr>
            <a:r>
              <a:rPr lang="en-US" sz="1000" spc="-30" kern="0" dirty="0">
                <a:solidFill>
                  <a:srgbClr val="707981"/>
                </a:solidFill>
              </a:rPr>
              <a:t>STATUS COLOURS (LABELS ONLY)</a:t>
            </a:r>
            <a:endParaRPr lang="en-US" sz="1000" dirty="0"/>
          </a:p>
        </p:txBody>
      </p:sp>
      <p:sp>
        <p:nvSpPr>
          <p:cNvPr id="38" name="Status Red"/>
          <p:cNvSpPr/>
          <p:nvPr/>
        </p:nvSpPr>
        <p:spPr>
          <a:xfrm>
            <a:off x="6126480" y="5166360"/>
            <a:ext cx="502920" cy="502920"/>
          </a:xfrm>
          <a:prstGeom prst="rect">
            <a:avLst/>
          </a:prstGeom>
          <a:solidFill>
            <a:srgbClr val="B8463A"/>
          </a:solidFill>
          <a:ln w="6350">
            <a:solidFill>
              <a:srgbClr val="91A19B"/>
            </a:solidFill>
            <a:prstDash val="solid"/>
          </a:ln>
        </p:spPr>
      </p:sp>
      <p:sp>
        <p:nvSpPr>
          <p:cNvPr id="39" name="Status Text Red"/>
          <p:cNvSpPr txBox="1"/>
          <p:nvPr/>
        </p:nvSpPr>
        <p:spPr>
          <a:xfrm>
            <a:off x="6720840"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Red</a:t>
            </a:r>
            <a:endParaRPr lang="en-US" sz="1000" dirty="0"/>
          </a:p>
          <a:p>
            <a:pPr indent="0" marL="0">
              <a:lnSpc>
                <a:spcPct val="115000"/>
              </a:lnSpc>
              <a:buNone/>
            </a:pPr>
            <a:r>
              <a:rPr lang="en-US" sz="750" dirty="0">
                <a:solidFill>
                  <a:srgbClr val="707981"/>
                </a:solidFill>
              </a:rPr>
              <a:t>Attention, prohibition, confidential</a:t>
            </a:r>
            <a:endParaRPr lang="en-US" sz="1000" dirty="0"/>
          </a:p>
          <a:p>
            <a:pPr indent="0" marL="0">
              <a:lnSpc>
                <a:spcPct val="115000"/>
              </a:lnSpc>
              <a:buNone/>
            </a:pPr>
            <a:r>
              <a:rPr lang="en-US" sz="700" dirty="0">
                <a:solidFill>
                  <a:srgbClr val="707981"/>
                </a:solidFill>
              </a:rPr>
              <a:t>#B8463A · 184 · 70 · 58</a:t>
            </a:r>
            <a:endParaRPr lang="en-US" sz="1000" dirty="0"/>
          </a:p>
        </p:txBody>
      </p:sp>
      <p:sp>
        <p:nvSpPr>
          <p:cNvPr id="40" name="Status Amber"/>
          <p:cNvSpPr/>
          <p:nvPr/>
        </p:nvSpPr>
        <p:spPr>
          <a:xfrm>
            <a:off x="7845552" y="5166360"/>
            <a:ext cx="502920" cy="502920"/>
          </a:xfrm>
          <a:prstGeom prst="rect">
            <a:avLst/>
          </a:prstGeom>
          <a:solidFill>
            <a:srgbClr val="E2A33D"/>
          </a:solidFill>
          <a:ln w="6350">
            <a:solidFill>
              <a:srgbClr val="91A19B"/>
            </a:solidFill>
            <a:prstDash val="solid"/>
          </a:ln>
        </p:spPr>
      </p:sp>
      <p:sp>
        <p:nvSpPr>
          <p:cNvPr id="41" name="Status Text Amber"/>
          <p:cNvSpPr txBox="1"/>
          <p:nvPr/>
        </p:nvSpPr>
        <p:spPr>
          <a:xfrm>
            <a:off x="8439912"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Amber</a:t>
            </a:r>
            <a:endParaRPr lang="en-US" sz="1000" dirty="0"/>
          </a:p>
          <a:p>
            <a:pPr indent="0" marL="0">
              <a:lnSpc>
                <a:spcPct val="115000"/>
              </a:lnSpc>
              <a:buNone/>
            </a:pPr>
            <a:r>
              <a:rPr lang="en-US" sz="750" dirty="0">
                <a:solidFill>
                  <a:srgbClr val="707981"/>
                </a:solidFill>
              </a:rPr>
              <a:t>Under review, preliminary</a:t>
            </a:r>
            <a:endParaRPr lang="en-US" sz="1000" dirty="0"/>
          </a:p>
          <a:p>
            <a:pPr indent="0" marL="0">
              <a:lnSpc>
                <a:spcPct val="115000"/>
              </a:lnSpc>
              <a:buNone/>
            </a:pPr>
            <a:r>
              <a:rPr lang="en-US" sz="700" dirty="0">
                <a:solidFill>
                  <a:srgbClr val="707981"/>
                </a:solidFill>
              </a:rPr>
              <a:t>#E2A33D · 226 · 163 · 61</a:t>
            </a:r>
            <a:endParaRPr lang="en-US" sz="1000" dirty="0"/>
          </a:p>
        </p:txBody>
      </p:sp>
      <p:sp>
        <p:nvSpPr>
          <p:cNvPr id="42" name="Status Green"/>
          <p:cNvSpPr/>
          <p:nvPr/>
        </p:nvSpPr>
        <p:spPr>
          <a:xfrm>
            <a:off x="9564624" y="5166360"/>
            <a:ext cx="502920" cy="502920"/>
          </a:xfrm>
          <a:prstGeom prst="rect">
            <a:avLst/>
          </a:prstGeom>
          <a:solidFill>
            <a:srgbClr val="B7F3D0"/>
          </a:solidFill>
          <a:ln w="6350">
            <a:solidFill>
              <a:srgbClr val="91A19B"/>
            </a:solidFill>
            <a:prstDash val="solid"/>
          </a:ln>
        </p:spPr>
      </p:sp>
      <p:sp>
        <p:nvSpPr>
          <p:cNvPr id="43" name="Status Text Green"/>
          <p:cNvSpPr txBox="1"/>
          <p:nvPr/>
        </p:nvSpPr>
        <p:spPr>
          <a:xfrm>
            <a:off x="10158984"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Green</a:t>
            </a:r>
            <a:endParaRPr lang="en-US" sz="1000" dirty="0"/>
          </a:p>
          <a:p>
            <a:pPr indent="0" marL="0">
              <a:lnSpc>
                <a:spcPct val="115000"/>
              </a:lnSpc>
              <a:buNone/>
            </a:pPr>
            <a:r>
              <a:rPr lang="en-US" sz="750" dirty="0">
                <a:solidFill>
                  <a:srgbClr val="707981"/>
                </a:solidFill>
              </a:rPr>
              <a:t>Released (Fresh Mint)</a:t>
            </a:r>
            <a:endParaRPr lang="en-US" sz="1000" dirty="0"/>
          </a:p>
          <a:p>
            <a:pPr indent="0" marL="0">
              <a:lnSpc>
                <a:spcPct val="115000"/>
              </a:lnSpc>
              <a:buNone/>
            </a:pPr>
            <a:r>
              <a:rPr lang="en-US" sz="700" dirty="0">
                <a:solidFill>
                  <a:srgbClr val="707981"/>
                </a:solidFill>
              </a:rPr>
              <a:t>#B7F3D0 · 183 · 243 · 208</a:t>
            </a:r>
            <a:endParaRPr lang="en-US" sz="1000" dirty="0"/>
          </a:p>
        </p:txBody>
      </p:sp>
      <p:sp>
        <p:nvSpPr>
          <p:cNvPr id="44"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24</a:t>
            </a:fld>
            <a:endParaRPr lang="en-US"/>
          </a:p>
        </p:txBody>
      </p:sp>
      <p:sp>
        <p:nvSpPr>
          <p:cNvPr id="45"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TEMPLATE  ·  COLOURS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Which colour when</a:t>
            </a:r>
            <a:endParaRPr lang="en-US" sz="3400" dirty="0"/>
          </a:p>
        </p:txBody>
      </p:sp>
      <p:sp>
        <p:nvSpPr>
          <p:cNvPr id="5" name="Regel Ground"/>
          <p:cNvSpPr txBox="1"/>
          <p:nvPr/>
        </p:nvSpPr>
        <p:spPr>
          <a:xfrm>
            <a:off x="548640" y="2560320"/>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Ground</a:t>
            </a:r>
            <a:endParaRPr lang="en-US" sz="1200" dirty="0"/>
          </a:p>
          <a:p>
            <a:pPr indent="0" marL="0">
              <a:lnSpc>
                <a:spcPct val="120000"/>
              </a:lnSpc>
              <a:buNone/>
            </a:pPr>
            <a:r>
              <a:rPr lang="en-US" sz="1000" dirty="0">
                <a:solidFill>
                  <a:srgbClr val="707981"/>
                </a:solidFill>
              </a:rPr>
              <a:t>One ground colour per slide. White for documents to read and print, Mint for presentations on screen, Dark for title, chapter, quote and closing. Do not switch between White and Mint within one presentation.</a:t>
            </a:r>
            <a:endParaRPr lang="en-US" sz="1200" dirty="0"/>
          </a:p>
        </p:txBody>
      </p:sp>
      <p:sp>
        <p:nvSpPr>
          <p:cNvPr id="6" name="Linie Regel 1"/>
          <p:cNvSpPr/>
          <p:nvPr/>
        </p:nvSpPr>
        <p:spPr>
          <a:xfrm>
            <a:off x="548640" y="3456432"/>
            <a:ext cx="5135728" cy="0"/>
          </a:xfrm>
          <a:prstGeom prst="line">
            <a:avLst/>
          </a:prstGeom>
          <a:noFill/>
          <a:ln w="6350">
            <a:solidFill>
              <a:srgbClr val="A0A1A3"/>
            </a:solidFill>
            <a:prstDash val="solid"/>
          </a:ln>
        </p:spPr>
      </p:sp>
      <p:sp>
        <p:nvSpPr>
          <p:cNvPr id="7" name="Regel Proportions"/>
          <p:cNvSpPr txBox="1"/>
          <p:nvPr/>
        </p:nvSpPr>
        <p:spPr>
          <a:xfrm>
            <a:off x="6141568" y="2560320"/>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Proportions</a:t>
            </a:r>
            <a:endParaRPr lang="en-US" sz="1200" dirty="0"/>
          </a:p>
          <a:p>
            <a:pPr indent="0" marL="0">
              <a:lnSpc>
                <a:spcPct val="120000"/>
              </a:lnSpc>
              <a:buNone/>
            </a:pPr>
            <a:r>
              <a:rPr lang="en-US" sz="1000" dirty="0">
                <a:solidFill>
                  <a:srgbClr val="707981"/>
                </a:solidFill>
              </a:rPr>
              <a:t>Ground colour about 70%, text and grey 25%, Signal Green at most 5%.</a:t>
            </a:r>
            <a:endParaRPr lang="en-US" sz="1200" dirty="0"/>
          </a:p>
        </p:txBody>
      </p:sp>
      <p:sp>
        <p:nvSpPr>
          <p:cNvPr id="8" name="Linie Regel 2"/>
          <p:cNvSpPr/>
          <p:nvPr/>
        </p:nvSpPr>
        <p:spPr>
          <a:xfrm>
            <a:off x="6141568" y="3456432"/>
            <a:ext cx="5135728" cy="0"/>
          </a:xfrm>
          <a:prstGeom prst="line">
            <a:avLst/>
          </a:prstGeom>
          <a:noFill/>
          <a:ln w="6350">
            <a:solidFill>
              <a:srgbClr val="A0A1A3"/>
            </a:solidFill>
            <a:prstDash val="solid"/>
          </a:ln>
        </p:spPr>
      </p:sp>
      <p:sp>
        <p:nvSpPr>
          <p:cNvPr id="9" name="Regel Signal Green"/>
          <p:cNvSpPr txBox="1"/>
          <p:nvPr/>
        </p:nvSpPr>
        <p:spPr>
          <a:xfrm>
            <a:off x="548640" y="3547872"/>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Signal Green</a:t>
            </a:r>
            <a:endParaRPr lang="en-US" sz="1200" dirty="0"/>
          </a:p>
          <a:p>
            <a:pPr indent="0" marL="0">
              <a:lnSpc>
                <a:spcPct val="120000"/>
              </a:lnSpc>
              <a:buNone/>
            </a:pPr>
            <a:r>
              <a:rPr lang="en-US" sz="1000" dirty="0">
                <a:solidFill>
                  <a:srgbClr val="707981"/>
                </a:solidFill>
              </a:rPr>
              <a:t>Accent only: active state, one key figure, today line, buttons, links, label "Recommended", series "New" in charts, IdeeRoth bars in the schedule. Never for body text, never as a surface behind text.</a:t>
            </a:r>
            <a:endParaRPr lang="en-US" sz="1200" dirty="0"/>
          </a:p>
        </p:txBody>
      </p:sp>
      <p:sp>
        <p:nvSpPr>
          <p:cNvPr id="10" name="Linie Regel 3"/>
          <p:cNvSpPr/>
          <p:nvPr/>
        </p:nvSpPr>
        <p:spPr>
          <a:xfrm>
            <a:off x="548640" y="4443984"/>
            <a:ext cx="5135728" cy="0"/>
          </a:xfrm>
          <a:prstGeom prst="line">
            <a:avLst/>
          </a:prstGeom>
          <a:noFill/>
          <a:ln w="6350">
            <a:solidFill>
              <a:srgbClr val="A0A1A3"/>
            </a:solidFill>
            <a:prstDash val="solid"/>
          </a:ln>
        </p:spPr>
      </p:sp>
      <p:sp>
        <p:nvSpPr>
          <p:cNvPr id="11" name="Regel Fresh Mint"/>
          <p:cNvSpPr txBox="1"/>
          <p:nvPr/>
        </p:nvSpPr>
        <p:spPr>
          <a:xfrm>
            <a:off x="6141568" y="3547872"/>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Fresh Mint</a:t>
            </a:r>
            <a:endParaRPr lang="en-US" sz="1200" dirty="0"/>
          </a:p>
          <a:p>
            <a:pPr indent="0" marL="0">
              <a:lnSpc>
                <a:spcPct val="120000"/>
              </a:lnSpc>
              <a:buNone/>
            </a:pPr>
            <a:r>
              <a:rPr lang="en-US" sz="1000" dirty="0">
                <a:solidFill>
                  <a:srgbClr val="707981"/>
                </a:solidFill>
              </a:rPr>
              <a:t>Surface behind a highlight, links and hover on Dark, light schedule bars, label "Released".</a:t>
            </a:r>
            <a:endParaRPr lang="en-US" sz="1200" dirty="0"/>
          </a:p>
        </p:txBody>
      </p:sp>
      <p:sp>
        <p:nvSpPr>
          <p:cNvPr id="12" name="Linie Regel 4"/>
          <p:cNvSpPr/>
          <p:nvPr/>
        </p:nvSpPr>
        <p:spPr>
          <a:xfrm>
            <a:off x="6141568" y="4443984"/>
            <a:ext cx="5135728" cy="0"/>
          </a:xfrm>
          <a:prstGeom prst="line">
            <a:avLst/>
          </a:prstGeom>
          <a:noFill/>
          <a:ln w="6350">
            <a:solidFill>
              <a:srgbClr val="A0A1A3"/>
            </a:solidFill>
            <a:prstDash val="solid"/>
          </a:ln>
        </p:spPr>
      </p:sp>
      <p:sp>
        <p:nvSpPr>
          <p:cNvPr id="13" name="Regel Lines"/>
          <p:cNvSpPr txBox="1"/>
          <p:nvPr/>
        </p:nvSpPr>
        <p:spPr>
          <a:xfrm>
            <a:off x="548640" y="4535424"/>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Lines</a:t>
            </a:r>
            <a:endParaRPr lang="en-US" sz="1200" dirty="0"/>
          </a:p>
          <a:p>
            <a:pPr indent="0" marL="0">
              <a:lnSpc>
                <a:spcPct val="120000"/>
              </a:lnSpc>
              <a:buNone/>
            </a:pPr>
            <a:r>
              <a:rPr lang="en-US" sz="1000" dirty="0">
                <a:solidFill>
                  <a:srgbClr val="707981"/>
                </a:solidFill>
              </a:rPr>
              <a:t>Text colour at 40% opacity: #A0A1A3 on White, #91A19B on Mint, #707274 (white) on Dark. 0.5 pt solid, like the line in the hero of the website.</a:t>
            </a:r>
            <a:endParaRPr lang="en-US" sz="1200" dirty="0"/>
          </a:p>
        </p:txBody>
      </p:sp>
      <p:sp>
        <p:nvSpPr>
          <p:cNvPr id="14" name="Linie Regel 5"/>
          <p:cNvSpPr/>
          <p:nvPr/>
        </p:nvSpPr>
        <p:spPr>
          <a:xfrm>
            <a:off x="548640" y="5431536"/>
            <a:ext cx="5135728" cy="0"/>
          </a:xfrm>
          <a:prstGeom prst="line">
            <a:avLst/>
          </a:prstGeom>
          <a:noFill/>
          <a:ln w="6350">
            <a:solidFill>
              <a:srgbClr val="A0A1A3"/>
            </a:solidFill>
            <a:prstDash val="solid"/>
          </a:ln>
        </p:spPr>
      </p:sp>
      <p:sp>
        <p:nvSpPr>
          <p:cNvPr id="15" name="Regel Traffic light"/>
          <p:cNvSpPr txBox="1"/>
          <p:nvPr/>
        </p:nvSpPr>
        <p:spPr>
          <a:xfrm>
            <a:off x="6141568" y="4535424"/>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Traffic light</a:t>
            </a:r>
            <a:endParaRPr lang="en-US" sz="1200" dirty="0"/>
          </a:p>
          <a:p>
            <a:pPr indent="0" marL="0">
              <a:lnSpc>
                <a:spcPct val="120000"/>
              </a:lnSpc>
              <a:buNone/>
            </a:pPr>
            <a:r>
              <a:rPr lang="en-US" sz="1000" dirty="0">
                <a:solidFill>
                  <a:srgbClr val="707981"/>
                </a:solidFill>
              </a:rPr>
              <a:t>Red, amber and green only for release labels: red = attention, prohibition, confidential; amber = under review, preliminary; green = released. Never for charts or text, otherwise the traffic light loses its meaning.</a:t>
            </a:r>
            <a:endParaRPr lang="en-US" sz="1200" dirty="0"/>
          </a:p>
        </p:txBody>
      </p:sp>
      <p:sp>
        <p:nvSpPr>
          <p:cNvPr id="16" name="Linie Regel 6"/>
          <p:cNvSpPr/>
          <p:nvPr/>
        </p:nvSpPr>
        <p:spPr>
          <a:xfrm>
            <a:off x="6141568" y="5431536"/>
            <a:ext cx="5135728" cy="0"/>
          </a:xfrm>
          <a:prstGeom prst="line">
            <a:avLst/>
          </a:prstGeom>
          <a:noFill/>
          <a:ln w="6350">
            <a:solidFill>
              <a:srgbClr val="A0A1A3"/>
            </a:solidFill>
            <a:prstDash val="solid"/>
          </a:ln>
        </p:spPr>
      </p:sp>
      <p:sp>
        <p:nvSpPr>
          <p:cNvPr id="17" name="Regel Print"/>
          <p:cNvSpPr txBox="1"/>
          <p:nvPr/>
        </p:nvSpPr>
        <p:spPr>
          <a:xfrm>
            <a:off x="548640" y="5522976"/>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Print</a:t>
            </a:r>
            <a:endParaRPr lang="en-US" sz="1200" dirty="0"/>
          </a:p>
          <a:p>
            <a:pPr indent="0" marL="0">
              <a:lnSpc>
                <a:spcPct val="120000"/>
              </a:lnSpc>
              <a:buNone/>
            </a:pPr>
            <a:r>
              <a:rPr lang="en-US" sz="1000" dirty="0">
                <a:solidFill>
                  <a:srgbClr val="707981"/>
                </a:solidFill>
              </a:rPr>
              <a:t>CMYK is the standard conversion without a colour profile. Signal Green lies outside the print gamut and will look duller; agree print values with the printer once.</a:t>
            </a:r>
            <a:endParaRPr lang="en-US" sz="1200" dirty="0"/>
          </a:p>
        </p:txBody>
      </p:sp>
      <p:sp>
        <p:nvSpPr>
          <p:cNvPr id="18" name="Regel PowerPoint"/>
          <p:cNvSpPr txBox="1"/>
          <p:nvPr/>
        </p:nvSpPr>
        <p:spPr>
          <a:xfrm>
            <a:off x="6141568" y="5522976"/>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PowerPoint</a:t>
            </a:r>
            <a:endParaRPr lang="en-US" sz="1200" dirty="0"/>
          </a:p>
          <a:p>
            <a:pPr indent="0" marL="0">
              <a:lnSpc>
                <a:spcPct val="120000"/>
              </a:lnSpc>
              <a:buNone/>
            </a:pPr>
            <a:r>
              <a:rPr lang="en-US" sz="1000" dirty="0">
                <a:solidFill>
                  <a:srgbClr val="707981"/>
                </a:solidFill>
              </a:rPr>
              <a:t>Brand and status colours are available as theme colours in the colour picker; tints are generated automatically.</a:t>
            </a:r>
            <a:endParaRPr lang="en-US" sz="1200" dirty="0"/>
          </a:p>
        </p:txBody>
      </p:sp>
      <p:sp>
        <p:nvSpPr>
          <p:cNvPr id="1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25</a:t>
            </a:fld>
            <a:endParaRPr lang="en-US"/>
          </a:p>
        </p:txBody>
      </p:sp>
      <p:sp>
        <p:nvSpPr>
          <p:cNvPr id="20" name="Fusszeile"/>
          <p:cNvSpPr>
            <a:spLocks noGrp="1"/>
          </p:cNvSpPr>
          <p:nvPr>
            <p:ph type="ftr" sz="quarter" idx="11"/>
          </p:nvPr>
        </p:nvSpPr>
        <p:spPr/>
        <p:txBody>
          <a:bodyPr/>
          <a:lstStyle/>
          <a:p>
            <a:r>
              <a:rPr lang="de-CH" dirty="0"/>
              <a:t>IDEEROTH AG  ·  CUSTOMER PRESENTATION  ·  15 OCTOBER 2026</a:t>
            </a:r>
          </a:p>
        </p:txBody>
      </p:sp>
    </p:spTree>
  </p:cSld>
  <p:clrMapOvr>
    <a:masterClrMapping/>
  </p:clrMapOvr>
</p:sld>
</file>

<file path=ppt/theme/theme1.xml><?xml version="1.0" encoding="utf-8"?>
<a:theme xmlns:a="http://schemas.openxmlformats.org/drawingml/2006/main" name="IdeeRoth">
  <a:themeElements>
    <a:clrScheme name="IdeeRoth">
      <a:dk1>
        <a:srgbClr val="111418"/>
      </a:dk1>
      <a:lt1>
        <a:srgbClr val="E7FFF2"/>
      </a:lt1>
      <a:dk2>
        <a:srgbClr val="707981"/>
      </a:dk2>
      <a:lt2>
        <a:srgbClr val="B7F3D0"/>
      </a:lt2>
      <a:accent1>
        <a:srgbClr val="25C77A"/>
      </a:accent1>
      <a:accent2>
        <a:srgbClr val="B7F3D0"/>
      </a:accent2>
      <a:accent3>
        <a:srgbClr val="707981"/>
      </a:accent3>
      <a:accent4>
        <a:srgbClr val="C4C8CC"/>
      </a:accent4>
      <a:accent5>
        <a:srgbClr val="B8463A"/>
      </a:accent5>
      <a:accent6>
        <a:srgbClr val="E2A33D"/>
      </a:accent6>
      <a:hlink>
        <a:srgbClr val="25C77A"/>
      </a:hlink>
      <a:folHlink>
        <a:srgbClr val="B7F3D0"/>
      </a:folHlink>
    </a:clrScheme>
    <a:fontScheme name="IdeeRot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IdeeRoth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IdeeRoth AG sample presentation</dc:title>
  <dc:subject>IdeeRoth AG</dc:subject>
  <dc:creator>IdeeRoth AG</dc:creator>
  <cp:lastModifiedBy>IdeeRoth AG</cp:lastModifiedBy>
  <cp:revision>1</cp:revision>
  <dcterms:created xsi:type="dcterms:W3CDTF">2026-10-15T19:58:40Z</dcterms:created>
  <dcterms:modified xsi:type="dcterms:W3CDTF">2026-10-15T19:58:40Z</dcterms:modified>
</cp:coreProperties>
</file>